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289" r:id="rId3"/>
    <p:sldId id="257" r:id="rId4"/>
    <p:sldId id="291" r:id="rId5"/>
    <p:sldId id="259" r:id="rId6"/>
    <p:sldId id="260" r:id="rId7"/>
    <p:sldId id="261" r:id="rId8"/>
    <p:sldId id="262" r:id="rId9"/>
    <p:sldId id="263" r:id="rId10"/>
    <p:sldId id="264" r:id="rId11"/>
    <p:sldId id="265" r:id="rId12"/>
    <p:sldId id="288"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3E18C9-BB06-4B3A-98B0-174A70E47F0D}" v="33" dt="2026-04-16T14:43:52.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828" autoAdjust="0"/>
  </p:normalViewPr>
  <p:slideViewPr>
    <p:cSldViewPr snapToGrid="0">
      <p:cViewPr varScale="1">
        <p:scale>
          <a:sx n="71" d="100"/>
          <a:sy n="71" d="100"/>
        </p:scale>
        <p:origin x="113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ppa Nippa" userId="7282c731612a01cd" providerId="LiveId" clId="{1CC71068-3988-4E1A-8490-85830D23CF93}"/>
    <pc:docChg chg="undo custSel addSld delSld modSld sldOrd">
      <pc:chgData name="Nippa Nippa" userId="7282c731612a01cd" providerId="LiveId" clId="{1CC71068-3988-4E1A-8490-85830D23CF93}" dt="2026-04-16T17:16:05.855" v="2025" actId="20577"/>
      <pc:docMkLst>
        <pc:docMk/>
      </pc:docMkLst>
      <pc:sldChg chg="modSp mod">
        <pc:chgData name="Nippa Nippa" userId="7282c731612a01cd" providerId="LiveId" clId="{1CC71068-3988-4E1A-8490-85830D23CF93}" dt="2026-04-16T14:40:51.528" v="1974" actId="207"/>
        <pc:sldMkLst>
          <pc:docMk/>
          <pc:sldMk cId="2611934168" sldId="256"/>
        </pc:sldMkLst>
        <pc:spChg chg="mod">
          <ac:chgData name="Nippa Nippa" userId="7282c731612a01cd" providerId="LiveId" clId="{1CC71068-3988-4E1A-8490-85830D23CF93}" dt="2026-04-16T14:40:51.528" v="1974" actId="207"/>
          <ac:spMkLst>
            <pc:docMk/>
            <pc:sldMk cId="2611934168" sldId="256"/>
            <ac:spMk id="2" creationId="{F3FC78F2-7AB9-87F1-7786-69253AD0A9E7}"/>
          </ac:spMkLst>
        </pc:spChg>
      </pc:sldChg>
      <pc:sldChg chg="addSp delSp modSp mod">
        <pc:chgData name="Nippa Nippa" userId="7282c731612a01cd" providerId="LiveId" clId="{1CC71068-3988-4E1A-8490-85830D23CF93}" dt="2026-04-16T14:44:03.174" v="1991" actId="113"/>
        <pc:sldMkLst>
          <pc:docMk/>
          <pc:sldMk cId="3949714647" sldId="260"/>
        </pc:sldMkLst>
        <pc:spChg chg="mod">
          <ac:chgData name="Nippa Nippa" userId="7282c731612a01cd" providerId="LiveId" clId="{1CC71068-3988-4E1A-8490-85830D23CF93}" dt="2026-04-16T14:44:03.174" v="1991" actId="113"/>
          <ac:spMkLst>
            <pc:docMk/>
            <pc:sldMk cId="3949714647" sldId="260"/>
            <ac:spMk id="2" creationId="{5AA751A4-CD5B-7C5D-7C4F-5B7A1C8E7BD3}"/>
          </ac:spMkLst>
        </pc:spChg>
        <pc:spChg chg="del mod">
          <ac:chgData name="Nippa Nippa" userId="7282c731612a01cd" providerId="LiveId" clId="{1CC71068-3988-4E1A-8490-85830D23CF93}" dt="2026-04-16T14:35:20.419" v="1971"/>
          <ac:spMkLst>
            <pc:docMk/>
            <pc:sldMk cId="3949714647" sldId="260"/>
            <ac:spMk id="3" creationId="{A77E825F-AD0C-3F86-BAEB-07E7ED99BE17}"/>
          </ac:spMkLst>
        </pc:spChg>
        <pc:spChg chg="add del mod">
          <ac:chgData name="Nippa Nippa" userId="7282c731612a01cd" providerId="LiveId" clId="{1CC71068-3988-4E1A-8490-85830D23CF93}" dt="2026-04-16T14:33:26.848" v="1956" actId="20577"/>
          <ac:spMkLst>
            <pc:docMk/>
            <pc:sldMk cId="3949714647" sldId="260"/>
            <ac:spMk id="4" creationId="{45A3460D-30D0-FC1B-A5E5-C772C6FB01A4}"/>
          </ac:spMkLst>
        </pc:spChg>
        <pc:spChg chg="mod">
          <ac:chgData name="Nippa Nippa" userId="7282c731612a01cd" providerId="LiveId" clId="{1CC71068-3988-4E1A-8490-85830D23CF93}" dt="2026-04-16T14:32:59.076" v="1949" actId="20577"/>
          <ac:spMkLst>
            <pc:docMk/>
            <pc:sldMk cId="3949714647" sldId="260"/>
            <ac:spMk id="14" creationId="{08F3657C-091D-BBAE-D1B4-F7412CA5BAD0}"/>
          </ac:spMkLst>
        </pc:spChg>
        <pc:spChg chg="del mod">
          <ac:chgData name="Nippa Nippa" userId="7282c731612a01cd" providerId="LiveId" clId="{1CC71068-3988-4E1A-8490-85830D23CF93}" dt="2026-04-16T14:33:33.530" v="1958" actId="478"/>
          <ac:spMkLst>
            <pc:docMk/>
            <pc:sldMk cId="3949714647" sldId="260"/>
            <ac:spMk id="17" creationId="{57A0131D-0A61-EEDF-D0CC-D94DDF290142}"/>
          </ac:spMkLst>
        </pc:spChg>
      </pc:sldChg>
      <pc:sldChg chg="modSp mod">
        <pc:chgData name="Nippa Nippa" userId="7282c731612a01cd" providerId="LiveId" clId="{1CC71068-3988-4E1A-8490-85830D23CF93}" dt="2026-04-16T14:35:28.443" v="1973" actId="20577"/>
        <pc:sldMkLst>
          <pc:docMk/>
          <pc:sldMk cId="1686813750" sldId="262"/>
        </pc:sldMkLst>
        <pc:graphicFrameChg chg="modGraphic">
          <ac:chgData name="Nippa Nippa" userId="7282c731612a01cd" providerId="LiveId" clId="{1CC71068-3988-4E1A-8490-85830D23CF93}" dt="2026-04-16T14:35:28.443" v="1973" actId="20577"/>
          <ac:graphicFrameMkLst>
            <pc:docMk/>
            <pc:sldMk cId="1686813750" sldId="262"/>
            <ac:graphicFrameMk id="3" creationId="{CC9B998D-2962-8216-A9CB-B268299DAB66}"/>
          </ac:graphicFrameMkLst>
        </pc:graphicFrameChg>
      </pc:sldChg>
      <pc:sldChg chg="addSp modSp mod">
        <pc:chgData name="Nippa Nippa" userId="7282c731612a01cd" providerId="LiveId" clId="{1CC71068-3988-4E1A-8490-85830D23CF93}" dt="2026-04-16T13:32:06.117" v="1444" actId="123"/>
        <pc:sldMkLst>
          <pc:docMk/>
          <pc:sldMk cId="3668082369" sldId="266"/>
        </pc:sldMkLst>
        <pc:spChg chg="add">
          <ac:chgData name="Nippa Nippa" userId="7282c731612a01cd" providerId="LiveId" clId="{1CC71068-3988-4E1A-8490-85830D23CF93}" dt="2026-04-16T12:44:54.527" v="896"/>
          <ac:spMkLst>
            <pc:docMk/>
            <pc:sldMk cId="3668082369" sldId="266"/>
            <ac:spMk id="2" creationId="{9C3279EE-47ED-4380-6B6F-95C177A3D14C}"/>
          </ac:spMkLst>
        </pc:spChg>
        <pc:spChg chg="add">
          <ac:chgData name="Nippa Nippa" userId="7282c731612a01cd" providerId="LiveId" clId="{1CC71068-3988-4E1A-8490-85830D23CF93}" dt="2026-04-16T12:45:18.660" v="898"/>
          <ac:spMkLst>
            <pc:docMk/>
            <pc:sldMk cId="3668082369" sldId="266"/>
            <ac:spMk id="4" creationId="{865C9EFD-FE36-A071-D3AA-E3ACE9D7DC04}"/>
          </ac:spMkLst>
        </pc:spChg>
        <pc:spChg chg="mod">
          <ac:chgData name="Nippa Nippa" userId="7282c731612a01cd" providerId="LiveId" clId="{1CC71068-3988-4E1A-8490-85830D23CF93}" dt="2026-04-16T13:32:06.117" v="1444" actId="123"/>
          <ac:spMkLst>
            <pc:docMk/>
            <pc:sldMk cId="3668082369" sldId="266"/>
            <ac:spMk id="5" creationId="{BD30EAF8-6545-033E-DB30-AACF28BD3F46}"/>
          </ac:spMkLst>
        </pc:spChg>
        <pc:spChg chg="mod">
          <ac:chgData name="Nippa Nippa" userId="7282c731612a01cd" providerId="LiveId" clId="{1CC71068-3988-4E1A-8490-85830D23CF93}" dt="2026-04-16T12:57:47.050" v="1074" actId="20577"/>
          <ac:spMkLst>
            <pc:docMk/>
            <pc:sldMk cId="3668082369" sldId="266"/>
            <ac:spMk id="6" creationId="{6EFBE45A-D49D-9FC9-CB0D-3A4BF5DCCC5B}"/>
          </ac:spMkLst>
        </pc:spChg>
      </pc:sldChg>
      <pc:sldChg chg="addSp modSp mod">
        <pc:chgData name="Nippa Nippa" userId="7282c731612a01cd" providerId="LiveId" clId="{1CC71068-3988-4E1A-8490-85830D23CF93}" dt="2026-04-16T13:32:22.382" v="1445" actId="1076"/>
        <pc:sldMkLst>
          <pc:docMk/>
          <pc:sldMk cId="1986213626" sldId="268"/>
        </pc:sldMkLst>
        <pc:spChg chg="add">
          <ac:chgData name="Nippa Nippa" userId="7282c731612a01cd" providerId="LiveId" clId="{1CC71068-3988-4E1A-8490-85830D23CF93}" dt="2026-04-16T12:50:50.905" v="932"/>
          <ac:spMkLst>
            <pc:docMk/>
            <pc:sldMk cId="1986213626" sldId="268"/>
            <ac:spMk id="3" creationId="{4315C1B5-08DC-56C6-501A-99A4C87F60E1}"/>
          </ac:spMkLst>
        </pc:spChg>
        <pc:spChg chg="add">
          <ac:chgData name="Nippa Nippa" userId="7282c731612a01cd" providerId="LiveId" clId="{1CC71068-3988-4E1A-8490-85830D23CF93}" dt="2026-04-16T12:50:57.003" v="933"/>
          <ac:spMkLst>
            <pc:docMk/>
            <pc:sldMk cId="1986213626" sldId="268"/>
            <ac:spMk id="4" creationId="{44C3FA52-A6D6-7173-B15B-09982BA54F30}"/>
          </ac:spMkLst>
        </pc:spChg>
        <pc:spChg chg="mod">
          <ac:chgData name="Nippa Nippa" userId="7282c731612a01cd" providerId="LiveId" clId="{1CC71068-3988-4E1A-8490-85830D23CF93}" dt="2026-04-16T13:32:22.382" v="1445" actId="1076"/>
          <ac:spMkLst>
            <pc:docMk/>
            <pc:sldMk cId="1986213626" sldId="268"/>
            <ac:spMk id="5" creationId="{FB4CC02D-03CE-1A32-AB36-1873E9AF37D3}"/>
          </ac:spMkLst>
        </pc:spChg>
        <pc:spChg chg="mod">
          <ac:chgData name="Nippa Nippa" userId="7282c731612a01cd" providerId="LiveId" clId="{1CC71068-3988-4E1A-8490-85830D23CF93}" dt="2026-04-16T12:58:26.851" v="1075" actId="113"/>
          <ac:spMkLst>
            <pc:docMk/>
            <pc:sldMk cId="1986213626" sldId="268"/>
            <ac:spMk id="6" creationId="{0AD417C3-DAAF-75D9-222D-03C706F026EA}"/>
          </ac:spMkLst>
        </pc:spChg>
      </pc:sldChg>
      <pc:sldChg chg="modSp mod">
        <pc:chgData name="Nippa Nippa" userId="7282c731612a01cd" providerId="LiveId" clId="{1CC71068-3988-4E1A-8490-85830D23CF93}" dt="2026-04-16T13:31:00.479" v="1371" actId="113"/>
        <pc:sldMkLst>
          <pc:docMk/>
          <pc:sldMk cId="1340722088" sldId="269"/>
        </pc:sldMkLst>
        <pc:spChg chg="mod">
          <ac:chgData name="Nippa Nippa" userId="7282c731612a01cd" providerId="LiveId" clId="{1CC71068-3988-4E1A-8490-85830D23CF93}" dt="2026-04-16T13:31:00.479" v="1371" actId="113"/>
          <ac:spMkLst>
            <pc:docMk/>
            <pc:sldMk cId="1340722088" sldId="269"/>
            <ac:spMk id="4" creationId="{D2C5FA30-648E-DAF1-75AC-8F9433D5077C}"/>
          </ac:spMkLst>
        </pc:spChg>
        <pc:spChg chg="mod">
          <ac:chgData name="Nippa Nippa" userId="7282c731612a01cd" providerId="LiveId" clId="{1CC71068-3988-4E1A-8490-85830D23CF93}" dt="2026-04-16T13:22:27.567" v="1367" actId="1076"/>
          <ac:spMkLst>
            <pc:docMk/>
            <pc:sldMk cId="1340722088" sldId="269"/>
            <ac:spMk id="5" creationId="{F0251A0B-3F30-49F3-6F1F-A7091E20B01F}"/>
          </ac:spMkLst>
        </pc:spChg>
        <pc:graphicFrameChg chg="mod">
          <ac:chgData name="Nippa Nippa" userId="7282c731612a01cd" providerId="LiveId" clId="{1CC71068-3988-4E1A-8490-85830D23CF93}" dt="2026-04-16T13:22:38.512" v="1369" actId="14100"/>
          <ac:graphicFrameMkLst>
            <pc:docMk/>
            <pc:sldMk cId="1340722088" sldId="269"/>
            <ac:graphicFrameMk id="3" creationId="{1EA22DB8-6141-9F86-6ECF-A72C8EFDDAED}"/>
          </ac:graphicFrameMkLst>
        </pc:graphicFrameChg>
      </pc:sldChg>
      <pc:sldChg chg="modSp mod">
        <pc:chgData name="Nippa Nippa" userId="7282c731612a01cd" providerId="LiveId" clId="{1CC71068-3988-4E1A-8490-85830D23CF93}" dt="2026-04-16T13:49:20.396" v="1667" actId="20577"/>
        <pc:sldMkLst>
          <pc:docMk/>
          <pc:sldMk cId="3577357098" sldId="270"/>
        </pc:sldMkLst>
        <pc:spChg chg="mod">
          <ac:chgData name="Nippa Nippa" userId="7282c731612a01cd" providerId="LiveId" clId="{1CC71068-3988-4E1A-8490-85830D23CF93}" dt="2026-04-16T13:46:17.450" v="1648" actId="1076"/>
          <ac:spMkLst>
            <pc:docMk/>
            <pc:sldMk cId="3577357098" sldId="270"/>
            <ac:spMk id="4" creationId="{DF12D642-37B0-F380-DE63-76355D402D03}"/>
          </ac:spMkLst>
        </pc:spChg>
        <pc:spChg chg="mod">
          <ac:chgData name="Nippa Nippa" userId="7282c731612a01cd" providerId="LiveId" clId="{1CC71068-3988-4E1A-8490-85830D23CF93}" dt="2026-04-16T13:45:21.849" v="1625" actId="20577"/>
          <ac:spMkLst>
            <pc:docMk/>
            <pc:sldMk cId="3577357098" sldId="270"/>
            <ac:spMk id="9" creationId="{DD55F68D-44BB-AD6C-B553-B9ECD920C127}"/>
          </ac:spMkLst>
        </pc:spChg>
        <pc:spChg chg="mod">
          <ac:chgData name="Nippa Nippa" userId="7282c731612a01cd" providerId="LiveId" clId="{1CC71068-3988-4E1A-8490-85830D23CF93}" dt="2026-04-16T13:47:37.086" v="1651" actId="1076"/>
          <ac:spMkLst>
            <pc:docMk/>
            <pc:sldMk cId="3577357098" sldId="270"/>
            <ac:spMk id="10" creationId="{82E826FF-2565-02B0-139E-E987A177E039}"/>
          </ac:spMkLst>
        </pc:spChg>
        <pc:graphicFrameChg chg="mod modGraphic">
          <ac:chgData name="Nippa Nippa" userId="7282c731612a01cd" providerId="LiveId" clId="{1CC71068-3988-4E1A-8490-85830D23CF93}" dt="2026-04-16T13:49:20.396" v="1667" actId="20577"/>
          <ac:graphicFrameMkLst>
            <pc:docMk/>
            <pc:sldMk cId="3577357098" sldId="270"/>
            <ac:graphicFrameMk id="7" creationId="{4082E725-F9CE-F523-0FCD-5FBC30771143}"/>
          </ac:graphicFrameMkLst>
        </pc:graphicFrameChg>
      </pc:sldChg>
      <pc:sldChg chg="modSp mod">
        <pc:chgData name="Nippa Nippa" userId="7282c731612a01cd" providerId="LiveId" clId="{1CC71068-3988-4E1A-8490-85830D23CF93}" dt="2026-04-16T14:17:46.901" v="1874" actId="113"/>
        <pc:sldMkLst>
          <pc:docMk/>
          <pc:sldMk cId="3639860566" sldId="272"/>
        </pc:sldMkLst>
        <pc:spChg chg="mod">
          <ac:chgData name="Nippa Nippa" userId="7282c731612a01cd" providerId="LiveId" clId="{1CC71068-3988-4E1A-8490-85830D23CF93}" dt="2026-04-16T14:17:46.901" v="1874" actId="113"/>
          <ac:spMkLst>
            <pc:docMk/>
            <pc:sldMk cId="3639860566" sldId="272"/>
            <ac:spMk id="6" creationId="{D11CC410-882D-6416-64B7-CF6A472D1768}"/>
          </ac:spMkLst>
        </pc:spChg>
      </pc:sldChg>
      <pc:sldChg chg="modSp mod">
        <pc:chgData name="Nippa Nippa" userId="7282c731612a01cd" providerId="LiveId" clId="{1CC71068-3988-4E1A-8490-85830D23CF93}" dt="2026-04-16T13:53:14.680" v="1728" actId="20577"/>
        <pc:sldMkLst>
          <pc:docMk/>
          <pc:sldMk cId="3943326495" sldId="273"/>
        </pc:sldMkLst>
        <pc:spChg chg="mod">
          <ac:chgData name="Nippa Nippa" userId="7282c731612a01cd" providerId="LiveId" clId="{1CC71068-3988-4E1A-8490-85830D23CF93}" dt="2026-04-16T13:53:14.680" v="1728" actId="20577"/>
          <ac:spMkLst>
            <pc:docMk/>
            <pc:sldMk cId="3943326495" sldId="273"/>
            <ac:spMk id="9" creationId="{4826D384-3716-D325-A586-283134AFEEC0}"/>
          </ac:spMkLst>
        </pc:spChg>
        <pc:graphicFrameChg chg="modGraphic">
          <ac:chgData name="Nippa Nippa" userId="7282c731612a01cd" providerId="LiveId" clId="{1CC71068-3988-4E1A-8490-85830D23CF93}" dt="2026-04-16T13:51:10.747" v="1686" actId="14100"/>
          <ac:graphicFrameMkLst>
            <pc:docMk/>
            <pc:sldMk cId="3943326495" sldId="273"/>
            <ac:graphicFrameMk id="7" creationId="{EAD0B033-CBD0-FA82-17FB-4DBA7B5B09E2}"/>
          </ac:graphicFrameMkLst>
        </pc:graphicFrameChg>
      </pc:sldChg>
      <pc:sldChg chg="addSp delSp modSp mod">
        <pc:chgData name="Nippa Nippa" userId="7282c731612a01cd" providerId="LiveId" clId="{1CC71068-3988-4E1A-8490-85830D23CF93}" dt="2026-03-24T09:15:55.280" v="616" actId="1076"/>
        <pc:sldMkLst>
          <pc:docMk/>
          <pc:sldMk cId="998656320" sldId="274"/>
        </pc:sldMkLst>
        <pc:spChg chg="add mod">
          <ac:chgData name="Nippa Nippa" userId="7282c731612a01cd" providerId="LiveId" clId="{1CC71068-3988-4E1A-8490-85830D23CF93}" dt="2026-03-24T09:14:37.302" v="606" actId="13822"/>
          <ac:spMkLst>
            <pc:docMk/>
            <pc:sldMk cId="998656320" sldId="274"/>
            <ac:spMk id="7" creationId="{29F5A34E-1110-9E48-9B03-75B80456E527}"/>
          </ac:spMkLst>
        </pc:spChg>
        <pc:spChg chg="add mod">
          <ac:chgData name="Nippa Nippa" userId="7282c731612a01cd" providerId="LiveId" clId="{1CC71068-3988-4E1A-8490-85830D23CF93}" dt="2026-03-24T09:14:54.845" v="608" actId="1076"/>
          <ac:spMkLst>
            <pc:docMk/>
            <pc:sldMk cId="998656320" sldId="274"/>
            <ac:spMk id="8" creationId="{FA6DDEF5-064D-82B8-F448-2364976274D8}"/>
          </ac:spMkLst>
        </pc:spChg>
        <pc:spChg chg="add mod">
          <ac:chgData name="Nippa Nippa" userId="7282c731612a01cd" providerId="LiveId" clId="{1CC71068-3988-4E1A-8490-85830D23CF93}" dt="2026-03-24T09:15:32.527" v="612" actId="1076"/>
          <ac:spMkLst>
            <pc:docMk/>
            <pc:sldMk cId="998656320" sldId="274"/>
            <ac:spMk id="9" creationId="{BC14ED2C-8F59-4BA4-0956-3268B63AC6DC}"/>
          </ac:spMkLst>
        </pc:spChg>
        <pc:spChg chg="add mod">
          <ac:chgData name="Nippa Nippa" userId="7282c731612a01cd" providerId="LiveId" clId="{1CC71068-3988-4E1A-8490-85830D23CF93}" dt="2026-03-24T09:15:25.898" v="611" actId="1076"/>
          <ac:spMkLst>
            <pc:docMk/>
            <pc:sldMk cId="998656320" sldId="274"/>
            <ac:spMk id="17" creationId="{583A29F7-0CB3-0ACF-CCB4-98B099369DB6}"/>
          </ac:spMkLst>
        </pc:spChg>
        <pc:spChg chg="add mod">
          <ac:chgData name="Nippa Nippa" userId="7282c731612a01cd" providerId="LiveId" clId="{1CC71068-3988-4E1A-8490-85830D23CF93}" dt="2026-03-24T09:15:39.708" v="614" actId="1076"/>
          <ac:spMkLst>
            <pc:docMk/>
            <pc:sldMk cId="998656320" sldId="274"/>
            <ac:spMk id="18" creationId="{C7446235-1EA5-637B-DE15-627E14F3B54F}"/>
          </ac:spMkLst>
        </pc:spChg>
        <pc:spChg chg="add mod">
          <ac:chgData name="Nippa Nippa" userId="7282c731612a01cd" providerId="LiveId" clId="{1CC71068-3988-4E1A-8490-85830D23CF93}" dt="2026-03-24T09:15:55.280" v="616" actId="1076"/>
          <ac:spMkLst>
            <pc:docMk/>
            <pc:sldMk cId="998656320" sldId="274"/>
            <ac:spMk id="19" creationId="{6B5EC374-E236-5675-AD54-1351B8330796}"/>
          </ac:spMkLst>
        </pc:spChg>
        <pc:graphicFrameChg chg="add mod">
          <ac:chgData name="Nippa Nippa" userId="7282c731612a01cd" providerId="LiveId" clId="{1CC71068-3988-4E1A-8490-85830D23CF93}" dt="2026-03-24T08:37:59.297" v="48" actId="14100"/>
          <ac:graphicFrameMkLst>
            <pc:docMk/>
            <pc:sldMk cId="998656320" sldId="274"/>
            <ac:graphicFrameMk id="4" creationId="{8839B0D8-9300-1DB5-9C02-A0604B20F896}"/>
          </ac:graphicFrameMkLst>
        </pc:graphicFrameChg>
      </pc:sldChg>
      <pc:sldChg chg="modSp mod">
        <pc:chgData name="Nippa Nippa" userId="7282c731612a01cd" providerId="LiveId" clId="{1CC71068-3988-4E1A-8490-85830D23CF93}" dt="2026-04-16T14:18:14.731" v="1877" actId="113"/>
        <pc:sldMkLst>
          <pc:docMk/>
          <pc:sldMk cId="2558850307" sldId="275"/>
        </pc:sldMkLst>
        <pc:spChg chg="mod">
          <ac:chgData name="Nippa Nippa" userId="7282c731612a01cd" providerId="LiveId" clId="{1CC71068-3988-4E1A-8490-85830D23CF93}" dt="2026-04-16T13:34:39.745" v="1490" actId="120"/>
          <ac:spMkLst>
            <pc:docMk/>
            <pc:sldMk cId="2558850307" sldId="275"/>
            <ac:spMk id="5" creationId="{32EAAD18-B37A-005B-3014-43E83A453431}"/>
          </ac:spMkLst>
        </pc:spChg>
        <pc:spChg chg="mod">
          <ac:chgData name="Nippa Nippa" userId="7282c731612a01cd" providerId="LiveId" clId="{1CC71068-3988-4E1A-8490-85830D23CF93}" dt="2026-04-16T14:18:14.731" v="1877" actId="113"/>
          <ac:spMkLst>
            <pc:docMk/>
            <pc:sldMk cId="2558850307" sldId="275"/>
            <ac:spMk id="8" creationId="{5F45C12F-6241-213B-40D9-B74959D2804A}"/>
          </ac:spMkLst>
        </pc:spChg>
      </pc:sldChg>
      <pc:sldChg chg="modSp mod">
        <pc:chgData name="Nippa Nippa" userId="7282c731612a01cd" providerId="LiveId" clId="{1CC71068-3988-4E1A-8490-85830D23CF93}" dt="2026-04-16T14:01:16.516" v="1737" actId="113"/>
        <pc:sldMkLst>
          <pc:docMk/>
          <pc:sldMk cId="3924831068" sldId="277"/>
        </pc:sldMkLst>
        <pc:spChg chg="mod">
          <ac:chgData name="Nippa Nippa" userId="7282c731612a01cd" providerId="LiveId" clId="{1CC71068-3988-4E1A-8490-85830D23CF93}" dt="2026-04-16T14:01:16.516" v="1737" actId="113"/>
          <ac:spMkLst>
            <pc:docMk/>
            <pc:sldMk cId="3924831068" sldId="277"/>
            <ac:spMk id="8" creationId="{CED02D44-D66B-4043-6C24-B9814045F5AC}"/>
          </ac:spMkLst>
        </pc:spChg>
      </pc:sldChg>
      <pc:sldChg chg="modSp mod">
        <pc:chgData name="Nippa Nippa" userId="7282c731612a01cd" providerId="LiveId" clId="{1CC71068-3988-4E1A-8490-85830D23CF93}" dt="2026-04-16T14:04:58.906" v="1784" actId="113"/>
        <pc:sldMkLst>
          <pc:docMk/>
          <pc:sldMk cId="747933974" sldId="278"/>
        </pc:sldMkLst>
        <pc:spChg chg="mod">
          <ac:chgData name="Nippa Nippa" userId="7282c731612a01cd" providerId="LiveId" clId="{1CC71068-3988-4E1A-8490-85830D23CF93}" dt="2026-04-16T14:04:58.906" v="1784" actId="113"/>
          <ac:spMkLst>
            <pc:docMk/>
            <pc:sldMk cId="747933974" sldId="278"/>
            <ac:spMk id="8" creationId="{21C0351E-9B40-268D-BA5E-A97260771D54}"/>
          </ac:spMkLst>
        </pc:spChg>
      </pc:sldChg>
      <pc:sldChg chg="modSp mod">
        <pc:chgData name="Nippa Nippa" userId="7282c731612a01cd" providerId="LiveId" clId="{1CC71068-3988-4E1A-8490-85830D23CF93}" dt="2026-04-16T14:07:44.764" v="1789" actId="20577"/>
        <pc:sldMkLst>
          <pc:docMk/>
          <pc:sldMk cId="3259843005" sldId="279"/>
        </pc:sldMkLst>
        <pc:spChg chg="mod">
          <ac:chgData name="Nippa Nippa" userId="7282c731612a01cd" providerId="LiveId" clId="{1CC71068-3988-4E1A-8490-85830D23CF93}" dt="2026-04-16T14:07:44.764" v="1789" actId="20577"/>
          <ac:spMkLst>
            <pc:docMk/>
            <pc:sldMk cId="3259843005" sldId="279"/>
            <ac:spMk id="8" creationId="{B7D56489-8E45-6B18-0B87-7674A4374126}"/>
          </ac:spMkLst>
        </pc:spChg>
      </pc:sldChg>
      <pc:sldChg chg="modSp mod">
        <pc:chgData name="Nippa Nippa" userId="7282c731612a01cd" providerId="LiveId" clId="{1CC71068-3988-4E1A-8490-85830D23CF93}" dt="2026-04-16T14:10:36.685" v="1806" actId="123"/>
        <pc:sldMkLst>
          <pc:docMk/>
          <pc:sldMk cId="913499734" sldId="280"/>
        </pc:sldMkLst>
        <pc:spChg chg="mod">
          <ac:chgData name="Nippa Nippa" userId="7282c731612a01cd" providerId="LiveId" clId="{1CC71068-3988-4E1A-8490-85830D23CF93}" dt="2026-04-16T14:09:36.503" v="1800" actId="123"/>
          <ac:spMkLst>
            <pc:docMk/>
            <pc:sldMk cId="913499734" sldId="280"/>
            <ac:spMk id="7" creationId="{A7E8487F-2208-C139-EBF3-2FFAB306C79F}"/>
          </ac:spMkLst>
        </pc:spChg>
        <pc:spChg chg="mod">
          <ac:chgData name="Nippa Nippa" userId="7282c731612a01cd" providerId="LiveId" clId="{1CC71068-3988-4E1A-8490-85830D23CF93}" dt="2026-04-16T14:10:36.685" v="1806" actId="123"/>
          <ac:spMkLst>
            <pc:docMk/>
            <pc:sldMk cId="913499734" sldId="280"/>
            <ac:spMk id="8" creationId="{4483F5F5-5CA6-54ED-2E12-F37E4623224A}"/>
          </ac:spMkLst>
        </pc:spChg>
      </pc:sldChg>
      <pc:sldChg chg="addSp delSp modSp mod">
        <pc:chgData name="Nippa Nippa" userId="7282c731612a01cd" providerId="LiveId" clId="{1CC71068-3988-4E1A-8490-85830D23CF93}" dt="2026-04-16T14:13:58.626" v="1844" actId="113"/>
        <pc:sldMkLst>
          <pc:docMk/>
          <pc:sldMk cId="3460105828" sldId="281"/>
        </pc:sldMkLst>
        <pc:spChg chg="mod">
          <ac:chgData name="Nippa Nippa" userId="7282c731612a01cd" providerId="LiveId" clId="{1CC71068-3988-4E1A-8490-85830D23CF93}" dt="2026-03-24T09:40:24.441" v="665" actId="123"/>
          <ac:spMkLst>
            <pc:docMk/>
            <pc:sldMk cId="3460105828" sldId="281"/>
            <ac:spMk id="7" creationId="{2B5EA51C-75B2-373C-6CFB-DFBBECB7670C}"/>
          </ac:spMkLst>
        </pc:spChg>
        <pc:spChg chg="mod">
          <ac:chgData name="Nippa Nippa" userId="7282c731612a01cd" providerId="LiveId" clId="{1CC71068-3988-4E1A-8490-85830D23CF93}" dt="2026-04-16T14:13:58.626" v="1844" actId="113"/>
          <ac:spMkLst>
            <pc:docMk/>
            <pc:sldMk cId="3460105828" sldId="281"/>
            <ac:spMk id="8" creationId="{7457AB7D-C3FA-D69E-515D-0F27AA856C08}"/>
          </ac:spMkLst>
        </pc:spChg>
        <pc:graphicFrameChg chg="add mod">
          <ac:chgData name="Nippa Nippa" userId="7282c731612a01cd" providerId="LiveId" clId="{1CC71068-3988-4E1A-8490-85830D23CF93}" dt="2026-03-24T09:36:26.302" v="661" actId="20577"/>
          <ac:graphicFrameMkLst>
            <pc:docMk/>
            <pc:sldMk cId="3460105828" sldId="281"/>
            <ac:graphicFrameMk id="2" creationId="{E6F6B816-DC70-5314-243D-6D9C79103506}"/>
          </ac:graphicFrameMkLst>
        </pc:graphicFrameChg>
      </pc:sldChg>
      <pc:sldChg chg="addSp delSp modSp mod">
        <pc:chgData name="Nippa Nippa" userId="7282c731612a01cd" providerId="LiveId" clId="{1CC71068-3988-4E1A-8490-85830D23CF93}" dt="2026-04-16T17:10:28.782" v="2000" actId="14100"/>
        <pc:sldMkLst>
          <pc:docMk/>
          <pc:sldMk cId="2434396281" sldId="287"/>
        </pc:sldMkLst>
        <pc:picChg chg="add mod">
          <ac:chgData name="Nippa Nippa" userId="7282c731612a01cd" providerId="LiveId" clId="{1CC71068-3988-4E1A-8490-85830D23CF93}" dt="2026-04-16T17:10:28.782" v="2000" actId="14100"/>
          <ac:picMkLst>
            <pc:docMk/>
            <pc:sldMk cId="2434396281" sldId="287"/>
            <ac:picMk id="3" creationId="{98B00570-B8B3-811B-F593-B695F56B452D}"/>
          </ac:picMkLst>
        </pc:picChg>
        <pc:picChg chg="del">
          <ac:chgData name="Nippa Nippa" userId="7282c731612a01cd" providerId="LiveId" clId="{1CC71068-3988-4E1A-8490-85830D23CF93}" dt="2026-04-16T17:09:27.164" v="1992" actId="478"/>
          <ac:picMkLst>
            <pc:docMk/>
            <pc:sldMk cId="2434396281" sldId="287"/>
            <ac:picMk id="5" creationId="{92CC24BD-BA75-068C-84ED-28F303FB2859}"/>
          </ac:picMkLst>
        </pc:picChg>
      </pc:sldChg>
      <pc:sldChg chg="modNotesTx">
        <pc:chgData name="Nippa Nippa" userId="7282c731612a01cd" providerId="LiveId" clId="{1CC71068-3988-4E1A-8490-85830D23CF93}" dt="2026-04-16T17:16:05.855" v="2025" actId="20577"/>
        <pc:sldMkLst>
          <pc:docMk/>
          <pc:sldMk cId="2324405850" sldId="289"/>
        </pc:sldMkLst>
      </pc:sldChg>
      <pc:sldChg chg="addSp delSp modSp add mod ord">
        <pc:chgData name="Nippa Nippa" userId="7282c731612a01cd" providerId="LiveId" clId="{1CC71068-3988-4E1A-8490-85830D23CF93}" dt="2026-03-24T10:27:55.742" v="764" actId="207"/>
        <pc:sldMkLst>
          <pc:docMk/>
          <pc:sldMk cId="2421304960" sldId="290"/>
        </pc:sldMkLst>
        <pc:spChg chg="add mod">
          <ac:chgData name="Nippa Nippa" userId="7282c731612a01cd" providerId="LiveId" clId="{1CC71068-3988-4E1A-8490-85830D23CF93}" dt="2026-03-24T10:26:33.198" v="760" actId="114"/>
          <ac:spMkLst>
            <pc:docMk/>
            <pc:sldMk cId="2421304960" sldId="290"/>
            <ac:spMk id="2" creationId="{2042E936-D1D2-07A7-7003-A6537890DA34}"/>
          </ac:spMkLst>
        </pc:spChg>
        <pc:spChg chg="mod">
          <ac:chgData name="Nippa Nippa" userId="7282c731612a01cd" providerId="LiveId" clId="{1CC71068-3988-4E1A-8490-85830D23CF93}" dt="2026-03-24T10:23:41.551" v="696" actId="20577"/>
          <ac:spMkLst>
            <pc:docMk/>
            <pc:sldMk cId="2421304960" sldId="290"/>
            <ac:spMk id="3" creationId="{AFDA47B5-CAD3-44A7-C883-17E93CCA637F}"/>
          </ac:spMkLst>
        </pc:spChg>
        <pc:spChg chg="add mod">
          <ac:chgData name="Nippa Nippa" userId="7282c731612a01cd" providerId="LiveId" clId="{1CC71068-3988-4E1A-8490-85830D23CF93}" dt="2026-03-24T10:27:55.742" v="764" actId="207"/>
          <ac:spMkLst>
            <pc:docMk/>
            <pc:sldMk cId="2421304960" sldId="290"/>
            <ac:spMk id="6" creationId="{C4F538E0-7CF7-8110-ABE8-C61476F874A7}"/>
          </ac:spMkLst>
        </pc:spChg>
        <pc:spChg chg="mod">
          <ac:chgData name="Nippa Nippa" userId="7282c731612a01cd" providerId="LiveId" clId="{1CC71068-3988-4E1A-8490-85830D23CF93}" dt="2026-03-24T10:23:25.295" v="678" actId="20577"/>
          <ac:spMkLst>
            <pc:docMk/>
            <pc:sldMk cId="2421304960" sldId="290"/>
            <ac:spMk id="14" creationId="{010898F5-E7B6-DF55-CA31-94A9B7B400FA}"/>
          </ac:spMkLst>
        </pc:spChg>
      </pc:sldChg>
      <pc:sldChg chg="addSp delSp modSp add mod">
        <pc:chgData name="Nippa Nippa" userId="7282c731612a01cd" providerId="LiveId" clId="{1CC71068-3988-4E1A-8490-85830D23CF93}" dt="2026-03-24T10:44:34.450" v="854" actId="207"/>
        <pc:sldMkLst>
          <pc:docMk/>
          <pc:sldMk cId="3450471534" sldId="291"/>
        </pc:sldMkLst>
        <pc:spChg chg="add mod">
          <ac:chgData name="Nippa Nippa" userId="7282c731612a01cd" providerId="LiveId" clId="{1CC71068-3988-4E1A-8490-85830D23CF93}" dt="2026-03-24T10:44:11.855" v="850" actId="207"/>
          <ac:spMkLst>
            <pc:docMk/>
            <pc:sldMk cId="3450471534" sldId="291"/>
            <ac:spMk id="3" creationId="{4C28D6E7-4A0A-254F-3BC0-8E27798EA5D4}"/>
          </ac:spMkLst>
        </pc:spChg>
        <pc:spChg chg="add mod">
          <ac:chgData name="Nippa Nippa" userId="7282c731612a01cd" providerId="LiveId" clId="{1CC71068-3988-4E1A-8490-85830D23CF93}" dt="2026-03-24T10:44:17.756" v="851" actId="207"/>
          <ac:spMkLst>
            <pc:docMk/>
            <pc:sldMk cId="3450471534" sldId="291"/>
            <ac:spMk id="4" creationId="{BF0DBCB3-9677-6036-5405-A23824E1FDD8}"/>
          </ac:spMkLst>
        </pc:spChg>
        <pc:spChg chg="add mod">
          <ac:chgData name="Nippa Nippa" userId="7282c731612a01cd" providerId="LiveId" clId="{1CC71068-3988-4E1A-8490-85830D23CF93}" dt="2026-03-24T10:44:25.441" v="852" actId="207"/>
          <ac:spMkLst>
            <pc:docMk/>
            <pc:sldMk cId="3450471534" sldId="291"/>
            <ac:spMk id="5" creationId="{DBAA6B1B-40FE-7B30-589B-75705EF4EEDE}"/>
          </ac:spMkLst>
        </pc:spChg>
        <pc:spChg chg="add mod">
          <ac:chgData name="Nippa Nippa" userId="7282c731612a01cd" providerId="LiveId" clId="{1CC71068-3988-4E1A-8490-85830D23CF93}" dt="2026-03-24T10:44:30.863" v="853" actId="207"/>
          <ac:spMkLst>
            <pc:docMk/>
            <pc:sldMk cId="3450471534" sldId="291"/>
            <ac:spMk id="6" creationId="{799A6F47-F6D9-F9F9-0CF1-A7C02573E9CE}"/>
          </ac:spMkLst>
        </pc:spChg>
        <pc:spChg chg="add mod">
          <ac:chgData name="Nippa Nippa" userId="7282c731612a01cd" providerId="LiveId" clId="{1CC71068-3988-4E1A-8490-85830D23CF93}" dt="2026-03-24T10:44:34.450" v="854" actId="207"/>
          <ac:spMkLst>
            <pc:docMk/>
            <pc:sldMk cId="3450471534" sldId="291"/>
            <ac:spMk id="7" creationId="{A4A7FFCF-1428-51EB-5BE2-F83643006A5B}"/>
          </ac:spMkLst>
        </pc:spChg>
        <pc:spChg chg="add mod">
          <ac:chgData name="Nippa Nippa" userId="7282c731612a01cd" providerId="LiveId" clId="{1CC71068-3988-4E1A-8490-85830D23CF93}" dt="2026-03-24T10:43:09.293" v="844" actId="1076"/>
          <ac:spMkLst>
            <pc:docMk/>
            <pc:sldMk cId="3450471534" sldId="291"/>
            <ac:spMk id="8" creationId="{E581C29A-4338-E90F-C9C6-99433A01628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7282c731612a01cd/Desktop/Zomato_Nippa-Nipp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7282c731612a01cd/Desktop/FinalZomato_Nipp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7282c731612a01cd/Desktop/Zomato_Nippa.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[Zomato_Nippa.xlsx]Sheet1!PivotTable4</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No. of Restaurants in each country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Sheet1!$A$5:$A$20</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Sheet1!$B$5:$B$20</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0BBC-4AFA-B901-5C4E52DE3CA2}"/>
            </c:ext>
          </c:extLst>
        </c:ser>
        <c:dLbls>
          <c:dLblPos val="outEnd"/>
          <c:showLegendKey val="0"/>
          <c:showVal val="1"/>
          <c:showCatName val="0"/>
          <c:showSerName val="0"/>
          <c:showPercent val="0"/>
          <c:showBubbleSize val="0"/>
        </c:dLbls>
        <c:gapWidth val="182"/>
        <c:axId val="2042175648"/>
        <c:axId val="2042176128"/>
      </c:barChart>
      <c:catAx>
        <c:axId val="20421756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2176128"/>
        <c:crosses val="autoZero"/>
        <c:auto val="1"/>
        <c:lblAlgn val="ctr"/>
        <c:lblOffset val="100"/>
        <c:noMultiLvlLbl val="0"/>
      </c:catAx>
      <c:valAx>
        <c:axId val="2042176128"/>
        <c:scaling>
          <c:orientation val="minMax"/>
        </c:scaling>
        <c:delete val="1"/>
        <c:axPos val="b"/>
        <c:numFmt formatCode="General" sourceLinked="1"/>
        <c:majorTickMark val="none"/>
        <c:minorTickMark val="none"/>
        <c:tickLblPos val="nextTo"/>
        <c:crossAx val="20421756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[Zomato_Nippa.xlsx]Q-7 I Objective!PivotTable5</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Restaurants opened each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'Q-7 I Objective'!$C$7</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'Q-7 I Objective'!$B$8:$B$17</c:f>
              <c:strCache>
                <c:ptCount val="9"/>
                <c:pt idx="0">
                  <c:v>2010</c:v>
                </c:pt>
                <c:pt idx="1">
                  <c:v>2011</c:v>
                </c:pt>
                <c:pt idx="2">
                  <c:v>2012</c:v>
                </c:pt>
                <c:pt idx="3">
                  <c:v>2013</c:v>
                </c:pt>
                <c:pt idx="4">
                  <c:v>2014</c:v>
                </c:pt>
                <c:pt idx="5">
                  <c:v>2015</c:v>
                </c:pt>
                <c:pt idx="6">
                  <c:v>2016</c:v>
                </c:pt>
                <c:pt idx="7">
                  <c:v>2017</c:v>
                </c:pt>
                <c:pt idx="8">
                  <c:v>2018</c:v>
                </c:pt>
              </c:strCache>
            </c:strRef>
          </c:cat>
          <c:val>
            <c:numRef>
              <c:f>'Q-7 I Objective'!$C$8:$C$17</c:f>
              <c:numCache>
                <c:formatCode>General</c:formatCode>
                <c:ptCount val="9"/>
                <c:pt idx="0">
                  <c:v>1080</c:v>
                </c:pt>
                <c:pt idx="1">
                  <c:v>1098</c:v>
                </c:pt>
                <c:pt idx="2">
                  <c:v>1022</c:v>
                </c:pt>
                <c:pt idx="3">
                  <c:v>1061</c:v>
                </c:pt>
                <c:pt idx="4">
                  <c:v>1051</c:v>
                </c:pt>
                <c:pt idx="5">
                  <c:v>1024</c:v>
                </c:pt>
                <c:pt idx="6">
                  <c:v>1027</c:v>
                </c:pt>
                <c:pt idx="7">
                  <c:v>1086</c:v>
                </c:pt>
                <c:pt idx="8">
                  <c:v>1102</c:v>
                </c:pt>
              </c:numCache>
            </c:numRef>
          </c:val>
          <c:smooth val="0"/>
          <c:extLst>
            <c:ext xmlns:c16="http://schemas.microsoft.com/office/drawing/2014/chart" uri="{C3380CC4-5D6E-409C-BE32-E72D297353CC}">
              <c16:uniqueId val="{00000000-646C-4A33-86B6-E05502C697CF}"/>
            </c:ext>
          </c:extLst>
        </c:ser>
        <c:dLbls>
          <c:dLblPos val="t"/>
          <c:showLegendKey val="0"/>
          <c:showVal val="1"/>
          <c:showCatName val="0"/>
          <c:showSerName val="0"/>
          <c:showPercent val="0"/>
          <c:showBubbleSize val="0"/>
        </c:dLbls>
        <c:marker val="1"/>
        <c:smooth val="0"/>
        <c:axId val="844363871"/>
        <c:axId val="844366751"/>
      </c:lineChart>
      <c:catAx>
        <c:axId val="844363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4366751"/>
        <c:crosses val="autoZero"/>
        <c:auto val="1"/>
        <c:lblAlgn val="ctr"/>
        <c:lblOffset val="100"/>
        <c:noMultiLvlLbl val="0"/>
      </c:catAx>
      <c:valAx>
        <c:axId val="844366751"/>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Restaurants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crossAx val="8443638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[Zomato_Nippa.xlsx]Q-9 I Objective!PivotTable6</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Countries</a:t>
            </a:r>
            <a:r>
              <a:rPr lang="en-US" baseline="0"/>
              <a:t> and their average of votes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'Q-9 I Objective'!$C$7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'Q-9 I Objective'!$B$8:$B$23</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'Q-9 I Objective'!$C$8:$C$23</c:f>
              <c:numCache>
                <c:formatCode>0</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FD03-4C85-A0EC-7A8D99A34B85}"/>
            </c:ext>
          </c:extLst>
        </c:ser>
        <c:dLbls>
          <c:dLblPos val="outEnd"/>
          <c:showLegendKey val="0"/>
          <c:showVal val="1"/>
          <c:showCatName val="0"/>
          <c:showSerName val="0"/>
          <c:showPercent val="0"/>
          <c:showBubbleSize val="0"/>
        </c:dLbls>
        <c:gapWidth val="182"/>
        <c:axId val="49453871"/>
        <c:axId val="49456271"/>
      </c:barChart>
      <c:catAx>
        <c:axId val="49453871"/>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456271"/>
        <c:crosses val="autoZero"/>
        <c:auto val="1"/>
        <c:lblAlgn val="ctr"/>
        <c:lblOffset val="100"/>
        <c:noMultiLvlLbl val="0"/>
      </c:catAx>
      <c:valAx>
        <c:axId val="49456271"/>
        <c:scaling>
          <c:orientation val="minMax"/>
        </c:scaling>
        <c:delete val="1"/>
        <c:axPos val="b"/>
        <c:numFmt formatCode="0" sourceLinked="1"/>
        <c:majorTickMark val="out"/>
        <c:minorTickMark val="none"/>
        <c:tickLblPos val="nextTo"/>
        <c:crossAx val="494538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[Zomato_Nippa.xlsx]Q-1 I Subjective!PivotTable2</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200"/>
              <a:t>Country</a:t>
            </a:r>
            <a:r>
              <a:rPr lang="en-IN" sz="1200" baseline="0"/>
              <a:t>-wise Comparision of Restaurant Count,Cost &amp; Ratings</a:t>
            </a:r>
            <a:endParaRPr lang="en-IN" sz="12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687305824318448"/>
          <c:y val="7.1593652868748581E-2"/>
          <c:w val="0.77655050173473872"/>
          <c:h val="0.60826412458717727"/>
        </c:manualLayout>
      </c:layout>
      <c:barChart>
        <c:barDir val="col"/>
        <c:grouping val="clustered"/>
        <c:varyColors val="0"/>
        <c:ser>
          <c:idx val="0"/>
          <c:order val="0"/>
          <c:tx>
            <c:strRef>
              <c:f>'Q-1 I Subjective'!$C$7</c:f>
              <c:strCache>
                <c:ptCount val="1"/>
                <c:pt idx="0">
                  <c:v>Count of RestaurantID</c:v>
                </c:pt>
              </c:strCache>
            </c:strRef>
          </c:tx>
          <c:spPr>
            <a:solidFill>
              <a:schemeClr val="accent1"/>
            </a:solidFill>
            <a:ln>
              <a:noFill/>
            </a:ln>
            <a:effectLst/>
          </c:spPr>
          <c:invertIfNegative val="0"/>
          <c:cat>
            <c:strRef>
              <c:f>'Q-1 I Subjective'!$B$8:$B$22</c:f>
              <c:strCache>
                <c:ptCount val="15"/>
                <c:pt idx="0">
                  <c:v>Philippines</c:v>
                </c:pt>
                <c:pt idx="1">
                  <c:v>Turkey</c:v>
                </c:pt>
                <c:pt idx="2">
                  <c:v>Indonesia</c:v>
                </c:pt>
                <c:pt idx="3">
                  <c:v>New Zealand</c:v>
                </c:pt>
                <c:pt idx="4">
                  <c:v>United Arab Emirates</c:v>
                </c:pt>
                <c:pt idx="5">
                  <c:v>South Africa</c:v>
                </c:pt>
                <c:pt idx="6">
                  <c:v>United Kingdom</c:v>
                </c:pt>
                <c:pt idx="7">
                  <c:v>Qatar</c:v>
                </c:pt>
                <c:pt idx="8">
                  <c:v>United States of America</c:v>
                </c:pt>
                <c:pt idx="9">
                  <c:v>Sri Lanka</c:v>
                </c:pt>
                <c:pt idx="10">
                  <c:v>Brazil</c:v>
                </c:pt>
                <c:pt idx="11">
                  <c:v>Australia</c:v>
                </c:pt>
                <c:pt idx="12">
                  <c:v>Singapore</c:v>
                </c:pt>
                <c:pt idx="13">
                  <c:v>Canada</c:v>
                </c:pt>
                <c:pt idx="14">
                  <c:v>India</c:v>
                </c:pt>
              </c:strCache>
            </c:strRef>
          </c:cat>
          <c:val>
            <c:numRef>
              <c:f>'Q-1 I Subjective'!$C$8:$C$22</c:f>
              <c:numCache>
                <c:formatCode>General</c:formatCode>
                <c:ptCount val="15"/>
                <c:pt idx="0">
                  <c:v>22</c:v>
                </c:pt>
                <c:pt idx="1">
                  <c:v>34</c:v>
                </c:pt>
                <c:pt idx="2">
                  <c:v>21</c:v>
                </c:pt>
                <c:pt idx="3">
                  <c:v>40</c:v>
                </c:pt>
                <c:pt idx="4">
                  <c:v>60</c:v>
                </c:pt>
                <c:pt idx="5">
                  <c:v>60</c:v>
                </c:pt>
                <c:pt idx="6">
                  <c:v>80</c:v>
                </c:pt>
                <c:pt idx="7">
                  <c:v>20</c:v>
                </c:pt>
                <c:pt idx="8">
                  <c:v>434</c:v>
                </c:pt>
                <c:pt idx="9">
                  <c:v>20</c:v>
                </c:pt>
                <c:pt idx="10">
                  <c:v>60</c:v>
                </c:pt>
                <c:pt idx="11">
                  <c:v>24</c:v>
                </c:pt>
                <c:pt idx="12">
                  <c:v>20</c:v>
                </c:pt>
                <c:pt idx="13">
                  <c:v>4</c:v>
                </c:pt>
                <c:pt idx="14">
                  <c:v>8652</c:v>
                </c:pt>
              </c:numCache>
            </c:numRef>
          </c:val>
          <c:extLst>
            <c:ext xmlns:c16="http://schemas.microsoft.com/office/drawing/2014/chart" uri="{C3380CC4-5D6E-409C-BE32-E72D297353CC}">
              <c16:uniqueId val="{00000000-21E5-42BC-AD24-10FA4A877B41}"/>
            </c:ext>
          </c:extLst>
        </c:ser>
        <c:ser>
          <c:idx val="1"/>
          <c:order val="1"/>
          <c:tx>
            <c:strRef>
              <c:f>'Q-1 I Subjective'!$D$7</c:f>
              <c:strCache>
                <c:ptCount val="1"/>
                <c:pt idx="0">
                  <c:v>Average of Average_Cost_for_two</c:v>
                </c:pt>
              </c:strCache>
            </c:strRef>
          </c:tx>
          <c:spPr>
            <a:solidFill>
              <a:schemeClr val="accent2"/>
            </a:solidFill>
            <a:ln>
              <a:noFill/>
            </a:ln>
            <a:effectLst/>
          </c:spPr>
          <c:invertIfNegative val="0"/>
          <c:cat>
            <c:strRef>
              <c:f>'Q-1 I Subjective'!$B$8:$B$22</c:f>
              <c:strCache>
                <c:ptCount val="15"/>
                <c:pt idx="0">
                  <c:v>Philippines</c:v>
                </c:pt>
                <c:pt idx="1">
                  <c:v>Turkey</c:v>
                </c:pt>
                <c:pt idx="2">
                  <c:v>Indonesia</c:v>
                </c:pt>
                <c:pt idx="3">
                  <c:v>New Zealand</c:v>
                </c:pt>
                <c:pt idx="4">
                  <c:v>United Arab Emirates</c:v>
                </c:pt>
                <c:pt idx="5">
                  <c:v>South Africa</c:v>
                </c:pt>
                <c:pt idx="6">
                  <c:v>United Kingdom</c:v>
                </c:pt>
                <c:pt idx="7">
                  <c:v>Qatar</c:v>
                </c:pt>
                <c:pt idx="8">
                  <c:v>United States of America</c:v>
                </c:pt>
                <c:pt idx="9">
                  <c:v>Sri Lanka</c:v>
                </c:pt>
                <c:pt idx="10">
                  <c:v>Brazil</c:v>
                </c:pt>
                <c:pt idx="11">
                  <c:v>Australia</c:v>
                </c:pt>
                <c:pt idx="12">
                  <c:v>Singapore</c:v>
                </c:pt>
                <c:pt idx="13">
                  <c:v>Canada</c:v>
                </c:pt>
                <c:pt idx="14">
                  <c:v>India</c:v>
                </c:pt>
              </c:strCache>
            </c:strRef>
          </c:cat>
          <c:val>
            <c:numRef>
              <c:f>'Q-1 I Subjective'!$D$8:$D$22</c:f>
              <c:numCache>
                <c:formatCode>0.00</c:formatCode>
                <c:ptCount val="15"/>
                <c:pt idx="0">
                  <c:v>1606.8181818181818</c:v>
                </c:pt>
                <c:pt idx="1">
                  <c:v>84.852941176470594</c:v>
                </c:pt>
                <c:pt idx="2">
                  <c:v>281190.47619047621</c:v>
                </c:pt>
                <c:pt idx="3">
                  <c:v>69.75</c:v>
                </c:pt>
                <c:pt idx="4">
                  <c:v>166.41666666666666</c:v>
                </c:pt>
                <c:pt idx="5">
                  <c:v>419.73333333333335</c:v>
                </c:pt>
                <c:pt idx="6">
                  <c:v>47.8125</c:v>
                </c:pt>
                <c:pt idx="7">
                  <c:v>223.75</c:v>
                </c:pt>
                <c:pt idx="8">
                  <c:v>26.152073732718893</c:v>
                </c:pt>
                <c:pt idx="9">
                  <c:v>2375</c:v>
                </c:pt>
                <c:pt idx="10">
                  <c:v>134.66666666666666</c:v>
                </c:pt>
                <c:pt idx="11">
                  <c:v>24.083333333333332</c:v>
                </c:pt>
                <c:pt idx="12">
                  <c:v>155.75</c:v>
                </c:pt>
                <c:pt idx="13">
                  <c:v>36.25</c:v>
                </c:pt>
                <c:pt idx="14">
                  <c:v>623.37031900138697</c:v>
                </c:pt>
              </c:numCache>
            </c:numRef>
          </c:val>
          <c:extLst>
            <c:ext xmlns:c16="http://schemas.microsoft.com/office/drawing/2014/chart" uri="{C3380CC4-5D6E-409C-BE32-E72D297353CC}">
              <c16:uniqueId val="{00000001-21E5-42BC-AD24-10FA4A877B41}"/>
            </c:ext>
          </c:extLst>
        </c:ser>
        <c:ser>
          <c:idx val="2"/>
          <c:order val="2"/>
          <c:tx>
            <c:strRef>
              <c:f>'Q-1 I Subjective'!$E$7</c:f>
              <c:strCache>
                <c:ptCount val="1"/>
                <c:pt idx="0">
                  <c:v>Average of Rating</c:v>
                </c:pt>
              </c:strCache>
            </c:strRef>
          </c:tx>
          <c:spPr>
            <a:solidFill>
              <a:schemeClr val="accent3"/>
            </a:solidFill>
            <a:ln>
              <a:noFill/>
            </a:ln>
            <a:effectLst/>
          </c:spPr>
          <c:invertIfNegative val="0"/>
          <c:cat>
            <c:strRef>
              <c:f>'Q-1 I Subjective'!$B$8:$B$22</c:f>
              <c:strCache>
                <c:ptCount val="15"/>
                <c:pt idx="0">
                  <c:v>Philippines</c:v>
                </c:pt>
                <c:pt idx="1">
                  <c:v>Turkey</c:v>
                </c:pt>
                <c:pt idx="2">
                  <c:v>Indonesia</c:v>
                </c:pt>
                <c:pt idx="3">
                  <c:v>New Zealand</c:v>
                </c:pt>
                <c:pt idx="4">
                  <c:v>United Arab Emirates</c:v>
                </c:pt>
                <c:pt idx="5">
                  <c:v>South Africa</c:v>
                </c:pt>
                <c:pt idx="6">
                  <c:v>United Kingdom</c:v>
                </c:pt>
                <c:pt idx="7">
                  <c:v>Qatar</c:v>
                </c:pt>
                <c:pt idx="8">
                  <c:v>United States of America</c:v>
                </c:pt>
                <c:pt idx="9">
                  <c:v>Sri Lanka</c:v>
                </c:pt>
                <c:pt idx="10">
                  <c:v>Brazil</c:v>
                </c:pt>
                <c:pt idx="11">
                  <c:v>Australia</c:v>
                </c:pt>
                <c:pt idx="12">
                  <c:v>Singapore</c:v>
                </c:pt>
                <c:pt idx="13">
                  <c:v>Canada</c:v>
                </c:pt>
                <c:pt idx="14">
                  <c:v>India</c:v>
                </c:pt>
              </c:strCache>
            </c:strRef>
          </c:cat>
          <c:val>
            <c:numRef>
              <c:f>'Q-1 I Subjective'!$E$8:$E$22</c:f>
              <c:numCache>
                <c:formatCode>0.00</c:formatCode>
                <c:ptCount val="15"/>
                <c:pt idx="0">
                  <c:v>4.4681818181818187</c:v>
                </c:pt>
                <c:pt idx="1">
                  <c:v>4.3</c:v>
                </c:pt>
                <c:pt idx="2">
                  <c:v>4.295238095238096</c:v>
                </c:pt>
                <c:pt idx="3">
                  <c:v>4.2624999999999993</c:v>
                </c:pt>
                <c:pt idx="4">
                  <c:v>4.2333333333333352</c:v>
                </c:pt>
                <c:pt idx="5">
                  <c:v>4.2100000000000009</c:v>
                </c:pt>
                <c:pt idx="6">
                  <c:v>4.0999999999999996</c:v>
                </c:pt>
                <c:pt idx="7">
                  <c:v>4.0599999999999996</c:v>
                </c:pt>
                <c:pt idx="8">
                  <c:v>4.011290322580642</c:v>
                </c:pt>
                <c:pt idx="9">
                  <c:v>3.87</c:v>
                </c:pt>
                <c:pt idx="10">
                  <c:v>3.8466666666666667</c:v>
                </c:pt>
                <c:pt idx="11">
                  <c:v>3.6583333333333337</c:v>
                </c:pt>
                <c:pt idx="12">
                  <c:v>3.5750000000000002</c:v>
                </c:pt>
                <c:pt idx="13">
                  <c:v>3.5750000000000002</c:v>
                </c:pt>
                <c:pt idx="14">
                  <c:v>2.7705501618122987</c:v>
                </c:pt>
              </c:numCache>
            </c:numRef>
          </c:val>
          <c:extLst>
            <c:ext xmlns:c16="http://schemas.microsoft.com/office/drawing/2014/chart" uri="{C3380CC4-5D6E-409C-BE32-E72D297353CC}">
              <c16:uniqueId val="{00000002-21E5-42BC-AD24-10FA4A877B41}"/>
            </c:ext>
          </c:extLst>
        </c:ser>
        <c:dLbls>
          <c:showLegendKey val="0"/>
          <c:showVal val="0"/>
          <c:showCatName val="0"/>
          <c:showSerName val="0"/>
          <c:showPercent val="0"/>
          <c:showBubbleSize val="0"/>
        </c:dLbls>
        <c:gapWidth val="219"/>
        <c:overlap val="-27"/>
        <c:axId val="1666494751"/>
        <c:axId val="1377495551"/>
      </c:barChart>
      <c:catAx>
        <c:axId val="166649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7495551"/>
        <c:crosses val="autoZero"/>
        <c:auto val="1"/>
        <c:lblAlgn val="ctr"/>
        <c:lblOffset val="100"/>
        <c:noMultiLvlLbl val="0"/>
      </c:catAx>
      <c:valAx>
        <c:axId val="1377495551"/>
        <c:scaling>
          <c:logBase val="10"/>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66649475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[FinalZomato_Nippa.xlsx]Q-2 I Subjective!PivotTable1</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City</a:t>
            </a:r>
            <a:r>
              <a:rPr lang="en-IN" baseline="0"/>
              <a:t> wise comparison of Restaurant count,cost and ratings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'Q-2 I Subjective'!$C$7</c:f>
              <c:strCache>
                <c:ptCount val="1"/>
                <c:pt idx="0">
                  <c:v>Count of RestaurantID</c:v>
                </c:pt>
              </c:strCache>
            </c:strRef>
          </c:tx>
          <c:spPr>
            <a:solidFill>
              <a:schemeClr val="accent1"/>
            </a:solidFill>
            <a:ln>
              <a:noFill/>
            </a:ln>
            <a:effectLst/>
          </c:spPr>
          <c:invertIfNegative val="0"/>
          <c:cat>
            <c:multiLvlStrRef>
              <c:f>'Q-2 I Subjective'!$B$8:$B$29</c:f>
              <c:multiLvlStrCache>
                <c:ptCount val="17"/>
                <c:lvl>
                  <c:pt idx="0">
                    <c:v>Bandung</c:v>
                  </c:pt>
                  <c:pt idx="1">
                    <c:v>Bogor</c:v>
                  </c:pt>
                  <c:pt idx="2">
                    <c:v>Jakarta</c:v>
                  </c:pt>
                  <c:pt idx="3">
                    <c:v>Tangerang</c:v>
                  </c:pt>
                  <c:pt idx="4">
                    <c:v>Makati City</c:v>
                  </c:pt>
                  <c:pt idx="5">
                    <c:v>Mandaluyong City</c:v>
                  </c:pt>
                  <c:pt idx="6">
                    <c:v>Pasay City</c:v>
                  </c:pt>
                  <c:pt idx="7">
                    <c:v>Pasig City</c:v>
                  </c:pt>
                  <c:pt idx="8">
                    <c:v>Quezon City</c:v>
                  </c:pt>
                  <c:pt idx="9">
                    <c:v>San Juan City</c:v>
                  </c:pt>
                  <c:pt idx="10">
                    <c:v>Santa Rosa</c:v>
                  </c:pt>
                  <c:pt idx="11">
                    <c:v>Tagaytay City</c:v>
                  </c:pt>
                  <c:pt idx="12">
                    <c:v>Taguig City</c:v>
                  </c:pt>
                  <c:pt idx="13">
                    <c:v>Doha</c:v>
                  </c:pt>
                  <c:pt idx="14">
                    <c:v>Colombo</c:v>
                  </c:pt>
                  <c:pt idx="15">
                    <c:v>Ankara</c:v>
                  </c:pt>
                  <c:pt idx="16">
                    <c:v>Istanbul</c:v>
                  </c:pt>
                </c:lvl>
                <c:lvl>
                  <c:pt idx="0">
                    <c:v>Indonesia</c:v>
                  </c:pt>
                  <c:pt idx="4">
                    <c:v>Philippines</c:v>
                  </c:pt>
                  <c:pt idx="13">
                    <c:v>Qatar</c:v>
                  </c:pt>
                  <c:pt idx="14">
                    <c:v>Sri Lanka</c:v>
                  </c:pt>
                  <c:pt idx="15">
                    <c:v>Turkey</c:v>
                  </c:pt>
                </c:lvl>
              </c:multiLvlStrCache>
            </c:multiLvlStrRef>
          </c:cat>
          <c:val>
            <c:numRef>
              <c:f>'Q-2 I Subjective'!$C$8:$C$29</c:f>
              <c:numCache>
                <c:formatCode>General</c:formatCode>
                <c:ptCount val="17"/>
                <c:pt idx="0">
                  <c:v>1</c:v>
                </c:pt>
                <c:pt idx="1">
                  <c:v>2</c:v>
                </c:pt>
                <c:pt idx="2">
                  <c:v>16</c:v>
                </c:pt>
                <c:pt idx="3">
                  <c:v>2</c:v>
                </c:pt>
                <c:pt idx="4">
                  <c:v>2</c:v>
                </c:pt>
                <c:pt idx="5">
                  <c:v>4</c:v>
                </c:pt>
                <c:pt idx="6">
                  <c:v>3</c:v>
                </c:pt>
                <c:pt idx="7">
                  <c:v>3</c:v>
                </c:pt>
                <c:pt idx="8">
                  <c:v>1</c:v>
                </c:pt>
                <c:pt idx="9">
                  <c:v>2</c:v>
                </c:pt>
                <c:pt idx="10">
                  <c:v>2</c:v>
                </c:pt>
                <c:pt idx="11">
                  <c:v>1</c:v>
                </c:pt>
                <c:pt idx="12">
                  <c:v>4</c:v>
                </c:pt>
                <c:pt idx="13">
                  <c:v>20</c:v>
                </c:pt>
                <c:pt idx="14">
                  <c:v>20</c:v>
                </c:pt>
                <c:pt idx="15">
                  <c:v>20</c:v>
                </c:pt>
                <c:pt idx="16">
                  <c:v>14</c:v>
                </c:pt>
              </c:numCache>
            </c:numRef>
          </c:val>
          <c:extLst>
            <c:ext xmlns:c16="http://schemas.microsoft.com/office/drawing/2014/chart" uri="{C3380CC4-5D6E-409C-BE32-E72D297353CC}">
              <c16:uniqueId val="{00000000-016B-4BC3-98D5-BB8D97A45646}"/>
            </c:ext>
          </c:extLst>
        </c:ser>
        <c:ser>
          <c:idx val="1"/>
          <c:order val="1"/>
          <c:tx>
            <c:strRef>
              <c:f>'Q-2 I Subjective'!$D$7</c:f>
              <c:strCache>
                <c:ptCount val="1"/>
                <c:pt idx="0">
                  <c:v>Average of Average_Cost_for_two</c:v>
                </c:pt>
              </c:strCache>
            </c:strRef>
          </c:tx>
          <c:spPr>
            <a:solidFill>
              <a:schemeClr val="accent2"/>
            </a:solidFill>
            <a:ln>
              <a:noFill/>
            </a:ln>
            <a:effectLst/>
          </c:spPr>
          <c:invertIfNegative val="0"/>
          <c:cat>
            <c:multiLvlStrRef>
              <c:f>'Q-2 I Subjective'!$B$8:$B$29</c:f>
              <c:multiLvlStrCache>
                <c:ptCount val="17"/>
                <c:lvl>
                  <c:pt idx="0">
                    <c:v>Bandung</c:v>
                  </c:pt>
                  <c:pt idx="1">
                    <c:v>Bogor</c:v>
                  </c:pt>
                  <c:pt idx="2">
                    <c:v>Jakarta</c:v>
                  </c:pt>
                  <c:pt idx="3">
                    <c:v>Tangerang</c:v>
                  </c:pt>
                  <c:pt idx="4">
                    <c:v>Makati City</c:v>
                  </c:pt>
                  <c:pt idx="5">
                    <c:v>Mandaluyong City</c:v>
                  </c:pt>
                  <c:pt idx="6">
                    <c:v>Pasay City</c:v>
                  </c:pt>
                  <c:pt idx="7">
                    <c:v>Pasig City</c:v>
                  </c:pt>
                  <c:pt idx="8">
                    <c:v>Quezon City</c:v>
                  </c:pt>
                  <c:pt idx="9">
                    <c:v>San Juan City</c:v>
                  </c:pt>
                  <c:pt idx="10">
                    <c:v>Santa Rosa</c:v>
                  </c:pt>
                  <c:pt idx="11">
                    <c:v>Tagaytay City</c:v>
                  </c:pt>
                  <c:pt idx="12">
                    <c:v>Taguig City</c:v>
                  </c:pt>
                  <c:pt idx="13">
                    <c:v>Doha</c:v>
                  </c:pt>
                  <c:pt idx="14">
                    <c:v>Colombo</c:v>
                  </c:pt>
                  <c:pt idx="15">
                    <c:v>Ankara</c:v>
                  </c:pt>
                  <c:pt idx="16">
                    <c:v>Istanbul</c:v>
                  </c:pt>
                </c:lvl>
                <c:lvl>
                  <c:pt idx="0">
                    <c:v>Indonesia</c:v>
                  </c:pt>
                  <c:pt idx="4">
                    <c:v>Philippines</c:v>
                  </c:pt>
                  <c:pt idx="13">
                    <c:v>Qatar</c:v>
                  </c:pt>
                  <c:pt idx="14">
                    <c:v>Sri Lanka</c:v>
                  </c:pt>
                  <c:pt idx="15">
                    <c:v>Turkey</c:v>
                  </c:pt>
                </c:lvl>
              </c:multiLvlStrCache>
            </c:multiLvlStrRef>
          </c:cat>
          <c:val>
            <c:numRef>
              <c:f>'Q-2 I Subjective'!$D$8:$D$29</c:f>
              <c:numCache>
                <c:formatCode>0.00</c:formatCode>
                <c:ptCount val="17"/>
                <c:pt idx="0">
                  <c:v>150000</c:v>
                </c:pt>
                <c:pt idx="1">
                  <c:v>160000</c:v>
                </c:pt>
                <c:pt idx="2">
                  <c:v>308437.5</c:v>
                </c:pt>
                <c:pt idx="3">
                  <c:v>250000</c:v>
                </c:pt>
                <c:pt idx="4">
                  <c:v>1150</c:v>
                </c:pt>
                <c:pt idx="5">
                  <c:v>2000</c:v>
                </c:pt>
                <c:pt idx="6">
                  <c:v>3333.3333333333335</c:v>
                </c:pt>
                <c:pt idx="7">
                  <c:v>933.33333333333337</c:v>
                </c:pt>
                <c:pt idx="8">
                  <c:v>800</c:v>
                </c:pt>
                <c:pt idx="9">
                  <c:v>850</c:v>
                </c:pt>
                <c:pt idx="10">
                  <c:v>825</c:v>
                </c:pt>
                <c:pt idx="11">
                  <c:v>1200</c:v>
                </c:pt>
                <c:pt idx="12">
                  <c:v>1725</c:v>
                </c:pt>
                <c:pt idx="13">
                  <c:v>223.75</c:v>
                </c:pt>
                <c:pt idx="14">
                  <c:v>2375</c:v>
                </c:pt>
                <c:pt idx="15">
                  <c:v>87.25</c:v>
                </c:pt>
                <c:pt idx="16">
                  <c:v>81.428571428571431</c:v>
                </c:pt>
              </c:numCache>
            </c:numRef>
          </c:val>
          <c:extLst>
            <c:ext xmlns:c16="http://schemas.microsoft.com/office/drawing/2014/chart" uri="{C3380CC4-5D6E-409C-BE32-E72D297353CC}">
              <c16:uniqueId val="{00000001-016B-4BC3-98D5-BB8D97A45646}"/>
            </c:ext>
          </c:extLst>
        </c:ser>
        <c:ser>
          <c:idx val="2"/>
          <c:order val="2"/>
          <c:tx>
            <c:strRef>
              <c:f>'Q-2 I Subjective'!$E$7</c:f>
              <c:strCache>
                <c:ptCount val="1"/>
                <c:pt idx="0">
                  <c:v>Average of Votes</c:v>
                </c:pt>
              </c:strCache>
            </c:strRef>
          </c:tx>
          <c:spPr>
            <a:solidFill>
              <a:schemeClr val="accent3"/>
            </a:solidFill>
            <a:ln>
              <a:noFill/>
            </a:ln>
            <a:effectLst/>
          </c:spPr>
          <c:invertIfNegative val="0"/>
          <c:cat>
            <c:multiLvlStrRef>
              <c:f>'Q-2 I Subjective'!$B$8:$B$29</c:f>
              <c:multiLvlStrCache>
                <c:ptCount val="17"/>
                <c:lvl>
                  <c:pt idx="0">
                    <c:v>Bandung</c:v>
                  </c:pt>
                  <c:pt idx="1">
                    <c:v>Bogor</c:v>
                  </c:pt>
                  <c:pt idx="2">
                    <c:v>Jakarta</c:v>
                  </c:pt>
                  <c:pt idx="3">
                    <c:v>Tangerang</c:v>
                  </c:pt>
                  <c:pt idx="4">
                    <c:v>Makati City</c:v>
                  </c:pt>
                  <c:pt idx="5">
                    <c:v>Mandaluyong City</c:v>
                  </c:pt>
                  <c:pt idx="6">
                    <c:v>Pasay City</c:v>
                  </c:pt>
                  <c:pt idx="7">
                    <c:v>Pasig City</c:v>
                  </c:pt>
                  <c:pt idx="8">
                    <c:v>Quezon City</c:v>
                  </c:pt>
                  <c:pt idx="9">
                    <c:v>San Juan City</c:v>
                  </c:pt>
                  <c:pt idx="10">
                    <c:v>Santa Rosa</c:v>
                  </c:pt>
                  <c:pt idx="11">
                    <c:v>Tagaytay City</c:v>
                  </c:pt>
                  <c:pt idx="12">
                    <c:v>Taguig City</c:v>
                  </c:pt>
                  <c:pt idx="13">
                    <c:v>Doha</c:v>
                  </c:pt>
                  <c:pt idx="14">
                    <c:v>Colombo</c:v>
                  </c:pt>
                  <c:pt idx="15">
                    <c:v>Ankara</c:v>
                  </c:pt>
                  <c:pt idx="16">
                    <c:v>Istanbul</c:v>
                  </c:pt>
                </c:lvl>
                <c:lvl>
                  <c:pt idx="0">
                    <c:v>Indonesia</c:v>
                  </c:pt>
                  <c:pt idx="4">
                    <c:v>Philippines</c:v>
                  </c:pt>
                  <c:pt idx="13">
                    <c:v>Qatar</c:v>
                  </c:pt>
                  <c:pt idx="14">
                    <c:v>Sri Lanka</c:v>
                  </c:pt>
                  <c:pt idx="15">
                    <c:v>Turkey</c:v>
                  </c:pt>
                </c:lvl>
              </c:multiLvlStrCache>
            </c:multiLvlStrRef>
          </c:cat>
          <c:val>
            <c:numRef>
              <c:f>'Q-2 I Subjective'!$E$8:$E$29</c:f>
              <c:numCache>
                <c:formatCode>0.00</c:formatCode>
                <c:ptCount val="17"/>
                <c:pt idx="0">
                  <c:v>22</c:v>
                </c:pt>
                <c:pt idx="1">
                  <c:v>971</c:v>
                </c:pt>
                <c:pt idx="2">
                  <c:v>742.6875</c:v>
                </c:pt>
                <c:pt idx="3">
                  <c:v>1183.5</c:v>
                </c:pt>
                <c:pt idx="4">
                  <c:v>452.5</c:v>
                </c:pt>
                <c:pt idx="5">
                  <c:v>300</c:v>
                </c:pt>
                <c:pt idx="6">
                  <c:v>606</c:v>
                </c:pt>
                <c:pt idx="7">
                  <c:v>696.66666666666663</c:v>
                </c:pt>
                <c:pt idx="8">
                  <c:v>294</c:v>
                </c:pt>
                <c:pt idx="9">
                  <c:v>340.5</c:v>
                </c:pt>
                <c:pt idx="10">
                  <c:v>50.5</c:v>
                </c:pt>
                <c:pt idx="11">
                  <c:v>211</c:v>
                </c:pt>
                <c:pt idx="12">
                  <c:v>415.75</c:v>
                </c:pt>
                <c:pt idx="13">
                  <c:v>163.80000000000001</c:v>
                </c:pt>
                <c:pt idx="14">
                  <c:v>146.44999999999999</c:v>
                </c:pt>
                <c:pt idx="15">
                  <c:v>131.35</c:v>
                </c:pt>
                <c:pt idx="16">
                  <c:v>860.21428571428567</c:v>
                </c:pt>
              </c:numCache>
            </c:numRef>
          </c:val>
          <c:extLst>
            <c:ext xmlns:c16="http://schemas.microsoft.com/office/drawing/2014/chart" uri="{C3380CC4-5D6E-409C-BE32-E72D297353CC}">
              <c16:uniqueId val="{00000002-016B-4BC3-98D5-BB8D97A45646}"/>
            </c:ext>
          </c:extLst>
        </c:ser>
        <c:dLbls>
          <c:showLegendKey val="0"/>
          <c:showVal val="0"/>
          <c:showCatName val="0"/>
          <c:showSerName val="0"/>
          <c:showPercent val="0"/>
          <c:showBubbleSize val="0"/>
        </c:dLbls>
        <c:gapWidth val="219"/>
        <c:overlap val="-27"/>
        <c:axId val="730952176"/>
        <c:axId val="730952656"/>
      </c:barChart>
      <c:catAx>
        <c:axId val="730952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0952656"/>
        <c:crosses val="autoZero"/>
        <c:auto val="1"/>
        <c:lblAlgn val="ctr"/>
        <c:lblOffset val="100"/>
        <c:noMultiLvlLbl val="0"/>
      </c:catAx>
      <c:valAx>
        <c:axId val="730952656"/>
        <c:scaling>
          <c:logBase val="10"/>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09521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[Zomato_Nippa.xlsx]Q-3 I Subjective !PivotTable1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a:t>
            </a:r>
            <a:r>
              <a:rPr lang="en-US" baseline="0"/>
              <a:t> Rating of Suggested Countries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'Q-3 I Subjective '!$C$7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'Q-3 I Subjective '!$B$8:$B$12</c:f>
              <c:strCache>
                <c:ptCount val="5"/>
                <c:pt idx="0">
                  <c:v>Indonesia</c:v>
                </c:pt>
                <c:pt idx="1">
                  <c:v>Philippines</c:v>
                </c:pt>
                <c:pt idx="2">
                  <c:v>Qatar</c:v>
                </c:pt>
                <c:pt idx="3">
                  <c:v>Sri Lanka</c:v>
                </c:pt>
                <c:pt idx="4">
                  <c:v>Turkey</c:v>
                </c:pt>
              </c:strCache>
            </c:strRef>
          </c:cat>
          <c:val>
            <c:numRef>
              <c:f>'Q-3 I Subjective '!$C$8:$C$12</c:f>
              <c:numCache>
                <c:formatCode>0.00</c:formatCode>
                <c:ptCount val="5"/>
                <c:pt idx="0">
                  <c:v>4.2952380952380969</c:v>
                </c:pt>
                <c:pt idx="1">
                  <c:v>4.4681818181818196</c:v>
                </c:pt>
                <c:pt idx="2">
                  <c:v>4.0600000000000005</c:v>
                </c:pt>
                <c:pt idx="3">
                  <c:v>3.8699999999999997</c:v>
                </c:pt>
                <c:pt idx="4">
                  <c:v>4.3000000000000007</c:v>
                </c:pt>
              </c:numCache>
            </c:numRef>
          </c:val>
          <c:extLst>
            <c:ext xmlns:c16="http://schemas.microsoft.com/office/drawing/2014/chart" uri="{C3380CC4-5D6E-409C-BE32-E72D297353CC}">
              <c16:uniqueId val="{00000000-B377-46BF-8706-0B6873292B86}"/>
            </c:ext>
          </c:extLst>
        </c:ser>
        <c:dLbls>
          <c:dLblPos val="outEnd"/>
          <c:showLegendKey val="0"/>
          <c:showVal val="1"/>
          <c:showCatName val="0"/>
          <c:showSerName val="0"/>
          <c:showPercent val="0"/>
          <c:showBubbleSize val="0"/>
        </c:dLbls>
        <c:gapWidth val="219"/>
        <c:overlap val="-27"/>
        <c:axId val="1341858144"/>
        <c:axId val="1341854784"/>
      </c:barChart>
      <c:catAx>
        <c:axId val="134185814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1854784"/>
        <c:crosses val="autoZero"/>
        <c:auto val="1"/>
        <c:lblAlgn val="ctr"/>
        <c:lblOffset val="100"/>
        <c:noMultiLvlLbl val="0"/>
      </c:catAx>
      <c:valAx>
        <c:axId val="1341854784"/>
        <c:scaling>
          <c:orientation val="minMax"/>
        </c:scaling>
        <c:delete val="1"/>
        <c:axPos val="l"/>
        <c:numFmt formatCode="0.00" sourceLinked="1"/>
        <c:majorTickMark val="out"/>
        <c:minorTickMark val="none"/>
        <c:tickLblPos val="nextTo"/>
        <c:crossAx val="13418581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[Zomato_Nippa.xlsx]Q-4 I Subjective!PivotTable3</c:name>
    <c:fmtId val="9"/>
  </c:pivotSource>
  <c:chart>
    <c:title>
      <c:tx>
        <c:rich>
          <a:bodyPr rot="0" spcFirstLastPara="1" vertOverflow="ellipsis" vert="horz" wrap="square" anchor="ctr" anchorCtr="0"/>
          <a:lstStyle/>
          <a:p>
            <a:pPr>
              <a:defRPr sz="1400" b="0" i="0" u="none" strike="noStrike" kern="1200" spc="0" baseline="0">
                <a:solidFill>
                  <a:schemeClr val="tx1">
                    <a:lumMod val="65000"/>
                    <a:lumOff val="35000"/>
                  </a:schemeClr>
                </a:solidFill>
                <a:latin typeface="+mn-lt"/>
                <a:ea typeface="+mn-ea"/>
                <a:cs typeface="+mn-cs"/>
              </a:defRPr>
            </a:pPr>
            <a:r>
              <a:rPr lang="en-US"/>
              <a:t>Average</a:t>
            </a:r>
            <a:r>
              <a:rPr lang="en-US" baseline="0"/>
              <a:t> Expenditure in suggested countries</a:t>
            </a:r>
          </a:p>
        </c:rich>
      </c:tx>
      <c:layout>
        <c:manualLayout>
          <c:xMode val="edge"/>
          <c:yMode val="edge"/>
          <c:x val="0.22725754898167611"/>
          <c:y val="2.1551724137931036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'Q-4 I Subjective'!$C$7</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'Q-4 I Subjective'!$B$8:$B$12</c:f>
              <c:strCache>
                <c:ptCount val="5"/>
                <c:pt idx="0">
                  <c:v>Indonesia</c:v>
                </c:pt>
                <c:pt idx="1">
                  <c:v>Philippines</c:v>
                </c:pt>
                <c:pt idx="2">
                  <c:v>Qatar</c:v>
                </c:pt>
                <c:pt idx="3">
                  <c:v>Sri Lanka</c:v>
                </c:pt>
                <c:pt idx="4">
                  <c:v>Turkey</c:v>
                </c:pt>
              </c:strCache>
            </c:strRef>
          </c:cat>
          <c:val>
            <c:numRef>
              <c:f>'Q-4 I Subjective'!$C$8:$C$12</c:f>
              <c:numCache>
                <c:formatCode>0.00</c:formatCode>
                <c:ptCount val="5"/>
                <c:pt idx="0">
                  <c:v>281190.47619047621</c:v>
                </c:pt>
                <c:pt idx="1">
                  <c:v>1606.8181818181818</c:v>
                </c:pt>
                <c:pt idx="2">
                  <c:v>223.75</c:v>
                </c:pt>
                <c:pt idx="3">
                  <c:v>2375</c:v>
                </c:pt>
                <c:pt idx="4">
                  <c:v>84.852941176470594</c:v>
                </c:pt>
              </c:numCache>
            </c:numRef>
          </c:val>
          <c:smooth val="0"/>
          <c:extLst>
            <c:ext xmlns:c16="http://schemas.microsoft.com/office/drawing/2014/chart" uri="{C3380CC4-5D6E-409C-BE32-E72D297353CC}">
              <c16:uniqueId val="{00000000-5F2A-43B5-BCD2-7926891FEFCD}"/>
            </c:ext>
          </c:extLst>
        </c:ser>
        <c:dLbls>
          <c:dLblPos val="t"/>
          <c:showLegendKey val="0"/>
          <c:showVal val="1"/>
          <c:showCatName val="0"/>
          <c:showSerName val="0"/>
          <c:showPercent val="0"/>
          <c:showBubbleSize val="0"/>
        </c:dLbls>
        <c:marker val="1"/>
        <c:smooth val="0"/>
        <c:axId val="840248272"/>
        <c:axId val="840249712"/>
      </c:lineChart>
      <c:catAx>
        <c:axId val="84024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0249712"/>
        <c:crosses val="autoZero"/>
        <c:auto val="1"/>
        <c:lblAlgn val="ctr"/>
        <c:lblOffset val="100"/>
        <c:noMultiLvlLbl val="0"/>
      </c:catAx>
      <c:valAx>
        <c:axId val="840249712"/>
        <c:scaling>
          <c:logBase val="10"/>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8402482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[Zomato_Nippa.xlsx]Q-7 I Subjective!PivotTable1</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Table</a:t>
            </a:r>
            <a:r>
              <a:rPr lang="en-IN" baseline="0"/>
              <a:t> booking &amp; online delivery affects rating</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'Q-7 I Subjective'!$C$7:$C$8</c:f>
              <c:strCache>
                <c:ptCount val="1"/>
                <c:pt idx="0">
                  <c:v>Online_delivery_No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'Q-7 I Subjective'!$B$9:$B$10</c:f>
              <c:strCache>
                <c:ptCount val="2"/>
                <c:pt idx="0">
                  <c:v>Table_booking_No</c:v>
                </c:pt>
                <c:pt idx="1">
                  <c:v>Table_booking_Yes</c:v>
                </c:pt>
              </c:strCache>
            </c:strRef>
          </c:cat>
          <c:val>
            <c:numRef>
              <c:f>'Q-7 I Subjective'!$C$9:$C$10</c:f>
              <c:numCache>
                <c:formatCode>0.00</c:formatCode>
                <c:ptCount val="2"/>
                <c:pt idx="0">
                  <c:v>2.6797867335737813</c:v>
                </c:pt>
                <c:pt idx="1">
                  <c:v>3.411618257261408</c:v>
                </c:pt>
              </c:numCache>
            </c:numRef>
          </c:val>
          <c:extLst>
            <c:ext xmlns:c16="http://schemas.microsoft.com/office/drawing/2014/chart" uri="{C3380CC4-5D6E-409C-BE32-E72D297353CC}">
              <c16:uniqueId val="{00000000-E82B-4587-9709-88DEB8AE70E0}"/>
            </c:ext>
          </c:extLst>
        </c:ser>
        <c:ser>
          <c:idx val="1"/>
          <c:order val="1"/>
          <c:tx>
            <c:strRef>
              <c:f>'Q-7 I Subjective'!$D$7:$D$8</c:f>
              <c:strCache>
                <c:ptCount val="1"/>
                <c:pt idx="0">
                  <c:v>Online_Delivery_Yes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'Q-7 I Subjective'!$B$9:$B$10</c:f>
              <c:strCache>
                <c:ptCount val="2"/>
                <c:pt idx="0">
                  <c:v>Table_booking_No</c:v>
                </c:pt>
                <c:pt idx="1">
                  <c:v>Table_booking_Yes</c:v>
                </c:pt>
              </c:strCache>
            </c:strRef>
          </c:cat>
          <c:val>
            <c:numRef>
              <c:f>'Q-7 I Subjective'!$D$9:$D$10</c:f>
              <c:numCache>
                <c:formatCode>0.00</c:formatCode>
                <c:ptCount val="2"/>
                <c:pt idx="0">
                  <c:v>3.2205853174603187</c:v>
                </c:pt>
                <c:pt idx="1">
                  <c:v>3.6004597701149414</c:v>
                </c:pt>
              </c:numCache>
            </c:numRef>
          </c:val>
          <c:extLst>
            <c:ext xmlns:c16="http://schemas.microsoft.com/office/drawing/2014/chart" uri="{C3380CC4-5D6E-409C-BE32-E72D297353CC}">
              <c16:uniqueId val="{00000001-E82B-4587-9709-88DEB8AE70E0}"/>
            </c:ext>
          </c:extLst>
        </c:ser>
        <c:dLbls>
          <c:dLblPos val="outEnd"/>
          <c:showLegendKey val="0"/>
          <c:showVal val="1"/>
          <c:showCatName val="0"/>
          <c:showSerName val="0"/>
          <c:showPercent val="0"/>
          <c:showBubbleSize val="0"/>
        </c:dLbls>
        <c:gapWidth val="182"/>
        <c:axId val="1560517647"/>
        <c:axId val="1560514767"/>
      </c:barChart>
      <c:catAx>
        <c:axId val="1560517647"/>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0514767"/>
        <c:crosses val="autoZero"/>
        <c:auto val="1"/>
        <c:lblAlgn val="ctr"/>
        <c:lblOffset val="100"/>
        <c:noMultiLvlLbl val="0"/>
      </c:catAx>
      <c:valAx>
        <c:axId val="1560514767"/>
        <c:scaling>
          <c:orientation val="minMax"/>
        </c:scaling>
        <c:delete val="0"/>
        <c:axPos val="b"/>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05176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[FinalZomato_Nippa.xlsx]Q-8 I Subjective!PivotTable2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a:t>
            </a:r>
            <a:r>
              <a:rPr lang="en-US" baseline="0"/>
              <a:t> Cost vs Average of Rating</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'Q-8 I Subjective'!$C$7</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'Q-8 I Subjective'!$B$8:$B$32</c:f>
              <c:strCache>
                <c:ptCount val="24"/>
                <c:pt idx="0">
                  <c:v>0-1000</c:v>
                </c:pt>
                <c:pt idx="1">
                  <c:v>1000-2000</c:v>
                </c:pt>
                <c:pt idx="2">
                  <c:v>2000-3000</c:v>
                </c:pt>
                <c:pt idx="3">
                  <c:v>3000-4000</c:v>
                </c:pt>
                <c:pt idx="4">
                  <c:v>4000-5000</c:v>
                </c:pt>
                <c:pt idx="5">
                  <c:v>5000-6000</c:v>
                </c:pt>
                <c:pt idx="6">
                  <c:v>6000-7000</c:v>
                </c:pt>
                <c:pt idx="7">
                  <c:v>7000-8000</c:v>
                </c:pt>
                <c:pt idx="8">
                  <c:v>8000-9000</c:v>
                </c:pt>
                <c:pt idx="9">
                  <c:v>9000-10000</c:v>
                </c:pt>
                <c:pt idx="10">
                  <c:v>10000-11000</c:v>
                </c:pt>
                <c:pt idx="11">
                  <c:v>11000-12000</c:v>
                </c:pt>
                <c:pt idx="12">
                  <c:v>12000-13000</c:v>
                </c:pt>
                <c:pt idx="13">
                  <c:v>13000-14000</c:v>
                </c:pt>
                <c:pt idx="14">
                  <c:v>14000-15000</c:v>
                </c:pt>
                <c:pt idx="15">
                  <c:v>18000-19000</c:v>
                </c:pt>
                <c:pt idx="16">
                  <c:v>19000-20000</c:v>
                </c:pt>
                <c:pt idx="17">
                  <c:v>20000-21000</c:v>
                </c:pt>
                <c:pt idx="18">
                  <c:v>24000-25000</c:v>
                </c:pt>
                <c:pt idx="19">
                  <c:v>27000-28000</c:v>
                </c:pt>
                <c:pt idx="20">
                  <c:v>28000-29000</c:v>
                </c:pt>
                <c:pt idx="21">
                  <c:v>39000-40000</c:v>
                </c:pt>
                <c:pt idx="22">
                  <c:v>41000-42000</c:v>
                </c:pt>
                <c:pt idx="23">
                  <c:v>45000-46000</c:v>
                </c:pt>
              </c:strCache>
            </c:strRef>
          </c:cat>
          <c:val>
            <c:numRef>
              <c:f>'Q-8 I Subjective'!$C$8:$C$32</c:f>
              <c:numCache>
                <c:formatCode>0.0</c:formatCode>
                <c:ptCount val="24"/>
                <c:pt idx="0">
                  <c:v>2.6471961363026608</c:v>
                </c:pt>
                <c:pt idx="1">
                  <c:v>3.6426756985605429</c:v>
                </c:pt>
                <c:pt idx="2">
                  <c:v>3.7739316239316203</c:v>
                </c:pt>
                <c:pt idx="3">
                  <c:v>3.9609090909090896</c:v>
                </c:pt>
                <c:pt idx="4">
                  <c:v>4.0932432432432453</c:v>
                </c:pt>
                <c:pt idx="5">
                  <c:v>3.9974358974358974</c:v>
                </c:pt>
                <c:pt idx="6">
                  <c:v>4.1129629629629632</c:v>
                </c:pt>
                <c:pt idx="7">
                  <c:v>4.1181818181818182</c:v>
                </c:pt>
                <c:pt idx="8">
                  <c:v>4.3375000000000004</c:v>
                </c:pt>
                <c:pt idx="9">
                  <c:v>4.416666666666667</c:v>
                </c:pt>
                <c:pt idx="10">
                  <c:v>4.2571428571428571</c:v>
                </c:pt>
                <c:pt idx="11">
                  <c:v>4.4666666666666677</c:v>
                </c:pt>
                <c:pt idx="12">
                  <c:v>4.4625000000000004</c:v>
                </c:pt>
                <c:pt idx="13">
                  <c:v>4.2</c:v>
                </c:pt>
                <c:pt idx="14">
                  <c:v>4.6500000000000004</c:v>
                </c:pt>
                <c:pt idx="15">
                  <c:v>4.9000000000000004</c:v>
                </c:pt>
                <c:pt idx="16">
                  <c:v>4.3</c:v>
                </c:pt>
                <c:pt idx="17">
                  <c:v>4.25</c:v>
                </c:pt>
                <c:pt idx="18">
                  <c:v>4</c:v>
                </c:pt>
                <c:pt idx="19">
                  <c:v>3.9</c:v>
                </c:pt>
                <c:pt idx="20">
                  <c:v>4.3</c:v>
                </c:pt>
                <c:pt idx="21">
                  <c:v>3.8</c:v>
                </c:pt>
                <c:pt idx="22">
                  <c:v>4.9000000000000004</c:v>
                </c:pt>
                <c:pt idx="23">
                  <c:v>3.8</c:v>
                </c:pt>
              </c:numCache>
            </c:numRef>
          </c:val>
          <c:smooth val="0"/>
          <c:extLst>
            <c:ext xmlns:c16="http://schemas.microsoft.com/office/drawing/2014/chart" uri="{C3380CC4-5D6E-409C-BE32-E72D297353CC}">
              <c16:uniqueId val="{00000000-1229-49C3-BBE3-3A639E80CC41}"/>
            </c:ext>
          </c:extLst>
        </c:ser>
        <c:dLbls>
          <c:showLegendKey val="0"/>
          <c:showVal val="0"/>
          <c:showCatName val="0"/>
          <c:showSerName val="0"/>
          <c:showPercent val="0"/>
          <c:showBubbleSize val="0"/>
        </c:dLbls>
        <c:marker val="1"/>
        <c:smooth val="0"/>
        <c:axId val="185782623"/>
        <c:axId val="185780223"/>
      </c:lineChart>
      <c:catAx>
        <c:axId val="1857826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Average</a:t>
                </a:r>
                <a:r>
                  <a:rPr lang="en-IN" baseline="0" dirty="0"/>
                  <a:t> Cost</a:t>
                </a:r>
                <a:endParaRPr lang="en-IN"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780223"/>
        <c:crosses val="autoZero"/>
        <c:auto val="1"/>
        <c:lblAlgn val="ctr"/>
        <c:lblOffset val="100"/>
        <c:noMultiLvlLbl val="0"/>
      </c:catAx>
      <c:valAx>
        <c:axId val="1857802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Average</a:t>
                </a:r>
                <a:r>
                  <a:rPr lang="en-IN" baseline="0" dirty="0"/>
                  <a:t> rating</a:t>
                </a:r>
                <a:endParaRPr lang="en-IN"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7826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[Zomato_Nippa.xlsx]Q-9 I Subjective!PivotTable4</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a:t>
            </a:r>
            <a:r>
              <a:rPr lang="en-US" baseline="0"/>
              <a:t> of restaurant under different price range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'Q-9 I Subjective'!$C$7</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'Q-9 I Subjective'!$B$8:$B$12</c:f>
              <c:strCache>
                <c:ptCount val="4"/>
                <c:pt idx="0">
                  <c:v>1</c:v>
                </c:pt>
                <c:pt idx="1">
                  <c:v>2</c:v>
                </c:pt>
                <c:pt idx="2">
                  <c:v>3</c:v>
                </c:pt>
                <c:pt idx="3">
                  <c:v>4</c:v>
                </c:pt>
              </c:strCache>
            </c:strRef>
          </c:cat>
          <c:val>
            <c:numRef>
              <c:f>'Q-9 I Subjective'!$C$8:$C$12</c:f>
              <c:numCache>
                <c:formatCode>General</c:formatCode>
                <c:ptCount val="4"/>
                <c:pt idx="0">
                  <c:v>4444</c:v>
                </c:pt>
                <c:pt idx="1">
                  <c:v>3113</c:v>
                </c:pt>
                <c:pt idx="2">
                  <c:v>1408</c:v>
                </c:pt>
                <c:pt idx="3">
                  <c:v>586</c:v>
                </c:pt>
              </c:numCache>
            </c:numRef>
          </c:val>
          <c:smooth val="0"/>
          <c:extLst>
            <c:ext xmlns:c16="http://schemas.microsoft.com/office/drawing/2014/chart" uri="{C3380CC4-5D6E-409C-BE32-E72D297353CC}">
              <c16:uniqueId val="{00000000-3775-476A-8C32-21A3F54EE1BC}"/>
            </c:ext>
          </c:extLst>
        </c:ser>
        <c:dLbls>
          <c:dLblPos val="t"/>
          <c:showLegendKey val="0"/>
          <c:showVal val="1"/>
          <c:showCatName val="0"/>
          <c:showSerName val="0"/>
          <c:showPercent val="0"/>
          <c:showBubbleSize val="0"/>
        </c:dLbls>
        <c:smooth val="0"/>
        <c:axId val="1560991327"/>
        <c:axId val="1560990847"/>
      </c:lineChart>
      <c:catAx>
        <c:axId val="1560991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0990847"/>
        <c:crosses val="autoZero"/>
        <c:auto val="1"/>
        <c:lblAlgn val="ctr"/>
        <c:lblOffset val="100"/>
        <c:noMultiLvlLbl val="0"/>
      </c:catAx>
      <c:valAx>
        <c:axId val="1560990847"/>
        <c:scaling>
          <c:orientation val="minMax"/>
        </c:scaling>
        <c:delete val="1"/>
        <c:axPos val="l"/>
        <c:numFmt formatCode="General" sourceLinked="1"/>
        <c:majorTickMark val="none"/>
        <c:minorTickMark val="none"/>
        <c:tickLblPos val="nextTo"/>
        <c:crossAx val="15609913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0.6694</cdr:x>
      <cdr:y>0.27868</cdr:y>
    </cdr:from>
    <cdr:to>
      <cdr:x>0.68891</cdr:x>
      <cdr:y>0.32673</cdr:y>
    </cdr:to>
    <cdr:sp macro="" textlink="">
      <cdr:nvSpPr>
        <cdr:cNvPr id="6" name="Star: 5 Points 5">
          <a:extLst xmlns:a="http://schemas.openxmlformats.org/drawingml/2006/main">
            <a:ext uri="{FF2B5EF4-FFF2-40B4-BE49-F238E27FC236}">
              <a16:creationId xmlns:a16="http://schemas.microsoft.com/office/drawing/2014/main" id="{299229B5-93D7-E2C3-6510-27A737863935}"/>
            </a:ext>
          </a:extLst>
        </cdr:cNvPr>
        <cdr:cNvSpPr/>
      </cdr:nvSpPr>
      <cdr:spPr>
        <a:xfrm xmlns:a="http://schemas.openxmlformats.org/drawingml/2006/main">
          <a:off x="7013986" y="1169895"/>
          <a:ext cx="204395" cy="201706"/>
        </a:xfrm>
        <a:prstGeom xmlns:a="http://schemas.openxmlformats.org/drawingml/2006/main" prst="star5">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IN" kern="1200"/>
        </a:p>
      </cdr:txBody>
    </cdr:sp>
  </cdr:relSizeAnchor>
  <cdr:relSizeAnchor xmlns:cdr="http://schemas.openxmlformats.org/drawingml/2006/chartDrawing">
    <cdr:from>
      <cdr:x>0.20403</cdr:x>
      <cdr:y>0.28573</cdr:y>
    </cdr:from>
    <cdr:to>
      <cdr:x>0.22353</cdr:x>
      <cdr:y>0.33378</cdr:y>
    </cdr:to>
    <cdr:sp macro="" textlink="">
      <cdr:nvSpPr>
        <cdr:cNvPr id="7" name="Star: 5 Points 6">
          <a:extLst xmlns:a="http://schemas.openxmlformats.org/drawingml/2006/main">
            <a:ext uri="{FF2B5EF4-FFF2-40B4-BE49-F238E27FC236}">
              <a16:creationId xmlns:a16="http://schemas.microsoft.com/office/drawing/2014/main" id="{FC168624-2EA7-6EF4-582C-F1BFDB2EB109}"/>
            </a:ext>
          </a:extLst>
        </cdr:cNvPr>
        <cdr:cNvSpPr/>
      </cdr:nvSpPr>
      <cdr:spPr>
        <a:xfrm xmlns:a="http://schemas.openxmlformats.org/drawingml/2006/main">
          <a:off x="2137783" y="1199479"/>
          <a:ext cx="204395" cy="201706"/>
        </a:xfrm>
        <a:prstGeom xmlns:a="http://schemas.openxmlformats.org/drawingml/2006/main" prst="star5">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IN" kern="1200"/>
        </a:p>
      </cdr:txBody>
    </cdr:sp>
  </cdr:relSizeAnchor>
  <cdr:relSizeAnchor xmlns:cdr="http://schemas.openxmlformats.org/drawingml/2006/chartDrawing">
    <cdr:from>
      <cdr:x>0.30744</cdr:x>
      <cdr:y>0.07528</cdr:y>
    </cdr:from>
    <cdr:to>
      <cdr:x>0.32694</cdr:x>
      <cdr:y>0.12333</cdr:y>
    </cdr:to>
    <cdr:sp macro="" textlink="">
      <cdr:nvSpPr>
        <cdr:cNvPr id="8" name="Star: 5 Points 7">
          <a:extLst xmlns:a="http://schemas.openxmlformats.org/drawingml/2006/main">
            <a:ext uri="{FF2B5EF4-FFF2-40B4-BE49-F238E27FC236}">
              <a16:creationId xmlns:a16="http://schemas.microsoft.com/office/drawing/2014/main" id="{C7C5ADC8-1A05-664B-3C29-0503E4EAE1EE}"/>
            </a:ext>
          </a:extLst>
        </cdr:cNvPr>
        <cdr:cNvSpPr/>
      </cdr:nvSpPr>
      <cdr:spPr>
        <a:xfrm xmlns:a="http://schemas.openxmlformats.org/drawingml/2006/main">
          <a:off x="3221317" y="316007"/>
          <a:ext cx="204395" cy="201706"/>
        </a:xfrm>
        <a:prstGeom xmlns:a="http://schemas.openxmlformats.org/drawingml/2006/main" prst="star5">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IN" kern="1200"/>
        </a:p>
      </cdr:txBody>
    </cdr:sp>
  </cdr:relSizeAnchor>
  <cdr:relSizeAnchor xmlns:cdr="http://schemas.openxmlformats.org/drawingml/2006/chartDrawing">
    <cdr:from>
      <cdr:x>0.56725</cdr:x>
      <cdr:y>0.3779</cdr:y>
    </cdr:from>
    <cdr:to>
      <cdr:x>0.58676</cdr:x>
      <cdr:y>0.42595</cdr:y>
    </cdr:to>
    <cdr:sp macro="" textlink="">
      <cdr:nvSpPr>
        <cdr:cNvPr id="9" name="Star: 5 Points 8">
          <a:extLst xmlns:a="http://schemas.openxmlformats.org/drawingml/2006/main">
            <a:ext uri="{FF2B5EF4-FFF2-40B4-BE49-F238E27FC236}">
              <a16:creationId xmlns:a16="http://schemas.microsoft.com/office/drawing/2014/main" id="{1F6C2646-FB3F-F832-7CAA-77A69F44CEA7}"/>
            </a:ext>
          </a:extLst>
        </cdr:cNvPr>
        <cdr:cNvSpPr/>
      </cdr:nvSpPr>
      <cdr:spPr>
        <a:xfrm xmlns:a="http://schemas.openxmlformats.org/drawingml/2006/main">
          <a:off x="5943600" y="1586411"/>
          <a:ext cx="204395" cy="201706"/>
        </a:xfrm>
        <a:prstGeom xmlns:a="http://schemas.openxmlformats.org/drawingml/2006/main" prst="star5">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IN" kern="1200"/>
        </a:p>
      </cdr:txBody>
    </cdr:sp>
  </cdr:relSizeAnchor>
  <cdr:relSizeAnchor xmlns:cdr="http://schemas.openxmlformats.org/drawingml/2006/chartDrawing">
    <cdr:from>
      <cdr:x>0.25485</cdr:x>
      <cdr:y>0.42332</cdr:y>
    </cdr:from>
    <cdr:to>
      <cdr:x>0.27436</cdr:x>
      <cdr:y>0.47137</cdr:y>
    </cdr:to>
    <cdr:sp macro="" textlink="">
      <cdr:nvSpPr>
        <cdr:cNvPr id="10" name="Star: 5 Points 9">
          <a:extLst xmlns:a="http://schemas.openxmlformats.org/drawingml/2006/main">
            <a:ext uri="{FF2B5EF4-FFF2-40B4-BE49-F238E27FC236}">
              <a16:creationId xmlns:a16="http://schemas.microsoft.com/office/drawing/2014/main" id="{40ECEC2E-EA63-8FEE-87BD-D317A31E9CBA}"/>
            </a:ext>
          </a:extLst>
        </cdr:cNvPr>
        <cdr:cNvSpPr/>
      </cdr:nvSpPr>
      <cdr:spPr>
        <a:xfrm xmlns:a="http://schemas.openxmlformats.org/drawingml/2006/main">
          <a:off x="2670287" y="1777060"/>
          <a:ext cx="204395" cy="201706"/>
        </a:xfrm>
        <a:prstGeom xmlns:a="http://schemas.openxmlformats.org/drawingml/2006/main" prst="star5">
          <a:avLst/>
        </a:prstGeom>
      </cdr:spPr>
      <cdr:style>
        <a:lnRef xmlns:a="http://schemas.openxmlformats.org/drawingml/2006/main" idx="2">
          <a:schemeClr val="dk1">
            <a:shade val="15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IN"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B8C705-F49D-451B-86F8-76D6B6F6CDDE}" type="datetimeFigureOut">
              <a:rPr lang="en-IN" smtClean="0"/>
              <a:t>16-04-2026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34946E-9D11-4DAD-9181-9D929DBB1B11}" type="slidenum">
              <a:rPr lang="en-IN" smtClean="0"/>
              <a:t>‹#›</a:t>
            </a:fld>
            <a:endParaRPr lang="en-IN"/>
          </a:p>
        </p:txBody>
      </p:sp>
    </p:spTree>
    <p:extLst>
      <p:ext uri="{BB962C8B-B14F-4D97-AF65-F5344CB8AC3E}">
        <p14:creationId xmlns:p14="http://schemas.microsoft.com/office/powerpoint/2010/main" val="3897630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34946E-9D11-4DAD-9181-9D929DBB1B11}" type="slidenum">
              <a:rPr lang="en-IN" smtClean="0"/>
              <a:t>2</a:t>
            </a:fld>
            <a:endParaRPr lang="en-IN"/>
          </a:p>
        </p:txBody>
      </p:sp>
    </p:spTree>
    <p:extLst>
      <p:ext uri="{BB962C8B-B14F-4D97-AF65-F5344CB8AC3E}">
        <p14:creationId xmlns:p14="http://schemas.microsoft.com/office/powerpoint/2010/main" val="217969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34946E-9D11-4DAD-9181-9D929DBB1B11}" type="slidenum">
              <a:rPr lang="en-IN" smtClean="0"/>
              <a:t>24</a:t>
            </a:fld>
            <a:endParaRPr lang="en-IN"/>
          </a:p>
        </p:txBody>
      </p:sp>
    </p:spTree>
    <p:extLst>
      <p:ext uri="{BB962C8B-B14F-4D97-AF65-F5344CB8AC3E}">
        <p14:creationId xmlns:p14="http://schemas.microsoft.com/office/powerpoint/2010/main" val="566941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870CA3-D2BF-4F2F-B3BD-BDF5F06A5192}"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28808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870CA3-D2BF-4F2F-B3BD-BDF5F06A5192}"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144156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870CA3-D2BF-4F2F-B3BD-BDF5F06A5192}"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52029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870CA3-D2BF-4F2F-B3BD-BDF5F06A5192}"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3287865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870CA3-D2BF-4F2F-B3BD-BDF5F06A5192}" type="datetimeFigureOut">
              <a:rPr lang="en-IN" smtClean="0"/>
              <a:t>16-04-2026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39796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870CA3-D2BF-4F2F-B3BD-BDF5F06A5192}" type="datetimeFigureOut">
              <a:rPr lang="en-IN" smtClean="0"/>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797250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870CA3-D2BF-4F2F-B3BD-BDF5F06A5192}" type="datetimeFigureOut">
              <a:rPr lang="en-IN" smtClean="0"/>
              <a:t>16-04-2026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421537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870CA3-D2BF-4F2F-B3BD-BDF5F06A5192}"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1395472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870CA3-D2BF-4F2F-B3BD-BDF5F06A5192}"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97590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870CA3-D2BF-4F2F-B3BD-BDF5F06A5192}"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852606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870CA3-D2BF-4F2F-B3BD-BDF5F06A5192}"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22DB3C-8D02-4FCE-B54A-0AF35586BA63}" type="slidenum">
              <a:rPr lang="en-IN" smtClean="0"/>
              <a:t>‹#›</a:t>
            </a:fld>
            <a:endParaRPr lang="en-IN"/>
          </a:p>
        </p:txBody>
      </p:sp>
    </p:spTree>
    <p:extLst>
      <p:ext uri="{BB962C8B-B14F-4D97-AF65-F5344CB8AC3E}">
        <p14:creationId xmlns:p14="http://schemas.microsoft.com/office/powerpoint/2010/main" val="2367777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70CA3-D2BF-4F2F-B3BD-BDF5F06A5192}" type="datetimeFigureOut">
              <a:rPr lang="en-IN" smtClean="0"/>
              <a:t>16-04-2026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22DB3C-8D02-4FCE-B54A-0AF35586BA63}" type="slidenum">
              <a:rPr lang="en-IN" smtClean="0"/>
              <a:t>‹#›</a:t>
            </a:fld>
            <a:endParaRPr lang="en-IN"/>
          </a:p>
        </p:txBody>
      </p:sp>
    </p:spTree>
    <p:extLst>
      <p:ext uri="{BB962C8B-B14F-4D97-AF65-F5344CB8AC3E}">
        <p14:creationId xmlns:p14="http://schemas.microsoft.com/office/powerpoint/2010/main" val="1152327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FC78F2-7AB9-87F1-7786-69253AD0A9E7}"/>
              </a:ext>
            </a:extLst>
          </p:cNvPr>
          <p:cNvSpPr txBox="1"/>
          <p:nvPr/>
        </p:nvSpPr>
        <p:spPr>
          <a:xfrm>
            <a:off x="2355925" y="1982450"/>
            <a:ext cx="7541110" cy="1446550"/>
          </a:xfrm>
          <a:prstGeom prst="rect">
            <a:avLst/>
          </a:prstGeom>
          <a:solidFill>
            <a:schemeClr val="tx2">
              <a:lumMod val="10000"/>
              <a:lumOff val="90000"/>
            </a:schemeClr>
          </a:solidFill>
        </p:spPr>
        <p:txBody>
          <a:bodyPr wrap="square" rtlCol="0">
            <a:spAutoFit/>
          </a:bodyPr>
          <a:lstStyle/>
          <a:p>
            <a:pPr algn="ctr"/>
            <a:r>
              <a:rPr lang="en-IN" sz="4400" dirty="0">
                <a:latin typeface="Arial Rounded MT Bold" panose="020F0704030504030204" pitchFamily="34" charset="0"/>
              </a:rPr>
              <a:t>Zomato Restaurants Expansion</a:t>
            </a:r>
          </a:p>
        </p:txBody>
      </p:sp>
      <p:sp>
        <p:nvSpPr>
          <p:cNvPr id="3" name="TextBox 2">
            <a:extLst>
              <a:ext uri="{FF2B5EF4-FFF2-40B4-BE49-F238E27FC236}">
                <a16:creationId xmlns:a16="http://schemas.microsoft.com/office/drawing/2014/main" id="{E1C9DD3B-8DD0-EA16-A1E1-C828C796A283}"/>
              </a:ext>
            </a:extLst>
          </p:cNvPr>
          <p:cNvSpPr txBox="1"/>
          <p:nvPr/>
        </p:nvSpPr>
        <p:spPr>
          <a:xfrm>
            <a:off x="8832028" y="5271247"/>
            <a:ext cx="3065929" cy="830997"/>
          </a:xfrm>
          <a:prstGeom prst="rect">
            <a:avLst/>
          </a:prstGeom>
          <a:noFill/>
        </p:spPr>
        <p:txBody>
          <a:bodyPr wrap="square" rtlCol="0">
            <a:spAutoFit/>
          </a:bodyPr>
          <a:lstStyle/>
          <a:p>
            <a:r>
              <a:rPr lang="en-IN" sz="2400" b="1" dirty="0">
                <a:latin typeface="Aptos" panose="020B0004020202020204" pitchFamily="34" charset="0"/>
              </a:rPr>
              <a:t>Submitted by:</a:t>
            </a:r>
          </a:p>
          <a:p>
            <a:r>
              <a:rPr lang="en-IN" sz="2400" b="1" dirty="0">
                <a:latin typeface="Aptos" panose="020B0004020202020204" pitchFamily="34" charset="0"/>
              </a:rPr>
              <a:t>Nippa</a:t>
            </a:r>
          </a:p>
        </p:txBody>
      </p:sp>
    </p:spTree>
    <p:extLst>
      <p:ext uri="{BB962C8B-B14F-4D97-AF65-F5344CB8AC3E}">
        <p14:creationId xmlns:p14="http://schemas.microsoft.com/office/powerpoint/2010/main" val="2611934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2D8F-985F-B8D0-1480-BD56E5C78AE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B3798847-19AE-FBB5-4612-5DB8852AC5EA}"/>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Industry Snapshot – Key Market Highlights</a:t>
            </a:r>
          </a:p>
        </p:txBody>
      </p:sp>
      <p:sp>
        <p:nvSpPr>
          <p:cNvPr id="16" name="TextBox 15">
            <a:extLst>
              <a:ext uri="{FF2B5EF4-FFF2-40B4-BE49-F238E27FC236}">
                <a16:creationId xmlns:a16="http://schemas.microsoft.com/office/drawing/2014/main" id="{21A4AD00-35A7-9D22-3574-7B23F331D96B}"/>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17" name="TextBox 16">
            <a:extLst>
              <a:ext uri="{FF2B5EF4-FFF2-40B4-BE49-F238E27FC236}">
                <a16:creationId xmlns:a16="http://schemas.microsoft.com/office/drawing/2014/main" id="{A1E2B827-211A-C3BF-605E-0963427A17FC}"/>
              </a:ext>
            </a:extLst>
          </p:cNvPr>
          <p:cNvSpPr txBox="1"/>
          <p:nvPr/>
        </p:nvSpPr>
        <p:spPr>
          <a:xfrm>
            <a:off x="789709" y="1496291"/>
            <a:ext cx="10713026" cy="369332"/>
          </a:xfrm>
          <a:prstGeom prst="rect">
            <a:avLst/>
          </a:prstGeom>
          <a:noFill/>
        </p:spPr>
        <p:txBody>
          <a:bodyPr wrap="square" rtlCol="0">
            <a:spAutoFit/>
          </a:bodyPr>
          <a:lstStyle/>
          <a:p>
            <a:r>
              <a:rPr lang="en-IN" b="1" dirty="0"/>
              <a:t>Factor Data / Insight</a:t>
            </a:r>
          </a:p>
        </p:txBody>
      </p:sp>
      <p:graphicFrame>
        <p:nvGraphicFramePr>
          <p:cNvPr id="19" name="Table 18">
            <a:extLst>
              <a:ext uri="{FF2B5EF4-FFF2-40B4-BE49-F238E27FC236}">
                <a16:creationId xmlns:a16="http://schemas.microsoft.com/office/drawing/2014/main" id="{5068108D-8BF9-85AF-1DE0-DED383E4285D}"/>
              </a:ext>
            </a:extLst>
          </p:cNvPr>
          <p:cNvGraphicFramePr>
            <a:graphicFrameLocks noGrp="1"/>
          </p:cNvGraphicFramePr>
          <p:nvPr/>
        </p:nvGraphicFramePr>
        <p:xfrm>
          <a:off x="789708" y="2026228"/>
          <a:ext cx="10713027" cy="4231519"/>
        </p:xfrm>
        <a:graphic>
          <a:graphicData uri="http://schemas.openxmlformats.org/drawingml/2006/table">
            <a:tbl>
              <a:tblPr bandRow="1">
                <a:tableStyleId>{9D7B26C5-4107-4FEC-AEDC-1716B250A1EF}</a:tableStyleId>
              </a:tblPr>
              <a:tblGrid>
                <a:gridCol w="2174382">
                  <a:extLst>
                    <a:ext uri="{9D8B030D-6E8A-4147-A177-3AD203B41FA5}">
                      <a16:colId xmlns:a16="http://schemas.microsoft.com/office/drawing/2014/main" val="1769442378"/>
                    </a:ext>
                  </a:extLst>
                </a:gridCol>
                <a:gridCol w="8538645">
                  <a:extLst>
                    <a:ext uri="{9D8B030D-6E8A-4147-A177-3AD203B41FA5}">
                      <a16:colId xmlns:a16="http://schemas.microsoft.com/office/drawing/2014/main" val="1446894370"/>
                    </a:ext>
                  </a:extLst>
                </a:gridCol>
              </a:tblGrid>
              <a:tr h="578973">
                <a:tc>
                  <a:txBody>
                    <a:bodyPr/>
                    <a:lstStyle/>
                    <a:p>
                      <a:r>
                        <a:rPr lang="en-IN" sz="1800" b="0" i="1" kern="1200" dirty="0">
                          <a:solidFill>
                            <a:schemeClr val="tx1"/>
                          </a:solidFill>
                          <a:effectLst/>
                          <a:latin typeface="+mn-lt"/>
                          <a:ea typeface="+mn-ea"/>
                          <a:cs typeface="+mn-cs"/>
                        </a:rPr>
                        <a:t>Market</a:t>
                      </a:r>
                      <a:r>
                        <a:rPr lang="en-IN" sz="1800" b="1" kern="1200" dirty="0">
                          <a:solidFill>
                            <a:schemeClr val="tx1"/>
                          </a:solidFill>
                          <a:effectLst/>
                          <a:latin typeface="+mn-lt"/>
                          <a:ea typeface="+mn-ea"/>
                          <a:cs typeface="+mn-cs"/>
                        </a:rPr>
                        <a:t> </a:t>
                      </a:r>
                      <a:r>
                        <a:rPr lang="en-IN" sz="1800" b="0" i="1" kern="1200" dirty="0">
                          <a:solidFill>
                            <a:schemeClr val="tx1"/>
                          </a:solidFill>
                          <a:effectLst/>
                          <a:latin typeface="+mn-lt"/>
                          <a:ea typeface="+mn-ea"/>
                          <a:cs typeface="+mn-cs"/>
                        </a:rPr>
                        <a:t>Size</a:t>
                      </a:r>
                      <a:endParaRPr lang="en-IN" b="0" i="1" dirty="0"/>
                    </a:p>
                  </a:txBody>
                  <a:tcPr/>
                </a:tc>
                <a:tc>
                  <a:txBody>
                    <a:bodyPr/>
                    <a:lstStyle/>
                    <a:p>
                      <a:r>
                        <a:rPr lang="en-IN" sz="1800" kern="1200" dirty="0">
                          <a:solidFill>
                            <a:schemeClr val="tx1"/>
                          </a:solidFill>
                          <a:effectLst/>
                          <a:latin typeface="+mn-lt"/>
                          <a:ea typeface="+mn-ea"/>
                          <a:cs typeface="+mn-cs"/>
                        </a:rPr>
                        <a:t>India’s online food delivery market was valued at </a:t>
                      </a:r>
                      <a:r>
                        <a:rPr lang="en-IN" sz="1800" b="1" kern="1200" dirty="0">
                          <a:solidFill>
                            <a:schemeClr val="tx1"/>
                          </a:solidFill>
                          <a:effectLst/>
                          <a:latin typeface="+mn-lt"/>
                          <a:ea typeface="+mn-ea"/>
                          <a:cs typeface="+mn-cs"/>
                        </a:rPr>
                        <a:t>USD 31.7 billion in 2024</a:t>
                      </a:r>
                      <a:r>
                        <a:rPr lang="en-IN" sz="1800" kern="1200" dirty="0">
                          <a:solidFill>
                            <a:schemeClr val="tx1"/>
                          </a:solidFill>
                          <a:effectLst/>
                          <a:latin typeface="+mn-lt"/>
                          <a:ea typeface="+mn-ea"/>
                          <a:cs typeface="+mn-cs"/>
                        </a:rPr>
                        <a:t> and is projected to reach </a:t>
                      </a:r>
                      <a:r>
                        <a:rPr lang="en-IN" sz="1800" b="1" kern="1200" dirty="0">
                          <a:solidFill>
                            <a:schemeClr val="tx1"/>
                          </a:solidFill>
                          <a:effectLst/>
                          <a:latin typeface="+mn-lt"/>
                          <a:ea typeface="+mn-ea"/>
                          <a:cs typeface="+mn-cs"/>
                        </a:rPr>
                        <a:t>USD 140+ billion by 2030</a:t>
                      </a:r>
                      <a:r>
                        <a:rPr lang="en-IN" sz="1800" kern="1200" dirty="0">
                          <a:solidFill>
                            <a:schemeClr val="tx1"/>
                          </a:solidFill>
                          <a:effectLst/>
                          <a:latin typeface="+mn-lt"/>
                          <a:ea typeface="+mn-ea"/>
                          <a:cs typeface="+mn-cs"/>
                        </a:rPr>
                        <a:t>. </a:t>
                      </a:r>
                      <a:endParaRPr lang="en-IN" dirty="0"/>
                    </a:p>
                  </a:txBody>
                  <a:tcPr/>
                </a:tc>
                <a:extLst>
                  <a:ext uri="{0D108BD9-81ED-4DB2-BD59-A6C34878D82A}">
                    <a16:rowId xmlns:a16="http://schemas.microsoft.com/office/drawing/2014/main" val="2345992425"/>
                  </a:ext>
                </a:extLst>
              </a:tr>
              <a:tr h="573862">
                <a:tc>
                  <a:txBody>
                    <a:bodyPr/>
                    <a:lstStyle/>
                    <a:p>
                      <a:r>
                        <a:rPr lang="en-IN" sz="1800" b="0" i="1" kern="1200" dirty="0">
                          <a:solidFill>
                            <a:schemeClr val="tx1"/>
                          </a:solidFill>
                          <a:effectLst/>
                          <a:latin typeface="+mn-lt"/>
                          <a:ea typeface="+mn-ea"/>
                          <a:cs typeface="+mn-cs"/>
                        </a:rPr>
                        <a:t>Market</a:t>
                      </a:r>
                      <a:r>
                        <a:rPr lang="en-IN" sz="1800" kern="1200" dirty="0">
                          <a:solidFill>
                            <a:schemeClr val="tx1"/>
                          </a:solidFill>
                          <a:effectLst/>
                          <a:latin typeface="+mn-lt"/>
                          <a:ea typeface="+mn-ea"/>
                          <a:cs typeface="+mn-cs"/>
                        </a:rPr>
                        <a:t> </a:t>
                      </a:r>
                      <a:r>
                        <a:rPr lang="en-IN" sz="1800" b="0" i="1" kern="1200" dirty="0">
                          <a:solidFill>
                            <a:schemeClr val="tx1"/>
                          </a:solidFill>
                          <a:effectLst/>
                          <a:latin typeface="+mn-lt"/>
                          <a:ea typeface="+mn-ea"/>
                          <a:cs typeface="+mn-cs"/>
                        </a:rPr>
                        <a:t>Growth</a:t>
                      </a:r>
                      <a:endParaRPr lang="en-IN" b="0" i="1" dirty="0"/>
                    </a:p>
                  </a:txBody>
                  <a:tcPr/>
                </a:tc>
                <a:tc>
                  <a:txBody>
                    <a:bodyPr/>
                    <a:lstStyle/>
                    <a:p>
                      <a:pPr algn="l">
                        <a:lnSpc>
                          <a:spcPct val="115000"/>
                        </a:lnSpc>
                        <a:spcAft>
                          <a:spcPts val="800"/>
                        </a:spcAft>
                        <a:buNone/>
                      </a:pPr>
                      <a:r>
                        <a:rPr lang="en-IN" sz="1800" kern="100" dirty="0">
                          <a:effectLst/>
                          <a:latin typeface="+mn-lt"/>
                          <a:ea typeface="Aptos" panose="020B0004020202020204" pitchFamily="34" charset="0"/>
                          <a:cs typeface="Times New Roman" panose="02020603050405020304" pitchFamily="18" charset="0"/>
                        </a:rPr>
                        <a:t> </a:t>
                      </a:r>
                      <a:r>
                        <a:rPr lang="en-IN" sz="1800" kern="1200" dirty="0">
                          <a:solidFill>
                            <a:schemeClr val="tx1"/>
                          </a:solidFill>
                          <a:effectLst/>
                          <a:latin typeface="+mn-lt"/>
                          <a:ea typeface="+mn-ea"/>
                          <a:cs typeface="+mn-cs"/>
                        </a:rPr>
                        <a:t>The industry is expected to grow at </a:t>
                      </a:r>
                      <a:r>
                        <a:rPr lang="en-IN" sz="1800" b="1" kern="1200" dirty="0">
                          <a:solidFill>
                            <a:schemeClr val="tx1"/>
                          </a:solidFill>
                          <a:effectLst/>
                          <a:latin typeface="+mn-lt"/>
                          <a:ea typeface="+mn-ea"/>
                          <a:cs typeface="+mn-cs"/>
                        </a:rPr>
                        <a:t>~28% CAGR</a:t>
                      </a:r>
                      <a:r>
                        <a:rPr lang="en-IN" sz="1800" kern="1200" dirty="0">
                          <a:solidFill>
                            <a:schemeClr val="tx1"/>
                          </a:solidFill>
                          <a:effectLst/>
                          <a:latin typeface="+mn-lt"/>
                          <a:ea typeface="+mn-ea"/>
                          <a:cs typeface="+mn-cs"/>
                        </a:rPr>
                        <a:t>, driven by urbanization and changing consumer lifestyles. </a:t>
                      </a:r>
                      <a:endParaRPr lang="en-IN" sz="18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74004153"/>
                  </a:ext>
                </a:extLst>
              </a:tr>
              <a:tr h="396690">
                <a:tc>
                  <a:txBody>
                    <a:bodyPr/>
                    <a:lstStyle/>
                    <a:p>
                      <a:r>
                        <a:rPr lang="en-IN" sz="1800" i="1" kern="1200" dirty="0">
                          <a:solidFill>
                            <a:schemeClr val="tx1"/>
                          </a:solidFill>
                          <a:effectLst/>
                          <a:latin typeface="+mn-lt"/>
                          <a:ea typeface="+mn-ea"/>
                          <a:cs typeface="+mn-cs"/>
                        </a:rPr>
                        <a:t>User</a:t>
                      </a:r>
                      <a:r>
                        <a:rPr lang="en-IN" sz="1800" kern="1200" dirty="0">
                          <a:solidFill>
                            <a:schemeClr val="tx1"/>
                          </a:solidFill>
                          <a:effectLst/>
                          <a:latin typeface="+mn-lt"/>
                          <a:ea typeface="+mn-ea"/>
                          <a:cs typeface="+mn-cs"/>
                        </a:rPr>
                        <a:t> </a:t>
                      </a:r>
                      <a:r>
                        <a:rPr lang="en-IN" sz="1800" i="1" kern="1200" dirty="0">
                          <a:solidFill>
                            <a:schemeClr val="tx1"/>
                          </a:solidFill>
                          <a:effectLst/>
                          <a:latin typeface="+mn-lt"/>
                          <a:ea typeface="+mn-ea"/>
                          <a:cs typeface="+mn-cs"/>
                        </a:rPr>
                        <a:t>Base</a:t>
                      </a:r>
                      <a:endParaRPr lang="en-IN" i="1" dirty="0"/>
                    </a:p>
                  </a:txBody>
                  <a:tcPr/>
                </a:tc>
                <a:tc>
                  <a:txBody>
                    <a:bodyPr/>
                    <a:lstStyle/>
                    <a:p>
                      <a:r>
                        <a:rPr lang="en-IN" sz="1800" kern="1200" dirty="0">
                          <a:solidFill>
                            <a:schemeClr val="tx1"/>
                          </a:solidFill>
                          <a:effectLst/>
                          <a:latin typeface="+mn-lt"/>
                          <a:ea typeface="+mn-ea"/>
                          <a:cs typeface="+mn-cs"/>
                        </a:rPr>
                        <a:t>The restaurant delivery market is projected to reach </a:t>
                      </a:r>
                      <a:r>
                        <a:rPr lang="en-IN" sz="1800" b="1" kern="1200" dirty="0">
                          <a:solidFill>
                            <a:schemeClr val="tx1"/>
                          </a:solidFill>
                          <a:effectLst/>
                          <a:latin typeface="+mn-lt"/>
                          <a:ea typeface="+mn-ea"/>
                          <a:cs typeface="+mn-cs"/>
                        </a:rPr>
                        <a:t>284+ million users by 2030</a:t>
                      </a:r>
                      <a:r>
                        <a:rPr lang="en-IN" sz="1800" kern="1200" dirty="0">
                          <a:solidFill>
                            <a:schemeClr val="tx1"/>
                          </a:solidFill>
                          <a:effectLst/>
                          <a:latin typeface="+mn-lt"/>
                          <a:ea typeface="+mn-ea"/>
                          <a:cs typeface="+mn-cs"/>
                        </a:rPr>
                        <a:t>. </a:t>
                      </a:r>
                      <a:endParaRPr lang="en-IN" dirty="0"/>
                    </a:p>
                  </a:txBody>
                  <a:tcPr/>
                </a:tc>
                <a:extLst>
                  <a:ext uri="{0D108BD9-81ED-4DB2-BD59-A6C34878D82A}">
                    <a16:rowId xmlns:a16="http://schemas.microsoft.com/office/drawing/2014/main" val="4260155936"/>
                  </a:ext>
                </a:extLst>
              </a:tr>
              <a:tr h="578973">
                <a:tc>
                  <a:txBody>
                    <a:bodyPr/>
                    <a:lstStyle/>
                    <a:p>
                      <a:r>
                        <a:rPr lang="en-IN" dirty="0"/>
                        <a:t>Industry Revenue</a:t>
                      </a:r>
                    </a:p>
                  </a:txBody>
                  <a:tcPr/>
                </a:tc>
                <a:tc>
                  <a:txBody>
                    <a:bodyPr/>
                    <a:lstStyle/>
                    <a:p>
                      <a:r>
                        <a:rPr lang="en-IN" sz="1800" kern="1200" dirty="0">
                          <a:solidFill>
                            <a:schemeClr val="tx1"/>
                          </a:solidFill>
                          <a:effectLst/>
                          <a:latin typeface="+mn-lt"/>
                          <a:ea typeface="+mn-ea"/>
                          <a:cs typeface="+mn-cs"/>
                        </a:rPr>
                        <a:t>India’s food delivery sector generated around </a:t>
                      </a:r>
                      <a:r>
                        <a:rPr lang="en-IN" sz="1800" b="1" kern="1200" dirty="0">
                          <a:solidFill>
                            <a:schemeClr val="tx1"/>
                          </a:solidFill>
                          <a:effectLst/>
                          <a:latin typeface="+mn-lt"/>
                          <a:ea typeface="+mn-ea"/>
                          <a:cs typeface="+mn-cs"/>
                        </a:rPr>
                        <a:t>₹66,000 crore in 2023</a:t>
                      </a:r>
                      <a:r>
                        <a:rPr lang="en-IN" sz="1800" kern="1200" dirty="0">
                          <a:solidFill>
                            <a:schemeClr val="tx1"/>
                          </a:solidFill>
                          <a:effectLst/>
                          <a:latin typeface="+mn-lt"/>
                          <a:ea typeface="+mn-ea"/>
                          <a:cs typeface="+mn-cs"/>
                        </a:rPr>
                        <a:t> and is expected to reach </a:t>
                      </a:r>
                      <a:r>
                        <a:rPr lang="en-IN" sz="1800" b="1" kern="1200" dirty="0">
                          <a:solidFill>
                            <a:schemeClr val="tx1"/>
                          </a:solidFill>
                          <a:effectLst/>
                          <a:latin typeface="+mn-lt"/>
                          <a:ea typeface="+mn-ea"/>
                          <a:cs typeface="+mn-cs"/>
                        </a:rPr>
                        <a:t>₹2.1 lakh crore by 2030</a:t>
                      </a:r>
                      <a:r>
                        <a:rPr lang="en-IN" sz="1800" kern="1200" dirty="0">
                          <a:solidFill>
                            <a:schemeClr val="tx1"/>
                          </a:solidFill>
                          <a:effectLst/>
                          <a:latin typeface="+mn-lt"/>
                          <a:ea typeface="+mn-ea"/>
                          <a:cs typeface="+mn-cs"/>
                        </a:rPr>
                        <a:t>. </a:t>
                      </a:r>
                      <a:endParaRPr lang="en-IN" dirty="0"/>
                    </a:p>
                  </a:txBody>
                  <a:tcPr/>
                </a:tc>
                <a:extLst>
                  <a:ext uri="{0D108BD9-81ED-4DB2-BD59-A6C34878D82A}">
                    <a16:rowId xmlns:a16="http://schemas.microsoft.com/office/drawing/2014/main" val="539576804"/>
                  </a:ext>
                </a:extLst>
              </a:tr>
              <a:tr h="578973">
                <a:tc>
                  <a:txBody>
                    <a:bodyPr/>
                    <a:lstStyle/>
                    <a:p>
                      <a:r>
                        <a:rPr lang="en-IN" dirty="0"/>
                        <a:t>Platform Reach</a:t>
                      </a:r>
                    </a:p>
                  </a:txBody>
                  <a:tcPr/>
                </a:tc>
                <a:tc>
                  <a:txBody>
                    <a:bodyPr/>
                    <a:lstStyle/>
                    <a:p>
                      <a:r>
                        <a:rPr lang="en-IN" sz="1800" kern="1200" dirty="0">
                          <a:solidFill>
                            <a:schemeClr val="tx1"/>
                          </a:solidFill>
                          <a:effectLst/>
                          <a:latin typeface="+mn-lt"/>
                          <a:ea typeface="+mn-ea"/>
                          <a:cs typeface="+mn-cs"/>
                        </a:rPr>
                        <a:t>Major platforms like </a:t>
                      </a:r>
                      <a:r>
                        <a:rPr lang="en-IN" sz="1800" b="1" kern="1200" dirty="0">
                          <a:solidFill>
                            <a:schemeClr val="tx1"/>
                          </a:solidFill>
                          <a:effectLst/>
                          <a:latin typeface="+mn-lt"/>
                          <a:ea typeface="+mn-ea"/>
                          <a:cs typeface="+mn-cs"/>
                        </a:rPr>
                        <a:t>Zomato and Swiggy together serve over 50 million monthly active users</a:t>
                      </a:r>
                      <a:r>
                        <a:rPr lang="en-IN" sz="1800" kern="1200" dirty="0">
                          <a:solidFill>
                            <a:schemeClr val="tx1"/>
                          </a:solidFill>
                          <a:effectLst/>
                          <a:latin typeface="+mn-lt"/>
                          <a:ea typeface="+mn-ea"/>
                          <a:cs typeface="+mn-cs"/>
                        </a:rPr>
                        <a:t>. </a:t>
                      </a:r>
                      <a:endParaRPr lang="en-IN" dirty="0"/>
                    </a:p>
                  </a:txBody>
                  <a:tcPr/>
                </a:tc>
                <a:extLst>
                  <a:ext uri="{0D108BD9-81ED-4DB2-BD59-A6C34878D82A}">
                    <a16:rowId xmlns:a16="http://schemas.microsoft.com/office/drawing/2014/main" val="1481655400"/>
                  </a:ext>
                </a:extLst>
              </a:tr>
              <a:tr h="578973">
                <a:tc>
                  <a:txBody>
                    <a:bodyPr/>
                    <a:lstStyle/>
                    <a:p>
                      <a:r>
                        <a:rPr lang="en-IN" dirty="0"/>
                        <a:t>Market Competition</a:t>
                      </a:r>
                    </a:p>
                  </a:txBody>
                  <a:tcPr/>
                </a:tc>
                <a:tc>
                  <a:txBody>
                    <a:bodyPr/>
                    <a:lstStyle/>
                    <a:p>
                      <a:r>
                        <a:rPr lang="en-IN" sz="1800" kern="1200" dirty="0">
                          <a:solidFill>
                            <a:schemeClr val="tx1"/>
                          </a:solidFill>
                          <a:effectLst/>
                          <a:latin typeface="+mn-lt"/>
                          <a:ea typeface="+mn-ea"/>
                          <a:cs typeface="+mn-cs"/>
                        </a:rPr>
                        <a:t>The market is largely dominated by </a:t>
                      </a:r>
                      <a:r>
                        <a:rPr lang="en-IN" sz="1800" b="1" kern="1200" dirty="0">
                          <a:solidFill>
                            <a:schemeClr val="tx1"/>
                          </a:solidFill>
                          <a:effectLst/>
                          <a:latin typeface="+mn-lt"/>
                          <a:ea typeface="+mn-ea"/>
                          <a:cs typeface="+mn-cs"/>
                        </a:rPr>
                        <a:t>two major players – Zomato and Swiggy</a:t>
                      </a:r>
                      <a:r>
                        <a:rPr lang="en-IN" sz="1800" kern="1200" dirty="0">
                          <a:solidFill>
                            <a:schemeClr val="tx1"/>
                          </a:solidFill>
                          <a:effectLst/>
                          <a:latin typeface="+mn-lt"/>
                          <a:ea typeface="+mn-ea"/>
                          <a:cs typeface="+mn-cs"/>
                        </a:rPr>
                        <a:t>, creating strong competition for restaurant partnerships. </a:t>
                      </a:r>
                      <a:endParaRPr lang="en-IN" dirty="0"/>
                    </a:p>
                  </a:txBody>
                  <a:tcPr/>
                </a:tc>
                <a:extLst>
                  <a:ext uri="{0D108BD9-81ED-4DB2-BD59-A6C34878D82A}">
                    <a16:rowId xmlns:a16="http://schemas.microsoft.com/office/drawing/2014/main" val="3590230652"/>
                  </a:ext>
                </a:extLst>
              </a:tr>
              <a:tr h="578973">
                <a:tc>
                  <a:txBody>
                    <a:bodyPr/>
                    <a:lstStyle/>
                    <a:p>
                      <a:r>
                        <a:rPr lang="en-IN" dirty="0"/>
                        <a:t>Future Demand</a:t>
                      </a:r>
                    </a:p>
                  </a:txBody>
                  <a:tcPr/>
                </a:tc>
                <a:tc>
                  <a:txBody>
                    <a:bodyPr/>
                    <a:lstStyle/>
                    <a:p>
                      <a:r>
                        <a:rPr lang="en-IN" sz="1800" kern="1200" dirty="0">
                          <a:solidFill>
                            <a:schemeClr val="tx1"/>
                          </a:solidFill>
                          <a:effectLst/>
                          <a:latin typeface="+mn-lt"/>
                          <a:ea typeface="+mn-ea"/>
                          <a:cs typeface="+mn-cs"/>
                        </a:rPr>
                        <a:t>Growth is expected to come from </a:t>
                      </a:r>
                      <a:r>
                        <a:rPr lang="en-IN" sz="1800" b="1" kern="1200" dirty="0">
                          <a:solidFill>
                            <a:schemeClr val="tx1"/>
                          </a:solidFill>
                          <a:effectLst/>
                          <a:latin typeface="+mn-lt"/>
                          <a:ea typeface="+mn-ea"/>
                          <a:cs typeface="+mn-cs"/>
                        </a:rPr>
                        <a:t>Tier-2 and Tier-3 cities</a:t>
                      </a:r>
                      <a:r>
                        <a:rPr lang="en-IN" sz="1800" kern="1200" dirty="0">
                          <a:solidFill>
                            <a:schemeClr val="tx1"/>
                          </a:solidFill>
                          <a:effectLst/>
                          <a:latin typeface="+mn-lt"/>
                          <a:ea typeface="+mn-ea"/>
                          <a:cs typeface="+mn-cs"/>
                        </a:rPr>
                        <a:t>, where digital adoption and food delivery demand are increasing rapidly. </a:t>
                      </a:r>
                      <a:endParaRPr lang="en-IN" dirty="0"/>
                    </a:p>
                  </a:txBody>
                  <a:tcPr/>
                </a:tc>
                <a:extLst>
                  <a:ext uri="{0D108BD9-81ED-4DB2-BD59-A6C34878D82A}">
                    <a16:rowId xmlns:a16="http://schemas.microsoft.com/office/drawing/2014/main" val="890920743"/>
                  </a:ext>
                </a:extLst>
              </a:tr>
            </a:tbl>
          </a:graphicData>
        </a:graphic>
      </p:graphicFrame>
      <p:sp>
        <p:nvSpPr>
          <p:cNvPr id="20" name="TextBox 19">
            <a:extLst>
              <a:ext uri="{FF2B5EF4-FFF2-40B4-BE49-F238E27FC236}">
                <a16:creationId xmlns:a16="http://schemas.microsoft.com/office/drawing/2014/main" id="{E56319BA-7075-38AC-AEC2-4C140FB1E455}"/>
              </a:ext>
            </a:extLst>
          </p:cNvPr>
          <p:cNvSpPr txBox="1"/>
          <p:nvPr/>
        </p:nvSpPr>
        <p:spPr>
          <a:xfrm>
            <a:off x="789709" y="6421582"/>
            <a:ext cx="10726882" cy="276999"/>
          </a:xfrm>
          <a:prstGeom prst="rect">
            <a:avLst/>
          </a:prstGeom>
          <a:noFill/>
        </p:spPr>
        <p:txBody>
          <a:bodyPr wrap="square" rtlCol="0">
            <a:spAutoFit/>
          </a:bodyPr>
          <a:lstStyle/>
          <a:p>
            <a:r>
              <a:rPr lang="en-IN" sz="1200" i="1" dirty="0"/>
              <a:t>Source: GlobeNewswire, Statista, The Times of India, </a:t>
            </a:r>
            <a:r>
              <a:rPr lang="en-IN" sz="1200" i="1" dirty="0" err="1"/>
              <a:t>NextLeap</a:t>
            </a:r>
            <a:endParaRPr lang="en-IN" sz="1200" i="1" dirty="0"/>
          </a:p>
        </p:txBody>
      </p:sp>
    </p:spTree>
    <p:extLst>
      <p:ext uri="{BB962C8B-B14F-4D97-AF65-F5344CB8AC3E}">
        <p14:creationId xmlns:p14="http://schemas.microsoft.com/office/powerpoint/2010/main" val="232440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4559B-4242-526D-EA1A-EE34C30CBC1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A13AE485-647C-0054-C7D4-965C4304A64D}"/>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Food Delivery Ecosystem</a:t>
            </a:r>
          </a:p>
        </p:txBody>
      </p:sp>
      <p:sp>
        <p:nvSpPr>
          <p:cNvPr id="16" name="TextBox 15">
            <a:extLst>
              <a:ext uri="{FF2B5EF4-FFF2-40B4-BE49-F238E27FC236}">
                <a16:creationId xmlns:a16="http://schemas.microsoft.com/office/drawing/2014/main" id="{BBDC5B84-DD82-58C2-3D01-D24D0346142D}"/>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pic>
        <p:nvPicPr>
          <p:cNvPr id="2" name="Picture 1">
            <a:extLst>
              <a:ext uri="{FF2B5EF4-FFF2-40B4-BE49-F238E27FC236}">
                <a16:creationId xmlns:a16="http://schemas.microsoft.com/office/drawing/2014/main" id="{DABC1E19-F1A7-6979-B02F-4C6A9B1B440A}"/>
              </a:ext>
            </a:extLst>
          </p:cNvPr>
          <p:cNvPicPr>
            <a:picLocks noChangeAspect="1"/>
          </p:cNvPicPr>
          <p:nvPr/>
        </p:nvPicPr>
        <p:blipFill>
          <a:blip r:embed="rId2"/>
          <a:stretch>
            <a:fillRect/>
          </a:stretch>
        </p:blipFill>
        <p:spPr>
          <a:xfrm>
            <a:off x="759491" y="1699370"/>
            <a:ext cx="5336509" cy="4732962"/>
          </a:xfrm>
          <a:prstGeom prst="rect">
            <a:avLst/>
          </a:prstGeom>
        </p:spPr>
      </p:pic>
      <p:sp>
        <p:nvSpPr>
          <p:cNvPr id="3" name="TextBox 2">
            <a:extLst>
              <a:ext uri="{FF2B5EF4-FFF2-40B4-BE49-F238E27FC236}">
                <a16:creationId xmlns:a16="http://schemas.microsoft.com/office/drawing/2014/main" id="{F85870A3-686D-E585-3624-3C98AE9644FD}"/>
              </a:ext>
            </a:extLst>
          </p:cNvPr>
          <p:cNvSpPr txBox="1"/>
          <p:nvPr/>
        </p:nvSpPr>
        <p:spPr>
          <a:xfrm>
            <a:off x="6670964" y="1620982"/>
            <a:ext cx="4761545" cy="3508653"/>
          </a:xfrm>
          <a:prstGeom prst="rect">
            <a:avLst/>
          </a:prstGeom>
          <a:noFill/>
        </p:spPr>
        <p:txBody>
          <a:bodyPr wrap="square" rtlCol="0">
            <a:spAutoFit/>
          </a:bodyPr>
          <a:lstStyle/>
          <a:p>
            <a:r>
              <a:rPr lang="en-IN" b="1" u="sng" dirty="0"/>
              <a:t>Why this Industry Analysis Matters?</a:t>
            </a:r>
          </a:p>
          <a:p>
            <a:endParaRPr lang="en-IN" sz="2400" dirty="0"/>
          </a:p>
          <a:p>
            <a:pPr marL="342900" indent="-342900">
              <a:buFont typeface="Arial" panose="020B0604020202020204" pitchFamily="34" charset="0"/>
              <a:buChar char="•"/>
            </a:pPr>
            <a:r>
              <a:rPr lang="en-IN" dirty="0"/>
              <a:t>Supports </a:t>
            </a:r>
            <a:r>
              <a:rPr lang="en-IN" b="1" dirty="0"/>
              <a:t>data-driven restaurant expansion strategies</a:t>
            </a:r>
          </a:p>
          <a:p>
            <a:pPr marL="342900" indent="-342900">
              <a:buFont typeface="Arial" panose="020B0604020202020204" pitchFamily="34" charset="0"/>
              <a:buChar char="•"/>
            </a:pPr>
            <a:endParaRPr lang="en-IN" sz="2400" b="1" dirty="0"/>
          </a:p>
          <a:p>
            <a:pPr marL="342900" indent="-342900">
              <a:buFont typeface="Arial" panose="020B0604020202020204" pitchFamily="34" charset="0"/>
              <a:buChar char="•"/>
            </a:pPr>
            <a:r>
              <a:rPr lang="en-IN" dirty="0"/>
              <a:t>Helps identify </a:t>
            </a:r>
            <a:r>
              <a:rPr lang="en-IN" b="1" dirty="0"/>
              <a:t>high-demand cuisines and dining trends</a:t>
            </a:r>
          </a:p>
          <a:p>
            <a:pPr marL="342900" indent="-342900">
              <a:buFont typeface="Arial" panose="020B0604020202020204" pitchFamily="34" charset="0"/>
              <a:buChar char="•"/>
            </a:pPr>
            <a:endParaRPr lang="en-IN" sz="2400" b="1" dirty="0"/>
          </a:p>
          <a:p>
            <a:pPr marL="342900" indent="-342900">
              <a:buFont typeface="Arial" panose="020B0604020202020204" pitchFamily="34" charset="0"/>
              <a:buChar char="•"/>
            </a:pPr>
            <a:r>
              <a:rPr lang="en-IN" dirty="0"/>
              <a:t>Enables platforms to improve </a:t>
            </a:r>
            <a:r>
              <a:rPr lang="en-IN" b="1" dirty="0"/>
              <a:t>customer experience and service availability</a:t>
            </a:r>
            <a:endParaRPr lang="en-IN" dirty="0"/>
          </a:p>
          <a:p>
            <a:endParaRPr lang="en-IN" sz="2400" dirty="0"/>
          </a:p>
        </p:txBody>
      </p:sp>
    </p:spTree>
    <p:extLst>
      <p:ext uri="{BB962C8B-B14F-4D97-AF65-F5344CB8AC3E}">
        <p14:creationId xmlns:p14="http://schemas.microsoft.com/office/powerpoint/2010/main" val="241523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DDE2-AC49-67F8-E3FE-1E528F705800}"/>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6CF22C21-82F3-6E81-F452-9C7897BAB7AA}"/>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Market Opportunity</a:t>
            </a:r>
          </a:p>
        </p:txBody>
      </p:sp>
      <p:sp>
        <p:nvSpPr>
          <p:cNvPr id="16" name="TextBox 15">
            <a:extLst>
              <a:ext uri="{FF2B5EF4-FFF2-40B4-BE49-F238E27FC236}">
                <a16:creationId xmlns:a16="http://schemas.microsoft.com/office/drawing/2014/main" id="{21ACE5D3-552B-D3CD-4B87-D563D11F10A0}"/>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17" name="TextBox 16">
            <a:extLst>
              <a:ext uri="{FF2B5EF4-FFF2-40B4-BE49-F238E27FC236}">
                <a16:creationId xmlns:a16="http://schemas.microsoft.com/office/drawing/2014/main" id="{0A0D0B34-D38C-FE43-5CC8-9F5BA45298BE}"/>
              </a:ext>
            </a:extLst>
          </p:cNvPr>
          <p:cNvSpPr txBox="1"/>
          <p:nvPr/>
        </p:nvSpPr>
        <p:spPr>
          <a:xfrm>
            <a:off x="789709" y="1496291"/>
            <a:ext cx="10713026" cy="369332"/>
          </a:xfrm>
          <a:prstGeom prst="rect">
            <a:avLst/>
          </a:prstGeom>
          <a:noFill/>
        </p:spPr>
        <p:txBody>
          <a:bodyPr wrap="square" rtlCol="0">
            <a:spAutoFit/>
          </a:bodyPr>
          <a:lstStyle/>
          <a:p>
            <a:r>
              <a:rPr lang="en-IN" b="1" dirty="0"/>
              <a:t>Emerging Opportunities in the Food Delivery Market</a:t>
            </a:r>
            <a:endParaRPr lang="en-IN" dirty="0"/>
          </a:p>
        </p:txBody>
      </p:sp>
      <p:sp>
        <p:nvSpPr>
          <p:cNvPr id="20" name="TextBox 19">
            <a:extLst>
              <a:ext uri="{FF2B5EF4-FFF2-40B4-BE49-F238E27FC236}">
                <a16:creationId xmlns:a16="http://schemas.microsoft.com/office/drawing/2014/main" id="{68FE9DC5-7062-E58B-D989-7D16E0F02659}"/>
              </a:ext>
            </a:extLst>
          </p:cNvPr>
          <p:cNvSpPr txBox="1"/>
          <p:nvPr/>
        </p:nvSpPr>
        <p:spPr>
          <a:xfrm>
            <a:off x="789709" y="6421582"/>
            <a:ext cx="10726882" cy="276999"/>
          </a:xfrm>
          <a:prstGeom prst="rect">
            <a:avLst/>
          </a:prstGeom>
          <a:noFill/>
        </p:spPr>
        <p:txBody>
          <a:bodyPr wrap="square" rtlCol="0">
            <a:spAutoFit/>
          </a:bodyPr>
          <a:lstStyle/>
          <a:p>
            <a:r>
              <a:rPr lang="en-IN" sz="1200" i="1" dirty="0"/>
              <a:t>Source: GlobeNewswire, Statista, The Times of India, </a:t>
            </a:r>
            <a:r>
              <a:rPr lang="en-IN" sz="1200" i="1" dirty="0" err="1"/>
              <a:t>NextLeap</a:t>
            </a:r>
            <a:endParaRPr lang="en-IN" sz="1200" i="1" dirty="0"/>
          </a:p>
        </p:txBody>
      </p:sp>
      <p:sp>
        <p:nvSpPr>
          <p:cNvPr id="3" name="Rectangle: Rounded Corners 2">
            <a:extLst>
              <a:ext uri="{FF2B5EF4-FFF2-40B4-BE49-F238E27FC236}">
                <a16:creationId xmlns:a16="http://schemas.microsoft.com/office/drawing/2014/main" id="{4C28D6E7-4A0A-254F-3BC0-8E27798EA5D4}"/>
              </a:ext>
            </a:extLst>
          </p:cNvPr>
          <p:cNvSpPr/>
          <p:nvPr/>
        </p:nvSpPr>
        <p:spPr>
          <a:xfrm>
            <a:off x="789709" y="2022438"/>
            <a:ext cx="4905487" cy="731520"/>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Tier-2 &amp; Tier-3 Expansion</a:t>
            </a:r>
          </a:p>
          <a:p>
            <a:pPr algn="ctr"/>
            <a:r>
              <a:rPr lang="en-US" dirty="0">
                <a:solidFill>
                  <a:schemeClr val="tx1"/>
                </a:solidFill>
              </a:rPr>
              <a:t>Demand rising due to digital penetration</a:t>
            </a:r>
            <a:endParaRPr lang="en-IN" dirty="0">
              <a:solidFill>
                <a:schemeClr val="tx1"/>
              </a:solidFill>
            </a:endParaRPr>
          </a:p>
        </p:txBody>
      </p:sp>
      <p:sp>
        <p:nvSpPr>
          <p:cNvPr id="4" name="Rectangle: Rounded Corners 3">
            <a:extLst>
              <a:ext uri="{FF2B5EF4-FFF2-40B4-BE49-F238E27FC236}">
                <a16:creationId xmlns:a16="http://schemas.microsoft.com/office/drawing/2014/main" id="{BF0DBCB3-9677-6036-5405-A23824E1FDD8}"/>
              </a:ext>
            </a:extLst>
          </p:cNvPr>
          <p:cNvSpPr/>
          <p:nvPr/>
        </p:nvSpPr>
        <p:spPr>
          <a:xfrm>
            <a:off x="6417751" y="2022438"/>
            <a:ext cx="4905487" cy="731520"/>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Digital Adoption</a:t>
            </a:r>
          </a:p>
          <a:p>
            <a:pPr algn="ctr"/>
            <a:r>
              <a:rPr lang="en-IN" dirty="0">
                <a:solidFill>
                  <a:schemeClr val="tx1"/>
                </a:solidFill>
              </a:rPr>
              <a:t>850+ million users driving online ordering</a:t>
            </a:r>
          </a:p>
        </p:txBody>
      </p:sp>
      <p:sp>
        <p:nvSpPr>
          <p:cNvPr id="5" name="Rectangle: Rounded Corners 4">
            <a:extLst>
              <a:ext uri="{FF2B5EF4-FFF2-40B4-BE49-F238E27FC236}">
                <a16:creationId xmlns:a16="http://schemas.microsoft.com/office/drawing/2014/main" id="{DBAA6B1B-40FE-7B30-589B-75705EF4EEDE}"/>
              </a:ext>
            </a:extLst>
          </p:cNvPr>
          <p:cNvSpPr/>
          <p:nvPr/>
        </p:nvSpPr>
        <p:spPr>
          <a:xfrm>
            <a:off x="789708" y="3090293"/>
            <a:ext cx="4905487" cy="73069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Urbanization Growth</a:t>
            </a:r>
          </a:p>
          <a:p>
            <a:pPr algn="ctr"/>
            <a:r>
              <a:rPr lang="en-US" dirty="0">
                <a:solidFill>
                  <a:schemeClr val="tx1"/>
                </a:solidFill>
              </a:rPr>
              <a:t>600M urban population by 2031</a:t>
            </a:r>
            <a:endParaRPr lang="en-IN" dirty="0">
              <a:solidFill>
                <a:schemeClr val="tx1"/>
              </a:solidFill>
            </a:endParaRPr>
          </a:p>
        </p:txBody>
      </p:sp>
      <p:sp>
        <p:nvSpPr>
          <p:cNvPr id="6" name="Rectangle: Rounded Corners 5">
            <a:extLst>
              <a:ext uri="{FF2B5EF4-FFF2-40B4-BE49-F238E27FC236}">
                <a16:creationId xmlns:a16="http://schemas.microsoft.com/office/drawing/2014/main" id="{799A6F47-F6D9-F9F9-0CF1-A7C02573E9CE}"/>
              </a:ext>
            </a:extLst>
          </p:cNvPr>
          <p:cNvSpPr/>
          <p:nvPr/>
        </p:nvSpPr>
        <p:spPr>
          <a:xfrm>
            <a:off x="6496806" y="3091478"/>
            <a:ext cx="4905487" cy="73069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Lifestyle Shift</a:t>
            </a:r>
          </a:p>
          <a:p>
            <a:pPr algn="ctr"/>
            <a:r>
              <a:rPr lang="en-IN" dirty="0">
                <a:solidFill>
                  <a:schemeClr val="tx1"/>
                </a:solidFill>
              </a:rPr>
              <a:t>Convenience-driven consumption increasing</a:t>
            </a:r>
          </a:p>
        </p:txBody>
      </p:sp>
      <p:sp>
        <p:nvSpPr>
          <p:cNvPr id="7" name="Rectangle: Rounded Corners 6">
            <a:extLst>
              <a:ext uri="{FF2B5EF4-FFF2-40B4-BE49-F238E27FC236}">
                <a16:creationId xmlns:a16="http://schemas.microsoft.com/office/drawing/2014/main" id="{A4A7FFCF-1428-51EB-5BE2-F83643006A5B}"/>
              </a:ext>
            </a:extLst>
          </p:cNvPr>
          <p:cNvSpPr/>
          <p:nvPr/>
        </p:nvSpPr>
        <p:spPr>
          <a:xfrm>
            <a:off x="3878946" y="4104043"/>
            <a:ext cx="4905487" cy="73069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Cloud Kitchens Boom</a:t>
            </a:r>
          </a:p>
          <a:p>
            <a:pPr algn="ctr"/>
            <a:r>
              <a:rPr lang="en-IN" dirty="0">
                <a:solidFill>
                  <a:schemeClr val="tx1"/>
                </a:solidFill>
              </a:rPr>
              <a:t>17–20% CAGR growth</a:t>
            </a:r>
          </a:p>
        </p:txBody>
      </p:sp>
      <p:sp>
        <p:nvSpPr>
          <p:cNvPr id="8" name="TextBox 7">
            <a:extLst>
              <a:ext uri="{FF2B5EF4-FFF2-40B4-BE49-F238E27FC236}">
                <a16:creationId xmlns:a16="http://schemas.microsoft.com/office/drawing/2014/main" id="{E581C29A-4338-E90F-C9C6-99433A016285}"/>
              </a:ext>
            </a:extLst>
          </p:cNvPr>
          <p:cNvSpPr txBox="1"/>
          <p:nvPr/>
        </p:nvSpPr>
        <p:spPr>
          <a:xfrm>
            <a:off x="914400" y="5353370"/>
            <a:ext cx="10408838" cy="646331"/>
          </a:xfrm>
          <a:prstGeom prst="rect">
            <a:avLst/>
          </a:prstGeom>
          <a:noFill/>
        </p:spPr>
        <p:txBody>
          <a:bodyPr wrap="square" rtlCol="0">
            <a:spAutoFit/>
          </a:bodyPr>
          <a:lstStyle/>
          <a:p>
            <a:pPr algn="just"/>
            <a:r>
              <a:rPr lang="en-US" dirty="0"/>
              <a:t>These trends highlight strong structural tailwinds, making the food delivery market a high-growth opportunity.</a:t>
            </a:r>
            <a:endParaRPr lang="en-IN" dirty="0"/>
          </a:p>
        </p:txBody>
      </p:sp>
    </p:spTree>
    <p:extLst>
      <p:ext uri="{BB962C8B-B14F-4D97-AF65-F5344CB8AC3E}">
        <p14:creationId xmlns:p14="http://schemas.microsoft.com/office/powerpoint/2010/main" val="3450471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7712F-2772-8B7C-DC4E-46EA26BFEE6D}"/>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BCE83B4-4EF2-2C96-4703-8FC5F38D729F}"/>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Market Opportunity Framework – Scope for Zomato</a:t>
            </a:r>
          </a:p>
        </p:txBody>
      </p:sp>
      <p:sp>
        <p:nvSpPr>
          <p:cNvPr id="16" name="TextBox 15">
            <a:extLst>
              <a:ext uri="{FF2B5EF4-FFF2-40B4-BE49-F238E27FC236}">
                <a16:creationId xmlns:a16="http://schemas.microsoft.com/office/drawing/2014/main" id="{0CC81D75-657D-7813-9C4C-FB500F2F2A65}"/>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2" name="Rectangle: Rounded Corners 1">
            <a:extLst>
              <a:ext uri="{FF2B5EF4-FFF2-40B4-BE49-F238E27FC236}">
                <a16:creationId xmlns:a16="http://schemas.microsoft.com/office/drawing/2014/main" id="{41E40B1F-85CF-4276-D367-D8ACD1D218A2}"/>
              </a:ext>
            </a:extLst>
          </p:cNvPr>
          <p:cNvSpPr/>
          <p:nvPr/>
        </p:nvSpPr>
        <p:spPr>
          <a:xfrm>
            <a:off x="4166755" y="1335687"/>
            <a:ext cx="3470563" cy="60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Increasing Urban Population</a:t>
            </a:r>
          </a:p>
        </p:txBody>
      </p:sp>
      <p:sp>
        <p:nvSpPr>
          <p:cNvPr id="3" name="Rectangle: Rounded Corners 2">
            <a:extLst>
              <a:ext uri="{FF2B5EF4-FFF2-40B4-BE49-F238E27FC236}">
                <a16:creationId xmlns:a16="http://schemas.microsoft.com/office/drawing/2014/main" id="{887604A2-566E-B801-60CD-A9B2D2B09ADC}"/>
              </a:ext>
            </a:extLst>
          </p:cNvPr>
          <p:cNvSpPr/>
          <p:nvPr/>
        </p:nvSpPr>
        <p:spPr>
          <a:xfrm>
            <a:off x="4166755" y="2215763"/>
            <a:ext cx="3470563" cy="60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Higher Smartphone &amp; Internet Usage</a:t>
            </a:r>
          </a:p>
        </p:txBody>
      </p:sp>
      <p:sp>
        <p:nvSpPr>
          <p:cNvPr id="4" name="Rectangle: Rounded Corners 3">
            <a:extLst>
              <a:ext uri="{FF2B5EF4-FFF2-40B4-BE49-F238E27FC236}">
                <a16:creationId xmlns:a16="http://schemas.microsoft.com/office/drawing/2014/main" id="{79DDB564-6F75-D6AC-0B25-A1869029536C}"/>
              </a:ext>
            </a:extLst>
          </p:cNvPr>
          <p:cNvSpPr/>
          <p:nvPr/>
        </p:nvSpPr>
        <p:spPr>
          <a:xfrm>
            <a:off x="4166755" y="3095839"/>
            <a:ext cx="3470563" cy="60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Growing Adoption of Online Food Delivery</a:t>
            </a:r>
          </a:p>
        </p:txBody>
      </p:sp>
      <p:sp>
        <p:nvSpPr>
          <p:cNvPr id="5" name="Rectangle: Rounded Corners 4">
            <a:extLst>
              <a:ext uri="{FF2B5EF4-FFF2-40B4-BE49-F238E27FC236}">
                <a16:creationId xmlns:a16="http://schemas.microsoft.com/office/drawing/2014/main" id="{DD30E5BC-EED4-DBA7-C1E9-FA003C2F78A4}"/>
              </a:ext>
            </a:extLst>
          </p:cNvPr>
          <p:cNvSpPr/>
          <p:nvPr/>
        </p:nvSpPr>
        <p:spPr>
          <a:xfrm>
            <a:off x="4166755" y="4847208"/>
            <a:ext cx="3470563" cy="60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Opportunity for Strategic Market Expansion </a:t>
            </a:r>
          </a:p>
        </p:txBody>
      </p:sp>
      <p:sp>
        <p:nvSpPr>
          <p:cNvPr id="6" name="Rectangle: Rounded Corners 5">
            <a:extLst>
              <a:ext uri="{FF2B5EF4-FFF2-40B4-BE49-F238E27FC236}">
                <a16:creationId xmlns:a16="http://schemas.microsoft.com/office/drawing/2014/main" id="{4F3329BA-4182-57A4-D285-637A505BFF8A}"/>
              </a:ext>
            </a:extLst>
          </p:cNvPr>
          <p:cNvSpPr/>
          <p:nvPr/>
        </p:nvSpPr>
        <p:spPr>
          <a:xfrm>
            <a:off x="4166755" y="3975915"/>
            <a:ext cx="3470563" cy="60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t>Demand for More Restaurant Options</a:t>
            </a:r>
          </a:p>
        </p:txBody>
      </p:sp>
      <p:sp>
        <p:nvSpPr>
          <p:cNvPr id="7" name="Arrow: Curved Right 6">
            <a:extLst>
              <a:ext uri="{FF2B5EF4-FFF2-40B4-BE49-F238E27FC236}">
                <a16:creationId xmlns:a16="http://schemas.microsoft.com/office/drawing/2014/main" id="{39EFC245-F29E-DA5A-DF08-5D49E8F777A1}"/>
              </a:ext>
            </a:extLst>
          </p:cNvPr>
          <p:cNvSpPr/>
          <p:nvPr/>
        </p:nvSpPr>
        <p:spPr>
          <a:xfrm>
            <a:off x="5763490" y="1955788"/>
            <a:ext cx="193964" cy="2713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Right 7">
            <a:extLst>
              <a:ext uri="{FF2B5EF4-FFF2-40B4-BE49-F238E27FC236}">
                <a16:creationId xmlns:a16="http://schemas.microsoft.com/office/drawing/2014/main" id="{3208A25B-CB1B-C03C-1BF8-9D83A9046E83}"/>
              </a:ext>
            </a:extLst>
          </p:cNvPr>
          <p:cNvSpPr/>
          <p:nvPr/>
        </p:nvSpPr>
        <p:spPr>
          <a:xfrm>
            <a:off x="5776389" y="2843687"/>
            <a:ext cx="193964" cy="2713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Right 8">
            <a:extLst>
              <a:ext uri="{FF2B5EF4-FFF2-40B4-BE49-F238E27FC236}">
                <a16:creationId xmlns:a16="http://schemas.microsoft.com/office/drawing/2014/main" id="{F65D8DFD-D869-D1A9-B2C6-7DB7E5FF6768}"/>
              </a:ext>
            </a:extLst>
          </p:cNvPr>
          <p:cNvSpPr/>
          <p:nvPr/>
        </p:nvSpPr>
        <p:spPr>
          <a:xfrm>
            <a:off x="5776389" y="3695783"/>
            <a:ext cx="193964" cy="2713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Right 9">
            <a:extLst>
              <a:ext uri="{FF2B5EF4-FFF2-40B4-BE49-F238E27FC236}">
                <a16:creationId xmlns:a16="http://schemas.microsoft.com/office/drawing/2014/main" id="{A1D9F3B2-A584-4D75-E414-F60842292557}"/>
              </a:ext>
            </a:extLst>
          </p:cNvPr>
          <p:cNvSpPr/>
          <p:nvPr/>
        </p:nvSpPr>
        <p:spPr>
          <a:xfrm>
            <a:off x="5821296" y="4575859"/>
            <a:ext cx="193964" cy="2713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TextBox 10">
            <a:extLst>
              <a:ext uri="{FF2B5EF4-FFF2-40B4-BE49-F238E27FC236}">
                <a16:creationId xmlns:a16="http://schemas.microsoft.com/office/drawing/2014/main" id="{78827D4B-D5C3-71E6-E9A8-37745F757F05}"/>
              </a:ext>
            </a:extLst>
          </p:cNvPr>
          <p:cNvSpPr txBox="1"/>
          <p:nvPr/>
        </p:nvSpPr>
        <p:spPr>
          <a:xfrm>
            <a:off x="893618" y="5683827"/>
            <a:ext cx="10726882" cy="923330"/>
          </a:xfrm>
          <a:prstGeom prst="rect">
            <a:avLst/>
          </a:prstGeom>
          <a:noFill/>
        </p:spPr>
        <p:txBody>
          <a:bodyPr wrap="square" rtlCol="0">
            <a:spAutoFit/>
          </a:bodyPr>
          <a:lstStyle/>
          <a:p>
            <a:r>
              <a:rPr lang="en-IN" dirty="0"/>
              <a:t>The rapid growth of the food delivery market and increasing digital adoption creates a strong opportunity for Zomato to expand its restaurant network strategically. </a:t>
            </a:r>
          </a:p>
          <a:p>
            <a:endParaRPr lang="en-IN" dirty="0"/>
          </a:p>
        </p:txBody>
      </p:sp>
    </p:spTree>
    <p:extLst>
      <p:ext uri="{BB962C8B-B14F-4D97-AF65-F5344CB8AC3E}">
        <p14:creationId xmlns:p14="http://schemas.microsoft.com/office/powerpoint/2010/main" val="1081669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7FEB-B76E-AAE6-6887-DC0D97E77167}"/>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8F3657C-091D-BBAE-D1B4-F7412CA5BAD0}"/>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Problem Statement</a:t>
            </a:r>
          </a:p>
        </p:txBody>
      </p:sp>
      <p:sp>
        <p:nvSpPr>
          <p:cNvPr id="16" name="TextBox 15">
            <a:extLst>
              <a:ext uri="{FF2B5EF4-FFF2-40B4-BE49-F238E27FC236}">
                <a16:creationId xmlns:a16="http://schemas.microsoft.com/office/drawing/2014/main" id="{F203E0F4-DCBD-F7DF-8A43-3DF13CAFD1C7}"/>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2" name="TextBox 1">
            <a:extLst>
              <a:ext uri="{FF2B5EF4-FFF2-40B4-BE49-F238E27FC236}">
                <a16:creationId xmlns:a16="http://schemas.microsoft.com/office/drawing/2014/main" id="{5AA751A4-CD5B-7C5D-7C4F-5B7A1C8E7BD3}"/>
              </a:ext>
            </a:extLst>
          </p:cNvPr>
          <p:cNvSpPr txBox="1"/>
          <p:nvPr/>
        </p:nvSpPr>
        <p:spPr>
          <a:xfrm>
            <a:off x="789709" y="2566981"/>
            <a:ext cx="10338955" cy="3970318"/>
          </a:xfrm>
          <a:prstGeom prst="rect">
            <a:avLst/>
          </a:prstGeom>
          <a:noFill/>
        </p:spPr>
        <p:txBody>
          <a:bodyPr wrap="square" rtlCol="0">
            <a:spAutoFit/>
          </a:bodyPr>
          <a:lstStyle/>
          <a:p>
            <a:r>
              <a:rPr lang="en-IN" b="1" u="sng" dirty="0"/>
              <a:t>Key Business Question</a:t>
            </a:r>
          </a:p>
          <a:p>
            <a:endParaRPr lang="en-IN" b="1" u="sng" dirty="0"/>
          </a:p>
          <a:p>
            <a:pPr algn="just"/>
            <a:r>
              <a:rPr lang="en-US" dirty="0"/>
              <a:t>Which markets should Zomato prioritize for expansion, based on demand potential, competitive intensity, customer engagement, and pricing dynamics?</a:t>
            </a:r>
          </a:p>
          <a:p>
            <a:pPr algn="just"/>
            <a:endParaRPr lang="en-US" dirty="0"/>
          </a:p>
          <a:p>
            <a:pPr algn="just"/>
            <a:r>
              <a:rPr lang="en-US" b="1" u="sng" dirty="0"/>
              <a:t>Approach</a:t>
            </a:r>
          </a:p>
          <a:p>
            <a:pPr algn="just"/>
            <a:endParaRPr lang="en-US" dirty="0"/>
          </a:p>
          <a:p>
            <a:pPr algn="just"/>
            <a:r>
              <a:rPr lang="en-US" dirty="0"/>
              <a:t>Leverage data-driven insights across restaurant distribution, ratings, pricing, and customer behavior to inform expansion strategy.</a:t>
            </a:r>
          </a:p>
          <a:p>
            <a:pPr algn="just"/>
            <a:endParaRPr lang="en-US" dirty="0"/>
          </a:p>
          <a:p>
            <a:pPr algn="just"/>
            <a:endParaRPr lang="en-US" dirty="0"/>
          </a:p>
          <a:p>
            <a:pPr algn="just"/>
            <a:endParaRPr lang="en-US" dirty="0"/>
          </a:p>
          <a:p>
            <a:pPr algn="just"/>
            <a:endParaRPr lang="en-IN" dirty="0"/>
          </a:p>
          <a:p>
            <a:endParaRPr lang="en-IN" dirty="0"/>
          </a:p>
        </p:txBody>
      </p:sp>
      <p:sp>
        <p:nvSpPr>
          <p:cNvPr id="4" name="TextBox 3">
            <a:extLst>
              <a:ext uri="{FF2B5EF4-FFF2-40B4-BE49-F238E27FC236}">
                <a16:creationId xmlns:a16="http://schemas.microsoft.com/office/drawing/2014/main" id="{45A3460D-30D0-FC1B-A5E5-C772C6FB01A4}"/>
              </a:ext>
            </a:extLst>
          </p:cNvPr>
          <p:cNvSpPr txBox="1"/>
          <p:nvPr/>
        </p:nvSpPr>
        <p:spPr>
          <a:xfrm>
            <a:off x="789709" y="1420009"/>
            <a:ext cx="10539846" cy="923330"/>
          </a:xfrm>
          <a:prstGeom prst="rect">
            <a:avLst/>
          </a:prstGeom>
          <a:noFill/>
        </p:spPr>
        <p:txBody>
          <a:bodyPr wrap="square" rtlCol="0">
            <a:spAutoFit/>
          </a:bodyPr>
          <a:lstStyle/>
          <a:p>
            <a:pPr algn="just"/>
            <a:r>
              <a:rPr lang="en-US" dirty="0"/>
              <a:t>Zomato aims to expand its restaurant network to drive growth and strengthen its presence across markets. Identify high-potential markets for restaurant expansion to maximize growth and capture emerging demand.</a:t>
            </a:r>
            <a:endParaRPr lang="en-IN" dirty="0"/>
          </a:p>
        </p:txBody>
      </p:sp>
    </p:spTree>
    <p:extLst>
      <p:ext uri="{BB962C8B-B14F-4D97-AF65-F5344CB8AC3E}">
        <p14:creationId xmlns:p14="http://schemas.microsoft.com/office/powerpoint/2010/main" val="3949714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7E4C2-1D87-A57D-FE3A-DF2BC879FBE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E1C4CD1-92E2-E137-A51D-A318091747EF}"/>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Data Overview</a:t>
            </a:r>
          </a:p>
        </p:txBody>
      </p:sp>
      <p:sp>
        <p:nvSpPr>
          <p:cNvPr id="16" name="TextBox 15">
            <a:extLst>
              <a:ext uri="{FF2B5EF4-FFF2-40B4-BE49-F238E27FC236}">
                <a16:creationId xmlns:a16="http://schemas.microsoft.com/office/drawing/2014/main" id="{920A31EF-AE1D-9929-86C2-B06088F6B9B8}"/>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17" name="TextBox 16">
            <a:extLst>
              <a:ext uri="{FF2B5EF4-FFF2-40B4-BE49-F238E27FC236}">
                <a16:creationId xmlns:a16="http://schemas.microsoft.com/office/drawing/2014/main" id="{D2BF5D5E-B3C6-FF36-D801-38EC63B59E08}"/>
              </a:ext>
            </a:extLst>
          </p:cNvPr>
          <p:cNvSpPr txBox="1"/>
          <p:nvPr/>
        </p:nvSpPr>
        <p:spPr>
          <a:xfrm>
            <a:off x="789709" y="1496291"/>
            <a:ext cx="10713026" cy="646331"/>
          </a:xfrm>
          <a:prstGeom prst="rect">
            <a:avLst/>
          </a:prstGeom>
          <a:noFill/>
        </p:spPr>
        <p:txBody>
          <a:bodyPr wrap="square" rtlCol="0">
            <a:spAutoFit/>
          </a:bodyPr>
          <a:lstStyle/>
          <a:p>
            <a:r>
              <a:rPr lang="en-US" dirty="0"/>
              <a:t>The dataset contains information about 9,551 restaurants with 20 columns detailing various attributes of these establishments. Below is an overview of the dataset:</a:t>
            </a:r>
            <a:endParaRPr lang="en-IN" dirty="0"/>
          </a:p>
        </p:txBody>
      </p:sp>
      <p:sp>
        <p:nvSpPr>
          <p:cNvPr id="2" name="TextBox 1">
            <a:extLst>
              <a:ext uri="{FF2B5EF4-FFF2-40B4-BE49-F238E27FC236}">
                <a16:creationId xmlns:a16="http://schemas.microsoft.com/office/drawing/2014/main" id="{54C06D7D-F0EC-1AF9-BE16-816F39EF6681}"/>
              </a:ext>
            </a:extLst>
          </p:cNvPr>
          <p:cNvSpPr txBox="1"/>
          <p:nvPr/>
        </p:nvSpPr>
        <p:spPr>
          <a:xfrm>
            <a:off x="753340" y="2142622"/>
            <a:ext cx="5392882" cy="4962128"/>
          </a:xfrm>
          <a:prstGeom prst="rect">
            <a:avLst/>
          </a:prstGeom>
          <a:noFill/>
        </p:spPr>
        <p:txBody>
          <a:bodyPr wrap="square" rtlCol="0">
            <a:spAutoFit/>
          </a:bodyPr>
          <a:lstStyle/>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Restaurant ID: </a:t>
            </a:r>
            <a:r>
              <a:rPr lang="en-US" sz="1400" b="0" i="0" u="none" strike="noStrike" cap="none" dirty="0">
                <a:solidFill>
                  <a:schemeClr val="dk1"/>
                </a:solidFill>
                <a:ea typeface="Lato"/>
                <a:cs typeface="Lato"/>
                <a:sym typeface="Lato"/>
              </a:rPr>
              <a:t>Unique identifier for each restaurant.</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Restaurant Name: </a:t>
            </a:r>
            <a:r>
              <a:rPr lang="en-US" sz="1400" b="0" i="0" u="none" strike="noStrike" cap="none" dirty="0">
                <a:solidFill>
                  <a:schemeClr val="dk1"/>
                </a:solidFill>
                <a:ea typeface="Lato"/>
                <a:cs typeface="Lato"/>
                <a:sym typeface="Lato"/>
              </a:rPr>
              <a:t>The name of the restaurant.</a:t>
            </a:r>
          </a:p>
          <a:p>
            <a:pPr marL="457200" lvl="0" indent="-311150">
              <a:lnSpc>
                <a:spcPct val="115000"/>
              </a:lnSpc>
              <a:buClr>
                <a:schemeClr val="dk1"/>
              </a:buClr>
              <a:buSzPts val="1300"/>
              <a:buFont typeface="Lato"/>
              <a:buChar char="●"/>
            </a:pPr>
            <a:r>
              <a:rPr lang="en-US" sz="1400" b="1" i="0" u="none" strike="noStrike" cap="none" dirty="0" err="1">
                <a:solidFill>
                  <a:schemeClr val="dk1"/>
                </a:solidFill>
                <a:ea typeface="Lato"/>
                <a:cs typeface="Lato"/>
                <a:sym typeface="Lato"/>
              </a:rPr>
              <a:t>CountryCode</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Country code of the location where the restaurant is situated.</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City: </a:t>
            </a:r>
            <a:r>
              <a:rPr lang="en-US" sz="1400" b="0" i="0" u="none" strike="noStrike" cap="none" dirty="0">
                <a:solidFill>
                  <a:schemeClr val="dk1"/>
                </a:solidFill>
                <a:ea typeface="Lato"/>
                <a:cs typeface="Lato"/>
                <a:sym typeface="Lato"/>
              </a:rPr>
              <a:t>The city where the restaurant is located.</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Address: </a:t>
            </a:r>
            <a:r>
              <a:rPr lang="en-US" sz="1400" b="0" i="0" u="none" strike="noStrike" cap="none" dirty="0">
                <a:solidFill>
                  <a:schemeClr val="dk1"/>
                </a:solidFill>
                <a:ea typeface="Lato"/>
                <a:cs typeface="Lato"/>
                <a:sym typeface="Lato"/>
              </a:rPr>
              <a:t>The specific address of the restaurant.</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Locality: </a:t>
            </a:r>
            <a:r>
              <a:rPr lang="en-US" sz="1400" b="0" i="0" u="none" strike="noStrike" cap="none" dirty="0">
                <a:solidFill>
                  <a:schemeClr val="dk1"/>
                </a:solidFill>
                <a:ea typeface="Lato"/>
                <a:cs typeface="Lato"/>
                <a:sym typeface="Lato"/>
              </a:rPr>
              <a:t>The locality or neighborhood where the restaurant is situated.</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Locality Verbose: </a:t>
            </a:r>
            <a:r>
              <a:rPr lang="en-US" sz="1400" b="0" i="0" u="none" strike="noStrike" cap="none" dirty="0">
                <a:solidFill>
                  <a:schemeClr val="dk1"/>
                </a:solidFill>
                <a:ea typeface="Lato"/>
                <a:cs typeface="Lato"/>
                <a:sym typeface="Lato"/>
              </a:rPr>
              <a:t>Detailed information about the locality.</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Longitude: </a:t>
            </a:r>
            <a:r>
              <a:rPr lang="en-US" sz="1400" b="0" i="0" u="none" strike="noStrike" cap="none" dirty="0">
                <a:solidFill>
                  <a:schemeClr val="dk1"/>
                </a:solidFill>
                <a:ea typeface="Lato"/>
                <a:cs typeface="Lato"/>
                <a:sym typeface="Lato"/>
              </a:rPr>
              <a:t>The geographical longitude coordinate of the restaurant.</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Latitude: </a:t>
            </a:r>
            <a:r>
              <a:rPr lang="en-US" sz="1400" b="0" i="0" u="none" strike="noStrike" cap="none" dirty="0">
                <a:solidFill>
                  <a:schemeClr val="dk1"/>
                </a:solidFill>
                <a:ea typeface="Lato"/>
                <a:cs typeface="Lato"/>
                <a:sym typeface="Lato"/>
              </a:rPr>
              <a:t>The geographical latitude coordinate of the restaurant.</a:t>
            </a:r>
          </a:p>
          <a:p>
            <a:pPr marL="457200" lvl="0" indent="-311150">
              <a:lnSpc>
                <a:spcPct val="115000"/>
              </a:lnSpc>
              <a:buClr>
                <a:schemeClr val="dk1"/>
              </a:buClr>
              <a:buSzPts val="1300"/>
              <a:buFont typeface="Lato"/>
              <a:buChar char="●"/>
            </a:pPr>
            <a:r>
              <a:rPr lang="en-US" sz="1400" b="1" i="0" u="none" strike="noStrike" cap="none" dirty="0">
                <a:solidFill>
                  <a:schemeClr val="dk1"/>
                </a:solidFill>
                <a:ea typeface="Lato"/>
                <a:cs typeface="Lato"/>
                <a:sym typeface="Lato"/>
              </a:rPr>
              <a:t>Cuisines: </a:t>
            </a:r>
            <a:r>
              <a:rPr lang="en-US" sz="1400" b="0" i="0" u="none" strike="noStrike" cap="none" dirty="0">
                <a:solidFill>
                  <a:schemeClr val="dk1"/>
                </a:solidFill>
                <a:ea typeface="Lato"/>
                <a:cs typeface="Lato"/>
                <a:sym typeface="Lato"/>
              </a:rPr>
              <a:t>The type of cuisine offered by the restaurant.</a:t>
            </a:r>
          </a:p>
          <a:p>
            <a:pPr marL="457200" lvl="0" indent="-311150">
              <a:lnSpc>
                <a:spcPct val="115000"/>
              </a:lnSpc>
              <a:buClr>
                <a:schemeClr val="dk1"/>
              </a:buClr>
              <a:buSzPts val="1300"/>
              <a:buFont typeface="Arial"/>
              <a:buChar char="●"/>
            </a:pPr>
            <a:r>
              <a:rPr lang="en-US" sz="1400" b="1" i="0" u="none" strike="noStrike" cap="none" dirty="0">
                <a:solidFill>
                  <a:schemeClr val="dk1"/>
                </a:solidFill>
                <a:ea typeface="Lato"/>
                <a:cs typeface="Lato"/>
                <a:sym typeface="Lato"/>
              </a:rPr>
              <a:t>Currency: </a:t>
            </a:r>
            <a:r>
              <a:rPr lang="en-US" sz="1400" b="0" i="0" u="none" strike="noStrike" cap="none" dirty="0">
                <a:solidFill>
                  <a:schemeClr val="dk1"/>
                </a:solidFill>
                <a:ea typeface="Lato"/>
                <a:cs typeface="Lato"/>
                <a:sym typeface="Lato"/>
              </a:rPr>
              <a:t>The currency used for transactions in the restaurant.</a:t>
            </a:r>
          </a:p>
          <a:p>
            <a:pPr marL="45720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Has_Table_booking</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Indicates whether the restaurant has a table booking option (Yes/No).</a:t>
            </a:r>
          </a:p>
          <a:p>
            <a:pPr marL="146050" lvl="0">
              <a:lnSpc>
                <a:spcPct val="115000"/>
              </a:lnSpc>
              <a:buClr>
                <a:schemeClr val="dk1"/>
              </a:buClr>
              <a:buSzPts val="1300"/>
            </a:pPr>
            <a:endParaRPr lang="en-US" sz="1100" b="0" i="0" u="none" strike="noStrike" cap="none" dirty="0">
              <a:solidFill>
                <a:schemeClr val="dk1"/>
              </a:solidFill>
              <a:latin typeface="Lato"/>
              <a:ea typeface="Lato"/>
              <a:cs typeface="Lato"/>
              <a:sym typeface="Lato"/>
            </a:endParaRPr>
          </a:p>
          <a:p>
            <a:endParaRPr lang="en-IN" sz="1400" dirty="0"/>
          </a:p>
        </p:txBody>
      </p:sp>
      <p:sp>
        <p:nvSpPr>
          <p:cNvPr id="3" name="TextBox 2">
            <a:extLst>
              <a:ext uri="{FF2B5EF4-FFF2-40B4-BE49-F238E27FC236}">
                <a16:creationId xmlns:a16="http://schemas.microsoft.com/office/drawing/2014/main" id="{E7F28B1B-29E4-487E-756E-960D5D08CDAF}"/>
              </a:ext>
            </a:extLst>
          </p:cNvPr>
          <p:cNvSpPr txBox="1"/>
          <p:nvPr/>
        </p:nvSpPr>
        <p:spPr>
          <a:xfrm>
            <a:off x="6222124" y="2234045"/>
            <a:ext cx="5280611" cy="4271939"/>
          </a:xfrm>
          <a:prstGeom prst="rect">
            <a:avLst/>
          </a:prstGeom>
          <a:noFill/>
        </p:spPr>
        <p:txBody>
          <a:bodyPr wrap="square" rtlCol="0">
            <a:spAutoFit/>
          </a:bodyPr>
          <a:lstStyle/>
          <a:p>
            <a:pPr marL="457200" lvl="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Has_Online_delivery</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Indicates whether the restaurant offers online delivery (Yes/No).</a:t>
            </a:r>
          </a:p>
          <a:p>
            <a:pPr marL="457200" lvl="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Is_delivering_now</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Indicates whether the restaurant is currently delivering (Yes/No).</a:t>
            </a:r>
          </a:p>
          <a:p>
            <a:pPr marL="457200" lvl="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Switch_to_order_menu</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Indicates whether users can switch to the order menu (Yes/No).</a:t>
            </a:r>
          </a:p>
          <a:p>
            <a:pPr marL="457200" lvl="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Price_range</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A numeric value indicating the price range category of the restaurant.</a:t>
            </a:r>
          </a:p>
          <a:p>
            <a:pPr marL="457200" lvl="0" indent="-311150">
              <a:lnSpc>
                <a:spcPct val="115000"/>
              </a:lnSpc>
              <a:buClr>
                <a:schemeClr val="dk1"/>
              </a:buClr>
              <a:buSzPts val="1300"/>
              <a:buFont typeface="Arial"/>
              <a:buChar char="●"/>
            </a:pPr>
            <a:r>
              <a:rPr lang="en-US" sz="1400" b="1" i="0" u="none" strike="noStrike" cap="none" dirty="0">
                <a:solidFill>
                  <a:schemeClr val="dk1"/>
                </a:solidFill>
                <a:ea typeface="Lato"/>
                <a:cs typeface="Lato"/>
                <a:sym typeface="Lato"/>
              </a:rPr>
              <a:t>Votes: </a:t>
            </a:r>
            <a:r>
              <a:rPr lang="en-US" sz="1400" b="0" i="0" u="none" strike="noStrike" cap="none" dirty="0">
                <a:solidFill>
                  <a:schemeClr val="dk1"/>
                </a:solidFill>
                <a:ea typeface="Lato"/>
                <a:cs typeface="Lato"/>
                <a:sym typeface="Lato"/>
              </a:rPr>
              <a:t>The number of votes or ratings/(feedback) received by the restaurant.</a:t>
            </a:r>
          </a:p>
          <a:p>
            <a:pPr marL="457200" lvl="0" indent="-311150">
              <a:lnSpc>
                <a:spcPct val="115000"/>
              </a:lnSpc>
              <a:buClr>
                <a:schemeClr val="dk1"/>
              </a:buClr>
              <a:buSzPts val="1300"/>
              <a:buFont typeface="Arial"/>
              <a:buChar char="●"/>
            </a:pPr>
            <a:r>
              <a:rPr lang="en-US" sz="1400" b="1" i="0" u="none" strike="noStrike" cap="none" dirty="0" err="1">
                <a:solidFill>
                  <a:schemeClr val="dk1"/>
                </a:solidFill>
                <a:ea typeface="Lato"/>
                <a:cs typeface="Lato"/>
                <a:sym typeface="Lato"/>
              </a:rPr>
              <a:t>Average_Cost_for_two</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The average cost for two people dining at the restaurant.</a:t>
            </a:r>
          </a:p>
          <a:p>
            <a:pPr marL="457200" lvl="0" indent="-304800">
              <a:lnSpc>
                <a:spcPct val="115000"/>
              </a:lnSpc>
              <a:buClr>
                <a:schemeClr val="dk1"/>
              </a:buClr>
              <a:buSzPts val="1200"/>
              <a:buFont typeface="Lato"/>
              <a:buChar char="●"/>
            </a:pPr>
            <a:r>
              <a:rPr lang="en-US" sz="1400" b="1" i="0" u="none" strike="noStrike" cap="none" dirty="0">
                <a:solidFill>
                  <a:schemeClr val="dk1"/>
                </a:solidFill>
                <a:ea typeface="Lato"/>
                <a:cs typeface="Lato"/>
                <a:sym typeface="Lato"/>
              </a:rPr>
              <a:t>Rating: </a:t>
            </a:r>
            <a:r>
              <a:rPr lang="en-US" sz="1400" b="0" i="0" u="none" strike="noStrike" cap="none" dirty="0">
                <a:solidFill>
                  <a:schemeClr val="dk1"/>
                </a:solidFill>
                <a:ea typeface="Lato"/>
                <a:cs typeface="Lato"/>
                <a:sym typeface="Lato"/>
              </a:rPr>
              <a:t>The overall rating of the restaurant is based on user reviews.</a:t>
            </a:r>
          </a:p>
          <a:p>
            <a:pPr marL="457200" lvl="0" indent="-304800">
              <a:lnSpc>
                <a:spcPct val="115000"/>
              </a:lnSpc>
              <a:buClr>
                <a:schemeClr val="dk1"/>
              </a:buClr>
              <a:buSzPts val="1200"/>
              <a:buFont typeface="Lato"/>
              <a:buChar char="●"/>
            </a:pPr>
            <a:r>
              <a:rPr lang="en-US" sz="1400" b="1" i="0" u="none" strike="noStrike" cap="none" dirty="0" err="1">
                <a:solidFill>
                  <a:schemeClr val="dk1"/>
                </a:solidFill>
                <a:ea typeface="Lato"/>
                <a:cs typeface="Lato"/>
                <a:sym typeface="Lato"/>
              </a:rPr>
              <a:t>Datekey_opening</a:t>
            </a:r>
            <a:r>
              <a:rPr lang="en-US" sz="1400" b="1" i="0" u="none" strike="noStrike" cap="none" dirty="0">
                <a:solidFill>
                  <a:schemeClr val="dk1"/>
                </a:solidFill>
                <a:ea typeface="Lato"/>
                <a:cs typeface="Lato"/>
                <a:sym typeface="Lato"/>
              </a:rPr>
              <a:t>: </a:t>
            </a:r>
            <a:r>
              <a:rPr lang="en-US" sz="1400" b="0" i="0" u="none" strike="noStrike" cap="none" dirty="0">
                <a:solidFill>
                  <a:schemeClr val="dk1"/>
                </a:solidFill>
                <a:ea typeface="Lato"/>
                <a:cs typeface="Lato"/>
                <a:sym typeface="Lato"/>
              </a:rPr>
              <a:t>The date when the restaurant was opened.</a:t>
            </a:r>
          </a:p>
          <a:p>
            <a:endParaRPr lang="en-IN" sz="1400" dirty="0"/>
          </a:p>
        </p:txBody>
      </p:sp>
    </p:spTree>
    <p:extLst>
      <p:ext uri="{BB962C8B-B14F-4D97-AF65-F5344CB8AC3E}">
        <p14:creationId xmlns:p14="http://schemas.microsoft.com/office/powerpoint/2010/main" val="946411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4B47A-B185-F877-3A53-58F8C2A31B4D}"/>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A03B8362-2EC8-A2CB-F761-390E64891B63}"/>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Data Snapshot</a:t>
            </a:r>
          </a:p>
        </p:txBody>
      </p:sp>
      <p:sp>
        <p:nvSpPr>
          <p:cNvPr id="16" name="TextBox 15">
            <a:extLst>
              <a:ext uri="{FF2B5EF4-FFF2-40B4-BE49-F238E27FC236}">
                <a16:creationId xmlns:a16="http://schemas.microsoft.com/office/drawing/2014/main" id="{DE15B709-E680-CC63-AC25-8D0A3E2224B4}"/>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graphicFrame>
        <p:nvGraphicFramePr>
          <p:cNvPr id="3" name="Table 2">
            <a:extLst>
              <a:ext uri="{FF2B5EF4-FFF2-40B4-BE49-F238E27FC236}">
                <a16:creationId xmlns:a16="http://schemas.microsoft.com/office/drawing/2014/main" id="{CC9B998D-2962-8216-A9CB-B268299DAB66}"/>
              </a:ext>
            </a:extLst>
          </p:cNvPr>
          <p:cNvGraphicFramePr>
            <a:graphicFrameLocks noGrp="1"/>
          </p:cNvGraphicFramePr>
          <p:nvPr>
            <p:extLst>
              <p:ext uri="{D42A27DB-BD31-4B8C-83A1-F6EECF244321}">
                <p14:modId xmlns:p14="http://schemas.microsoft.com/office/powerpoint/2010/main" val="3201677441"/>
              </p:ext>
            </p:extLst>
          </p:nvPr>
        </p:nvGraphicFramePr>
        <p:xfrm>
          <a:off x="6669742" y="1602889"/>
          <a:ext cx="4690334" cy="2130014"/>
        </p:xfrm>
        <a:graphic>
          <a:graphicData uri="http://schemas.openxmlformats.org/drawingml/2006/table">
            <a:tbl>
              <a:tblPr bandRow="1">
                <a:tableStyleId>{5C22544A-7EE6-4342-B048-85BDC9FD1C3A}</a:tableStyleId>
              </a:tblPr>
              <a:tblGrid>
                <a:gridCol w="2700169">
                  <a:extLst>
                    <a:ext uri="{9D8B030D-6E8A-4147-A177-3AD203B41FA5}">
                      <a16:colId xmlns:a16="http://schemas.microsoft.com/office/drawing/2014/main" val="166005002"/>
                    </a:ext>
                  </a:extLst>
                </a:gridCol>
                <a:gridCol w="1990165">
                  <a:extLst>
                    <a:ext uri="{9D8B030D-6E8A-4147-A177-3AD203B41FA5}">
                      <a16:colId xmlns:a16="http://schemas.microsoft.com/office/drawing/2014/main" val="3969013467"/>
                    </a:ext>
                  </a:extLst>
                </a:gridCol>
              </a:tblGrid>
              <a:tr h="370437">
                <a:tc>
                  <a:txBody>
                    <a:bodyPr/>
                    <a:lstStyle/>
                    <a:p>
                      <a:r>
                        <a:rPr lang="en-IN" dirty="0"/>
                        <a:t>Total Restaurants</a:t>
                      </a:r>
                    </a:p>
                  </a:txBody>
                  <a:tcPr/>
                </a:tc>
                <a:tc>
                  <a:txBody>
                    <a:bodyPr/>
                    <a:lstStyle/>
                    <a:p>
                      <a:r>
                        <a:rPr lang="en-IN" dirty="0"/>
                        <a:t>9551</a:t>
                      </a:r>
                    </a:p>
                  </a:txBody>
                  <a:tcPr/>
                </a:tc>
                <a:extLst>
                  <a:ext uri="{0D108BD9-81ED-4DB2-BD59-A6C34878D82A}">
                    <a16:rowId xmlns:a16="http://schemas.microsoft.com/office/drawing/2014/main" val="3438273810"/>
                  </a:ext>
                </a:extLst>
              </a:tr>
              <a:tr h="370437">
                <a:tc>
                  <a:txBody>
                    <a:bodyPr/>
                    <a:lstStyle/>
                    <a:p>
                      <a:r>
                        <a:rPr lang="en-IN" dirty="0"/>
                        <a:t>Total Countries</a:t>
                      </a:r>
                    </a:p>
                  </a:txBody>
                  <a:tcPr/>
                </a:tc>
                <a:tc>
                  <a:txBody>
                    <a:bodyPr/>
                    <a:lstStyle/>
                    <a:p>
                      <a:r>
                        <a:rPr lang="en-IN" dirty="0"/>
                        <a:t>15</a:t>
                      </a:r>
                    </a:p>
                  </a:txBody>
                  <a:tcPr/>
                </a:tc>
                <a:extLst>
                  <a:ext uri="{0D108BD9-81ED-4DB2-BD59-A6C34878D82A}">
                    <a16:rowId xmlns:a16="http://schemas.microsoft.com/office/drawing/2014/main" val="3781105086"/>
                  </a:ext>
                </a:extLst>
              </a:tr>
              <a:tr h="370437">
                <a:tc>
                  <a:txBody>
                    <a:bodyPr/>
                    <a:lstStyle/>
                    <a:p>
                      <a:r>
                        <a:rPr lang="en-IN" dirty="0"/>
                        <a:t>Total Cuisines</a:t>
                      </a:r>
                    </a:p>
                  </a:txBody>
                  <a:tcPr/>
                </a:tc>
                <a:tc>
                  <a:txBody>
                    <a:bodyPr/>
                    <a:lstStyle/>
                    <a:p>
                      <a:r>
                        <a:rPr lang="en-IN" dirty="0"/>
                        <a:t>1826</a:t>
                      </a:r>
                    </a:p>
                  </a:txBody>
                  <a:tcPr/>
                </a:tc>
                <a:extLst>
                  <a:ext uri="{0D108BD9-81ED-4DB2-BD59-A6C34878D82A}">
                    <a16:rowId xmlns:a16="http://schemas.microsoft.com/office/drawing/2014/main" val="4101193265"/>
                  </a:ext>
                </a:extLst>
              </a:tr>
              <a:tr h="370437">
                <a:tc>
                  <a:txBody>
                    <a:bodyPr/>
                    <a:lstStyle/>
                    <a:p>
                      <a:r>
                        <a:rPr lang="en-IN" dirty="0"/>
                        <a:t>Average Rating</a:t>
                      </a:r>
                    </a:p>
                  </a:txBody>
                  <a:tcPr/>
                </a:tc>
                <a:tc>
                  <a:txBody>
                    <a:bodyPr/>
                    <a:lstStyle/>
                    <a:p>
                      <a:r>
                        <a:rPr lang="en-IN" dirty="0"/>
                        <a:t>2.89</a:t>
                      </a:r>
                    </a:p>
                  </a:txBody>
                  <a:tcPr/>
                </a:tc>
                <a:extLst>
                  <a:ext uri="{0D108BD9-81ED-4DB2-BD59-A6C34878D82A}">
                    <a16:rowId xmlns:a16="http://schemas.microsoft.com/office/drawing/2014/main" val="265549961"/>
                  </a:ext>
                </a:extLst>
              </a:tr>
              <a:tr h="648266">
                <a:tc>
                  <a:txBody>
                    <a:bodyPr/>
                    <a:lstStyle/>
                    <a:p>
                      <a:r>
                        <a:rPr lang="en-IN" dirty="0"/>
                        <a:t>Services Offered</a:t>
                      </a:r>
                    </a:p>
                  </a:txBody>
                  <a:tcPr/>
                </a:tc>
                <a:tc>
                  <a:txBody>
                    <a:bodyPr/>
                    <a:lstStyle/>
                    <a:p>
                      <a:r>
                        <a:rPr lang="en-IN" dirty="0"/>
                        <a:t>Table Booking, Online Delivery</a:t>
                      </a:r>
                    </a:p>
                  </a:txBody>
                  <a:tcPr/>
                </a:tc>
                <a:extLst>
                  <a:ext uri="{0D108BD9-81ED-4DB2-BD59-A6C34878D82A}">
                    <a16:rowId xmlns:a16="http://schemas.microsoft.com/office/drawing/2014/main" val="3097865269"/>
                  </a:ext>
                </a:extLst>
              </a:tr>
            </a:tbl>
          </a:graphicData>
        </a:graphic>
      </p:graphicFrame>
      <p:sp>
        <p:nvSpPr>
          <p:cNvPr id="4" name="TextBox 3">
            <a:extLst>
              <a:ext uri="{FF2B5EF4-FFF2-40B4-BE49-F238E27FC236}">
                <a16:creationId xmlns:a16="http://schemas.microsoft.com/office/drawing/2014/main" id="{B2E15A1A-81B9-C18F-094D-9FBBD3AB2F1A}"/>
              </a:ext>
            </a:extLst>
          </p:cNvPr>
          <p:cNvSpPr txBox="1"/>
          <p:nvPr/>
        </p:nvSpPr>
        <p:spPr>
          <a:xfrm>
            <a:off x="839096" y="1516828"/>
            <a:ext cx="4873215" cy="5355312"/>
          </a:xfrm>
          <a:prstGeom prst="rect">
            <a:avLst/>
          </a:prstGeom>
          <a:noFill/>
        </p:spPr>
        <p:txBody>
          <a:bodyPr wrap="square" rtlCol="0">
            <a:spAutoFit/>
          </a:bodyPr>
          <a:lstStyle/>
          <a:p>
            <a:r>
              <a:rPr lang="en-US" b="1" dirty="0"/>
              <a:t>1. Detailed Restaurant Information:</a:t>
            </a:r>
          </a:p>
          <a:p>
            <a:r>
              <a:rPr lang="en-US" dirty="0"/>
              <a:t>Covers IDs, names, addresses, and locations.</a:t>
            </a:r>
          </a:p>
          <a:p>
            <a:endParaRPr lang="en-US" dirty="0"/>
          </a:p>
          <a:p>
            <a:r>
              <a:rPr lang="en-US" b="1" dirty="0"/>
              <a:t>2. Geographical Data: </a:t>
            </a:r>
          </a:p>
          <a:p>
            <a:r>
              <a:rPr lang="en-US" dirty="0"/>
              <a:t>Provides longitude and latitude for precise location mapping.</a:t>
            </a:r>
          </a:p>
          <a:p>
            <a:endParaRPr lang="en-US" dirty="0"/>
          </a:p>
          <a:p>
            <a:r>
              <a:rPr lang="en-US" b="1" dirty="0"/>
              <a:t>3.</a:t>
            </a:r>
            <a:r>
              <a:rPr lang="en-US" dirty="0"/>
              <a:t> </a:t>
            </a:r>
            <a:r>
              <a:rPr lang="en-US" b="1" dirty="0"/>
              <a:t>Categorical Data: </a:t>
            </a:r>
          </a:p>
          <a:p>
            <a:r>
              <a:rPr lang="en-US" dirty="0"/>
              <a:t>Includes location (Country Code, City), cuisine types, and currency.</a:t>
            </a:r>
          </a:p>
          <a:p>
            <a:endParaRPr lang="en-US" dirty="0"/>
          </a:p>
          <a:p>
            <a:pPr lvl="0">
              <a:defRPr/>
            </a:pPr>
            <a:r>
              <a:rPr lang="en-US" b="1" dirty="0">
                <a:solidFill>
                  <a:prstClr val="black"/>
                </a:solidFill>
              </a:rPr>
              <a:t>4. Service Indicators: </a:t>
            </a:r>
          </a:p>
          <a:p>
            <a:pPr lvl="0">
              <a:defRPr/>
            </a:pPr>
            <a:r>
              <a:rPr lang="en-US" dirty="0">
                <a:solidFill>
                  <a:prstClr val="black"/>
                </a:solidFill>
              </a:rPr>
              <a:t>Shows availability of table booking, online delivery, and current delivery status.</a:t>
            </a:r>
          </a:p>
          <a:p>
            <a:pPr lvl="0">
              <a:defRPr/>
            </a:pPr>
            <a:endParaRPr lang="en-US" dirty="0">
              <a:solidFill>
                <a:prstClr val="black"/>
              </a:solidFill>
            </a:endParaRPr>
          </a:p>
          <a:p>
            <a:pPr lvl="0">
              <a:defRPr/>
            </a:pPr>
            <a:endParaRPr lang="en-US" dirty="0">
              <a:solidFill>
                <a:prstClr val="black"/>
              </a:solidFill>
            </a:endParaRPr>
          </a:p>
          <a:p>
            <a:pPr lvl="0">
              <a:defRPr/>
            </a:pPr>
            <a:endParaRPr lang="en-US" dirty="0">
              <a:solidFill>
                <a:prstClr val="black"/>
              </a:solidFill>
            </a:endParaRPr>
          </a:p>
          <a:p>
            <a:endParaRPr lang="en-US" dirty="0"/>
          </a:p>
          <a:p>
            <a:endParaRPr lang="en-IN" dirty="0"/>
          </a:p>
        </p:txBody>
      </p:sp>
      <p:sp>
        <p:nvSpPr>
          <p:cNvPr id="5" name="TextBox 4">
            <a:extLst>
              <a:ext uri="{FF2B5EF4-FFF2-40B4-BE49-F238E27FC236}">
                <a16:creationId xmlns:a16="http://schemas.microsoft.com/office/drawing/2014/main" id="{C1E882FA-A16E-88E1-8DE5-052B3F8CD6D5}"/>
              </a:ext>
            </a:extLst>
          </p:cNvPr>
          <p:cNvSpPr txBox="1"/>
          <p:nvPr/>
        </p:nvSpPr>
        <p:spPr>
          <a:xfrm>
            <a:off x="6583680" y="4087906"/>
            <a:ext cx="4769224" cy="2031325"/>
          </a:xfrm>
          <a:prstGeom prst="rect">
            <a:avLst/>
          </a:prstGeom>
          <a:noFill/>
        </p:spPr>
        <p:txBody>
          <a:bodyPr wrap="square" rtlCol="0">
            <a:spAutoFit/>
          </a:bodyPr>
          <a:lstStyle/>
          <a:p>
            <a:pPr lvl="0">
              <a:defRPr/>
            </a:pPr>
            <a:r>
              <a:rPr lang="en-US" b="1" dirty="0">
                <a:solidFill>
                  <a:prstClr val="black"/>
                </a:solidFill>
              </a:rPr>
              <a:t>5. . Financial Metrics: </a:t>
            </a:r>
          </a:p>
          <a:p>
            <a:pPr lvl="0">
              <a:defRPr/>
            </a:pPr>
            <a:r>
              <a:rPr lang="en-US" dirty="0">
                <a:solidFill>
                  <a:prstClr val="black"/>
                </a:solidFill>
              </a:rPr>
              <a:t>Contains price range, average cost for two, and rating.</a:t>
            </a:r>
          </a:p>
          <a:p>
            <a:pPr lvl="0">
              <a:defRPr/>
            </a:pPr>
            <a:endParaRPr lang="en-US" b="1" dirty="0">
              <a:solidFill>
                <a:prstClr val="black"/>
              </a:solidFill>
            </a:endParaRPr>
          </a:p>
          <a:p>
            <a:pPr lvl="0">
              <a:defRPr/>
            </a:pPr>
            <a:r>
              <a:rPr lang="en-US" b="1" dirty="0">
                <a:solidFill>
                  <a:prstClr val="black"/>
                </a:solidFill>
              </a:rPr>
              <a:t>6. Temporal Aspect: </a:t>
            </a:r>
          </a:p>
          <a:p>
            <a:pPr lvl="0">
              <a:defRPr/>
            </a:pPr>
            <a:r>
              <a:rPr lang="en-US" dirty="0">
                <a:solidFill>
                  <a:prstClr val="black"/>
                </a:solidFill>
              </a:rPr>
              <a:t>Includes the opening date of each restaurant.</a:t>
            </a:r>
          </a:p>
          <a:p>
            <a:endParaRPr lang="en-IN" dirty="0"/>
          </a:p>
        </p:txBody>
      </p:sp>
    </p:spTree>
    <p:extLst>
      <p:ext uri="{BB962C8B-B14F-4D97-AF65-F5344CB8AC3E}">
        <p14:creationId xmlns:p14="http://schemas.microsoft.com/office/powerpoint/2010/main" val="1686813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2A68F-72A3-0FB9-BFE9-341F60E87E5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6B9B1C0-5C12-F9A9-EF4E-95B229D9783C}"/>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Data Cleaning and Pre-processing</a:t>
            </a:r>
          </a:p>
        </p:txBody>
      </p:sp>
      <p:sp>
        <p:nvSpPr>
          <p:cNvPr id="16" name="TextBox 15">
            <a:extLst>
              <a:ext uri="{FF2B5EF4-FFF2-40B4-BE49-F238E27FC236}">
                <a16:creationId xmlns:a16="http://schemas.microsoft.com/office/drawing/2014/main" id="{3C00D71A-53D0-B4A0-2FD7-3B776525356E}"/>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2" name="TextBox 1">
            <a:extLst>
              <a:ext uri="{FF2B5EF4-FFF2-40B4-BE49-F238E27FC236}">
                <a16:creationId xmlns:a16="http://schemas.microsoft.com/office/drawing/2014/main" id="{3A99D6C6-01E4-7A26-5BED-778D0B596238}"/>
              </a:ext>
            </a:extLst>
          </p:cNvPr>
          <p:cNvSpPr txBox="1"/>
          <p:nvPr/>
        </p:nvSpPr>
        <p:spPr>
          <a:xfrm>
            <a:off x="763793" y="1341134"/>
            <a:ext cx="10359615" cy="5632311"/>
          </a:xfrm>
          <a:prstGeom prst="rect">
            <a:avLst/>
          </a:prstGeom>
          <a:noFill/>
        </p:spPr>
        <p:txBody>
          <a:bodyPr wrap="square" rtlCol="0">
            <a:spAutoFit/>
          </a:bodyPr>
          <a:lstStyle/>
          <a:p>
            <a:r>
              <a:rPr lang="en-IN" b="1" u="sng" dirty="0"/>
              <a:t>Data Cleaning</a:t>
            </a:r>
          </a:p>
          <a:p>
            <a:endParaRPr lang="en-IN" b="1" u="sng" dirty="0"/>
          </a:p>
          <a:p>
            <a:pPr marL="342900" indent="-342900">
              <a:buFont typeface="Arial" panose="020B0604020202020204" pitchFamily="34" charset="0"/>
              <a:buChar char="•"/>
            </a:pPr>
            <a:r>
              <a:rPr lang="en-US" dirty="0"/>
              <a:t>All blank cuisine cells were replaced with “Unknown”</a:t>
            </a: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US" dirty="0"/>
              <a:t>Handled Data types for each column</a:t>
            </a:r>
          </a:p>
          <a:p>
            <a:endParaRPr lang="en-US" dirty="0"/>
          </a:p>
          <a:p>
            <a:r>
              <a:rPr lang="en-US" b="1" u="sng" dirty="0"/>
              <a:t>Pre-processing</a:t>
            </a:r>
          </a:p>
          <a:p>
            <a:endParaRPr lang="en-US" b="1" u="sng" dirty="0"/>
          </a:p>
          <a:p>
            <a:pPr marL="342900" indent="-342900">
              <a:buFont typeface="Arial" panose="020B0604020202020204" pitchFamily="34" charset="0"/>
              <a:buChar char="•"/>
            </a:pPr>
            <a:r>
              <a:rPr lang="en-US" dirty="0"/>
              <a:t>Identified the cities name by using lookup table given in country description sheet and changing the inconsistent format.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Added the country for respective country code using V-lookup Function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Changed all the ‘average price for two’ currency into INR and then categorized them under Range in new column ‘</a:t>
            </a:r>
            <a:r>
              <a:rPr lang="en-US" dirty="0" err="1"/>
              <a:t>Average_Cost_in_INR</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 Extracted the opening year, month from ‘Date key opening’ using TEXT function</a:t>
            </a:r>
          </a:p>
          <a:p>
            <a:endParaRPr lang="en-US"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752612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18882-EE71-6720-99C9-8262F1DB1D1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72DAA68-61DB-30B1-34BB-2A64068FA6DC}"/>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Data Foundation for the Analysis</a:t>
            </a:r>
            <a:endParaRPr lang="en-IN" sz="2400" dirty="0">
              <a:latin typeface="+mj-lt"/>
            </a:endParaRPr>
          </a:p>
        </p:txBody>
      </p:sp>
      <p:sp>
        <p:nvSpPr>
          <p:cNvPr id="16" name="TextBox 15">
            <a:extLst>
              <a:ext uri="{FF2B5EF4-FFF2-40B4-BE49-F238E27FC236}">
                <a16:creationId xmlns:a16="http://schemas.microsoft.com/office/drawing/2014/main" id="{689D34F1-DD4E-234A-90C7-D2744445E74C}"/>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2" name="TextBox 1">
            <a:extLst>
              <a:ext uri="{FF2B5EF4-FFF2-40B4-BE49-F238E27FC236}">
                <a16:creationId xmlns:a16="http://schemas.microsoft.com/office/drawing/2014/main" id="{C0E2434A-F96A-04DA-2768-FCA1620312A6}"/>
              </a:ext>
            </a:extLst>
          </p:cNvPr>
          <p:cNvSpPr txBox="1"/>
          <p:nvPr/>
        </p:nvSpPr>
        <p:spPr>
          <a:xfrm>
            <a:off x="763793" y="1341134"/>
            <a:ext cx="10359615" cy="5909310"/>
          </a:xfrm>
          <a:prstGeom prst="rect">
            <a:avLst/>
          </a:prstGeom>
          <a:noFill/>
        </p:spPr>
        <p:txBody>
          <a:bodyPr wrap="square" rtlCol="0">
            <a:spAutoFit/>
          </a:bodyPr>
          <a:lstStyle/>
          <a:p>
            <a:r>
              <a:rPr lang="en-IN" b="1" u="sng" dirty="0">
                <a:latin typeface="+mj-lt"/>
              </a:rPr>
              <a:t>Dataset Relevance</a:t>
            </a:r>
            <a:endParaRPr lang="en-IN" u="sng" dirty="0">
              <a:latin typeface="+mj-lt"/>
            </a:endParaRPr>
          </a:p>
          <a:p>
            <a:endParaRPr lang="en-IN" b="1" u="sng" dirty="0"/>
          </a:p>
          <a:p>
            <a:pPr algn="just"/>
            <a:r>
              <a:rPr lang="en-IN" dirty="0"/>
              <a:t>The dataset provides detailed information about restaurants across multiple countries listed on the Zomato platform. It contains key attributes such as restaurant location, cuisines offered, pricing levels, ratings, and service features.</a:t>
            </a:r>
          </a:p>
          <a:p>
            <a:pPr algn="just"/>
            <a:r>
              <a:rPr lang="en-IN" dirty="0"/>
              <a:t>These variables allow for a comprehensive understanding of restaurant distribution, customer preferences, and service offerings across different markets.</a:t>
            </a:r>
          </a:p>
          <a:p>
            <a:endParaRPr lang="en-US" dirty="0"/>
          </a:p>
          <a:p>
            <a:r>
              <a:rPr lang="en-IN" b="1" u="sng" dirty="0">
                <a:latin typeface="+mj-lt"/>
              </a:rPr>
              <a:t>Key Focus Areas of the Analysis </a:t>
            </a:r>
          </a:p>
          <a:p>
            <a:endParaRPr lang="en-IN" b="1" u="sng" dirty="0"/>
          </a:p>
          <a:p>
            <a:r>
              <a:rPr lang="en-IN" dirty="0"/>
              <a:t>Based on the available data, the analysis focuses on the following aspects:</a:t>
            </a:r>
          </a:p>
          <a:p>
            <a:endParaRPr lang="en-IN" dirty="0"/>
          </a:p>
          <a:p>
            <a:pPr algn="just"/>
            <a:r>
              <a:rPr lang="en-IN" b="1" dirty="0"/>
              <a:t>🌍 Restaurant distribution across countries</a:t>
            </a:r>
            <a:r>
              <a:rPr lang="en-IN" dirty="0"/>
              <a:t> to understand geographic presence and market       	coverage.</a:t>
            </a:r>
          </a:p>
          <a:p>
            <a:pPr algn="just"/>
            <a:r>
              <a:rPr lang="en-IN" b="1" dirty="0"/>
              <a:t>🍜 Popular cuisines and food preferences</a:t>
            </a:r>
            <a:r>
              <a:rPr lang="en-IN" dirty="0"/>
              <a:t> to identify the most demanded food categories.</a:t>
            </a:r>
          </a:p>
          <a:p>
            <a:pPr algn="just"/>
            <a:r>
              <a:rPr lang="en-IN" b="1" dirty="0"/>
              <a:t>💰 Pricing patterns across markets</a:t>
            </a:r>
            <a:r>
              <a:rPr lang="en-IN" dirty="0"/>
              <a:t> to examine variations in dining costs.</a:t>
            </a:r>
          </a:p>
          <a:p>
            <a:pPr algn="just"/>
            <a:r>
              <a:rPr lang="en-IN" b="1" dirty="0"/>
              <a:t>📱Service features such as online delivery and table booking</a:t>
            </a:r>
            <a:r>
              <a:rPr lang="en-IN" dirty="0"/>
              <a:t> to evaluate the availability of digital 	dining services.</a:t>
            </a:r>
          </a:p>
          <a:p>
            <a:endParaRPr lang="en-IN" dirty="0"/>
          </a:p>
          <a:p>
            <a:endParaRPr lang="en-US" dirty="0"/>
          </a:p>
          <a:p>
            <a:endParaRPr lang="en-IN" dirty="0"/>
          </a:p>
        </p:txBody>
      </p:sp>
    </p:spTree>
    <p:extLst>
      <p:ext uri="{BB962C8B-B14F-4D97-AF65-F5344CB8AC3E}">
        <p14:creationId xmlns:p14="http://schemas.microsoft.com/office/powerpoint/2010/main" val="216717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0539-C353-EB88-4B65-85EE20D3AF3E}"/>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952F8D6-3869-29B5-CDB4-762558BA778D}"/>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Analytical Approach and Tools</a:t>
            </a:r>
            <a:endParaRPr lang="en-IN" sz="2400" dirty="0">
              <a:latin typeface="+mj-lt"/>
            </a:endParaRPr>
          </a:p>
        </p:txBody>
      </p:sp>
      <p:sp>
        <p:nvSpPr>
          <p:cNvPr id="16" name="TextBox 15">
            <a:extLst>
              <a:ext uri="{FF2B5EF4-FFF2-40B4-BE49-F238E27FC236}">
                <a16:creationId xmlns:a16="http://schemas.microsoft.com/office/drawing/2014/main" id="{7666227A-850F-8D46-74AA-13FFEEFFD2F2}"/>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2" name="TextBox 1">
            <a:extLst>
              <a:ext uri="{FF2B5EF4-FFF2-40B4-BE49-F238E27FC236}">
                <a16:creationId xmlns:a16="http://schemas.microsoft.com/office/drawing/2014/main" id="{9C3C399A-04AB-FAC8-AAB9-B17D208947E9}"/>
              </a:ext>
            </a:extLst>
          </p:cNvPr>
          <p:cNvSpPr txBox="1"/>
          <p:nvPr/>
        </p:nvSpPr>
        <p:spPr>
          <a:xfrm>
            <a:off x="725611" y="1710466"/>
            <a:ext cx="10359615" cy="4708981"/>
          </a:xfrm>
          <a:prstGeom prst="rect">
            <a:avLst/>
          </a:prstGeom>
          <a:noFill/>
        </p:spPr>
        <p:txBody>
          <a:bodyPr wrap="square" rtlCol="0">
            <a:spAutoFit/>
          </a:bodyPr>
          <a:lstStyle/>
          <a:p>
            <a:r>
              <a:rPr lang="en-US" sz="2000" b="1" dirty="0"/>
              <a:t>Data Cleaning:</a:t>
            </a:r>
            <a:r>
              <a:rPr lang="en-US" dirty="0"/>
              <a:t> Used Conditional Formatting, Removed missing data to ensure data accuracy</a:t>
            </a:r>
          </a:p>
          <a:p>
            <a:endParaRPr lang="en-US" dirty="0"/>
          </a:p>
          <a:p>
            <a:r>
              <a:rPr lang="en-US" sz="2000" b="1" dirty="0"/>
              <a:t>Data Enrichment:</a:t>
            </a:r>
            <a:r>
              <a:rPr lang="en-US" dirty="0"/>
              <a:t> Enhanced the dataset with additional variables using TEXT function, V-lookup to add few columns to better efficiently understand the data.</a:t>
            </a:r>
          </a:p>
          <a:p>
            <a:endParaRPr lang="en-US" dirty="0"/>
          </a:p>
          <a:p>
            <a:r>
              <a:rPr lang="en-US" sz="2000" b="1" dirty="0"/>
              <a:t>Descriptive Analysis:</a:t>
            </a:r>
            <a:r>
              <a:rPr lang="en-US" dirty="0"/>
              <a:t> Employed PIVOT TABLES for summarizing key metrics and understanding the country- wise, cuisines wise, price wise, rating wise data.</a:t>
            </a:r>
          </a:p>
          <a:p>
            <a:endParaRPr lang="en-US" dirty="0"/>
          </a:p>
          <a:p>
            <a:r>
              <a:rPr lang="en-US" sz="2000" b="1" dirty="0"/>
              <a:t>Customer Segmentation: </a:t>
            </a:r>
            <a:r>
              <a:rPr lang="en-US" dirty="0"/>
              <a:t>Applied sort and filter function for classifying on the basis of price and rating.</a:t>
            </a:r>
            <a:endParaRPr lang="en-US" b="1" dirty="0"/>
          </a:p>
          <a:p>
            <a:endParaRPr lang="en-US" dirty="0"/>
          </a:p>
          <a:p>
            <a:r>
              <a:rPr lang="en-IN" sz="2000" b="1" dirty="0"/>
              <a:t>Visualization:</a:t>
            </a:r>
            <a:r>
              <a:rPr lang="en-IN" dirty="0"/>
              <a:t> Created dynamic charts and dashboards for data representation, enabling interactive data  exploration</a:t>
            </a:r>
          </a:p>
          <a:p>
            <a:endParaRPr lang="en-IN" dirty="0"/>
          </a:p>
          <a:p>
            <a:endParaRPr lang="en-US" dirty="0"/>
          </a:p>
          <a:p>
            <a:endParaRPr lang="en-IN" dirty="0"/>
          </a:p>
        </p:txBody>
      </p:sp>
    </p:spTree>
    <p:extLst>
      <p:ext uri="{BB962C8B-B14F-4D97-AF65-F5344CB8AC3E}">
        <p14:creationId xmlns:p14="http://schemas.microsoft.com/office/powerpoint/2010/main" val="186650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8A08D-156D-EF5D-E9F2-E6F2746C76AA}"/>
              </a:ext>
            </a:extLst>
          </p:cNvPr>
          <p:cNvSpPr txBox="1"/>
          <p:nvPr/>
        </p:nvSpPr>
        <p:spPr>
          <a:xfrm>
            <a:off x="1839557" y="2818504"/>
            <a:ext cx="8251115" cy="769441"/>
          </a:xfrm>
          <a:prstGeom prst="rect">
            <a:avLst/>
          </a:prstGeom>
          <a:noFill/>
        </p:spPr>
        <p:txBody>
          <a:bodyPr wrap="square" rtlCol="0">
            <a:spAutoFit/>
          </a:bodyPr>
          <a:lstStyle/>
          <a:p>
            <a:pPr algn="ctr"/>
            <a:r>
              <a:rPr lang="en-IN" sz="4400" b="1" dirty="0">
                <a:latin typeface="+mj-lt"/>
              </a:rPr>
              <a:t>Key Metrics and Visualization</a:t>
            </a:r>
          </a:p>
        </p:txBody>
      </p:sp>
    </p:spTree>
    <p:extLst>
      <p:ext uri="{BB962C8B-B14F-4D97-AF65-F5344CB8AC3E}">
        <p14:creationId xmlns:p14="http://schemas.microsoft.com/office/powerpoint/2010/main" val="2479959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08FA3-F233-DF1F-6E31-4B6160AA68B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073A998-90E3-5D85-82F4-5E1EA17C7EB0}"/>
              </a:ext>
            </a:extLst>
          </p:cNvPr>
          <p:cNvSpPr txBox="1"/>
          <p:nvPr/>
        </p:nvSpPr>
        <p:spPr>
          <a:xfrm>
            <a:off x="675409" y="602673"/>
            <a:ext cx="10841182" cy="461665"/>
          </a:xfrm>
          <a:prstGeom prst="rect">
            <a:avLst/>
          </a:prstGeom>
          <a:noFill/>
        </p:spPr>
        <p:txBody>
          <a:bodyPr wrap="square" rtlCol="0">
            <a:spAutoFit/>
          </a:bodyPr>
          <a:lstStyle/>
          <a:p>
            <a:r>
              <a:rPr lang="en-IN" sz="2000" b="1" dirty="0">
                <a:latin typeface="+mj-lt"/>
              </a:rPr>
              <a:t>Restaurant Presence is </a:t>
            </a:r>
            <a:r>
              <a:rPr lang="en-IN" sz="2400" b="1" dirty="0">
                <a:latin typeface="+mj-lt"/>
              </a:rPr>
              <a:t>Highly</a:t>
            </a:r>
            <a:r>
              <a:rPr lang="en-IN" sz="2000" b="1" dirty="0">
                <a:latin typeface="+mj-lt"/>
              </a:rPr>
              <a:t> Concentrated in India, with limited penetration in Int. market</a:t>
            </a:r>
          </a:p>
        </p:txBody>
      </p:sp>
      <p:sp>
        <p:nvSpPr>
          <p:cNvPr id="16" name="TextBox 15">
            <a:extLst>
              <a:ext uri="{FF2B5EF4-FFF2-40B4-BE49-F238E27FC236}">
                <a16:creationId xmlns:a16="http://schemas.microsoft.com/office/drawing/2014/main" id="{96006E13-D741-A5DB-6F32-5C79A04741BC}"/>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graphicFrame>
        <p:nvGraphicFramePr>
          <p:cNvPr id="3" name="Chart 2">
            <a:extLst>
              <a:ext uri="{FF2B5EF4-FFF2-40B4-BE49-F238E27FC236}">
                <a16:creationId xmlns:a16="http://schemas.microsoft.com/office/drawing/2014/main" id="{0A46DB56-4C21-A51E-4F3C-771862750442}"/>
              </a:ext>
            </a:extLst>
          </p:cNvPr>
          <p:cNvGraphicFramePr>
            <a:graphicFrameLocks/>
          </p:cNvGraphicFramePr>
          <p:nvPr>
            <p:extLst>
              <p:ext uri="{D42A27DB-BD31-4B8C-83A1-F6EECF244321}">
                <p14:modId xmlns:p14="http://schemas.microsoft.com/office/powerpoint/2010/main" val="2696695491"/>
              </p:ext>
            </p:extLst>
          </p:nvPr>
        </p:nvGraphicFramePr>
        <p:xfrm>
          <a:off x="675409" y="1818042"/>
          <a:ext cx="5079403" cy="352850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D30EAF8-6545-033E-DB30-AACF28BD3F46}"/>
              </a:ext>
            </a:extLst>
          </p:cNvPr>
          <p:cNvSpPr txBox="1"/>
          <p:nvPr/>
        </p:nvSpPr>
        <p:spPr>
          <a:xfrm>
            <a:off x="6096000" y="2054711"/>
            <a:ext cx="5188772" cy="2585323"/>
          </a:xfrm>
          <a:prstGeom prst="rect">
            <a:avLst/>
          </a:prstGeom>
          <a:noFill/>
        </p:spPr>
        <p:txBody>
          <a:bodyPr wrap="square" rtlCol="0">
            <a:spAutoFit/>
          </a:bodyPr>
          <a:lstStyle/>
          <a:p>
            <a:pPr marL="285750" indent="-285750" algn="just">
              <a:buFont typeface="Arial" panose="020B0604020202020204" pitchFamily="34" charset="0"/>
              <a:buChar char="•"/>
            </a:pPr>
            <a:r>
              <a:rPr lang="en-IN" dirty="0"/>
              <a:t>India dominates the platform while USA is a distant second</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Other markets remain underpenetrated (UK, UAE, Brazil, South Africa)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Minimal presence in smaller markets (Canada, Qatar) </a:t>
            </a:r>
          </a:p>
          <a:p>
            <a:pPr algn="just"/>
            <a:endParaRPr lang="en-IN" dirty="0"/>
          </a:p>
        </p:txBody>
      </p:sp>
      <p:sp>
        <p:nvSpPr>
          <p:cNvPr id="6" name="TextBox 5">
            <a:extLst>
              <a:ext uri="{FF2B5EF4-FFF2-40B4-BE49-F238E27FC236}">
                <a16:creationId xmlns:a16="http://schemas.microsoft.com/office/drawing/2014/main" id="{6EFBE45A-D49D-9FC9-CB0D-3A4BF5DCCC5B}"/>
              </a:ext>
            </a:extLst>
          </p:cNvPr>
          <p:cNvSpPr txBox="1"/>
          <p:nvPr/>
        </p:nvSpPr>
        <p:spPr>
          <a:xfrm>
            <a:off x="1011219" y="5593976"/>
            <a:ext cx="10101430" cy="584775"/>
          </a:xfrm>
          <a:prstGeom prst="rect">
            <a:avLst/>
          </a:prstGeom>
          <a:solidFill>
            <a:schemeClr val="tx2">
              <a:lumMod val="25000"/>
              <a:lumOff val="75000"/>
            </a:schemeClr>
          </a:solidFill>
        </p:spPr>
        <p:txBody>
          <a:bodyPr wrap="square" rtlCol="0">
            <a:spAutoFit/>
          </a:bodyPr>
          <a:lstStyle/>
          <a:p>
            <a:r>
              <a:rPr lang="en-IN" sz="1600" dirty="0"/>
              <a:t>This distribution suggests that there is </a:t>
            </a:r>
            <a:r>
              <a:rPr lang="en-IN" sz="1600" b="1" dirty="0"/>
              <a:t>significant opportunity for expansion in underrepresented international markets</a:t>
            </a:r>
            <a:r>
              <a:rPr lang="en-IN" sz="1600" dirty="0"/>
              <a:t>.</a:t>
            </a:r>
          </a:p>
        </p:txBody>
      </p:sp>
    </p:spTree>
    <p:extLst>
      <p:ext uri="{BB962C8B-B14F-4D97-AF65-F5344CB8AC3E}">
        <p14:creationId xmlns:p14="http://schemas.microsoft.com/office/powerpoint/2010/main" val="3668082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55FD2-B31A-EA8B-0E9C-05332E8AAC59}"/>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88D3B4BA-909A-7CD2-1D3D-DD4B11096A83}"/>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Restaurant Listings Have Remained Consistent with signs of Recent Growth </a:t>
            </a:r>
            <a:endParaRPr lang="en-IN" sz="2400" dirty="0">
              <a:latin typeface="+mj-lt"/>
            </a:endParaRPr>
          </a:p>
        </p:txBody>
      </p:sp>
      <p:sp>
        <p:nvSpPr>
          <p:cNvPr id="16" name="TextBox 15">
            <a:extLst>
              <a:ext uri="{FF2B5EF4-FFF2-40B4-BE49-F238E27FC236}">
                <a16:creationId xmlns:a16="http://schemas.microsoft.com/office/drawing/2014/main" id="{ACDAE021-DEB8-F9A9-DF03-C350F6EB6B2E}"/>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5" name="TextBox 4">
            <a:extLst>
              <a:ext uri="{FF2B5EF4-FFF2-40B4-BE49-F238E27FC236}">
                <a16:creationId xmlns:a16="http://schemas.microsoft.com/office/drawing/2014/main" id="{FB4CC02D-03CE-1A32-AB36-1873E9AF37D3}"/>
              </a:ext>
            </a:extLst>
          </p:cNvPr>
          <p:cNvSpPr txBox="1"/>
          <p:nvPr/>
        </p:nvSpPr>
        <p:spPr>
          <a:xfrm>
            <a:off x="6096000" y="2173044"/>
            <a:ext cx="5188772"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9551 restaurants opened (2010–2018) indicating consistent platform onboarding</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Openings remain stable year-on-year indicating steady growth trajectory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Slight uptick in 2017–2018 indicating early signs of acceleration</a:t>
            </a:r>
            <a:endParaRPr lang="en-IN" dirty="0"/>
          </a:p>
        </p:txBody>
      </p:sp>
      <p:sp>
        <p:nvSpPr>
          <p:cNvPr id="6" name="TextBox 5">
            <a:extLst>
              <a:ext uri="{FF2B5EF4-FFF2-40B4-BE49-F238E27FC236}">
                <a16:creationId xmlns:a16="http://schemas.microsoft.com/office/drawing/2014/main" id="{0AD417C3-DAAF-75D9-222D-03C706F026EA}"/>
              </a:ext>
            </a:extLst>
          </p:cNvPr>
          <p:cNvSpPr txBox="1"/>
          <p:nvPr/>
        </p:nvSpPr>
        <p:spPr>
          <a:xfrm>
            <a:off x="1011219" y="5593976"/>
            <a:ext cx="10101430" cy="584775"/>
          </a:xfrm>
          <a:prstGeom prst="rect">
            <a:avLst/>
          </a:prstGeom>
          <a:solidFill>
            <a:schemeClr val="tx2">
              <a:lumMod val="25000"/>
              <a:lumOff val="75000"/>
            </a:schemeClr>
          </a:solidFill>
        </p:spPr>
        <p:txBody>
          <a:bodyPr wrap="square" rtlCol="0">
            <a:spAutoFit/>
          </a:bodyPr>
          <a:lstStyle/>
          <a:p>
            <a:pPr algn="just"/>
            <a:r>
              <a:rPr lang="en-US" sz="1600" dirty="0"/>
              <a:t>Steady onboarding indicates consistent partner adoption, with recent uptick signaling </a:t>
            </a:r>
            <a:r>
              <a:rPr lang="en-US" sz="1600" b="1" dirty="0"/>
              <a:t>rising demand for online discovery and delivery services.</a:t>
            </a:r>
            <a:endParaRPr lang="en-IN" b="1" dirty="0"/>
          </a:p>
        </p:txBody>
      </p:sp>
      <p:graphicFrame>
        <p:nvGraphicFramePr>
          <p:cNvPr id="2" name="Chart 1">
            <a:extLst>
              <a:ext uri="{FF2B5EF4-FFF2-40B4-BE49-F238E27FC236}">
                <a16:creationId xmlns:a16="http://schemas.microsoft.com/office/drawing/2014/main" id="{77576CC8-D3F7-4345-8514-7C7AC4C78C0A}"/>
              </a:ext>
            </a:extLst>
          </p:cNvPr>
          <p:cNvGraphicFramePr>
            <a:graphicFrameLocks/>
          </p:cNvGraphicFramePr>
          <p:nvPr>
            <p:extLst>
              <p:ext uri="{D42A27DB-BD31-4B8C-83A1-F6EECF244321}">
                <p14:modId xmlns:p14="http://schemas.microsoft.com/office/powerpoint/2010/main" val="948774146"/>
              </p:ext>
            </p:extLst>
          </p:nvPr>
        </p:nvGraphicFramePr>
        <p:xfrm>
          <a:off x="675409" y="1894272"/>
          <a:ext cx="5022558" cy="30542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6213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C0C2-5917-ED47-490E-97C51D6B7ACB}"/>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374E6988-C56D-0CF1-D250-A7DA0AB5D566}"/>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Customer Engagement Varies Significantly Across Markets, led by Indonesia</a:t>
            </a:r>
            <a:endParaRPr lang="en-IN" sz="2400" dirty="0">
              <a:latin typeface="+mj-lt"/>
            </a:endParaRPr>
          </a:p>
        </p:txBody>
      </p:sp>
      <p:sp>
        <p:nvSpPr>
          <p:cNvPr id="16" name="TextBox 15">
            <a:extLst>
              <a:ext uri="{FF2B5EF4-FFF2-40B4-BE49-F238E27FC236}">
                <a16:creationId xmlns:a16="http://schemas.microsoft.com/office/drawing/2014/main" id="{51831FF1-5033-DF7A-6043-ADC5A7D25C73}"/>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5" name="TextBox 4">
            <a:extLst>
              <a:ext uri="{FF2B5EF4-FFF2-40B4-BE49-F238E27FC236}">
                <a16:creationId xmlns:a16="http://schemas.microsoft.com/office/drawing/2014/main" id="{F0251A0B-3F30-49F3-6F1F-A7091E20B01F}"/>
              </a:ext>
            </a:extLst>
          </p:cNvPr>
          <p:cNvSpPr txBox="1"/>
          <p:nvPr/>
        </p:nvSpPr>
        <p:spPr>
          <a:xfrm>
            <a:off x="6410782" y="1699369"/>
            <a:ext cx="5091953" cy="3693319"/>
          </a:xfrm>
          <a:prstGeom prst="rect">
            <a:avLst/>
          </a:prstGeom>
          <a:noFill/>
        </p:spPr>
        <p:txBody>
          <a:bodyPr wrap="square" rtlCol="0">
            <a:spAutoFit/>
          </a:bodyPr>
          <a:lstStyle/>
          <a:p>
            <a:pPr marL="285750" indent="-285750" algn="just">
              <a:buFont typeface="Arial" panose="020B0604020202020204" pitchFamily="34" charset="0"/>
              <a:buChar char="•"/>
            </a:pPr>
            <a:r>
              <a:rPr lang="en-IN" dirty="0"/>
              <a:t>Indonesia leads in customer engagement</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Strong participation in the United Arab Emirates, Turkey, United States, and Philippines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Low engagement in Brazil and Singapore  show very low average voting activity</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Engagement is highly skewed, driven by few key markets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p:txBody>
      </p:sp>
      <p:graphicFrame>
        <p:nvGraphicFramePr>
          <p:cNvPr id="3" name="Chart 2">
            <a:extLst>
              <a:ext uri="{FF2B5EF4-FFF2-40B4-BE49-F238E27FC236}">
                <a16:creationId xmlns:a16="http://schemas.microsoft.com/office/drawing/2014/main" id="{1EA22DB8-6141-9F86-6ECF-A72C8EFDDAED}"/>
              </a:ext>
            </a:extLst>
          </p:cNvPr>
          <p:cNvGraphicFramePr>
            <a:graphicFrameLocks/>
          </p:cNvGraphicFramePr>
          <p:nvPr>
            <p:extLst>
              <p:ext uri="{D42A27DB-BD31-4B8C-83A1-F6EECF244321}">
                <p14:modId xmlns:p14="http://schemas.microsoft.com/office/powerpoint/2010/main" val="1130044111"/>
              </p:ext>
            </p:extLst>
          </p:nvPr>
        </p:nvGraphicFramePr>
        <p:xfrm>
          <a:off x="581810" y="1613134"/>
          <a:ext cx="5743686" cy="349674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D2C5FA30-648E-DAF1-75AC-8F9433D5077C}"/>
              </a:ext>
            </a:extLst>
          </p:cNvPr>
          <p:cNvSpPr txBox="1"/>
          <p:nvPr/>
        </p:nvSpPr>
        <p:spPr>
          <a:xfrm>
            <a:off x="793498" y="5514730"/>
            <a:ext cx="10827326" cy="584775"/>
          </a:xfrm>
          <a:prstGeom prst="rect">
            <a:avLst/>
          </a:prstGeom>
          <a:solidFill>
            <a:schemeClr val="tx2">
              <a:lumMod val="25000"/>
              <a:lumOff val="75000"/>
            </a:schemeClr>
          </a:solidFill>
        </p:spPr>
        <p:txBody>
          <a:bodyPr wrap="square" rtlCol="0">
            <a:spAutoFit/>
          </a:bodyPr>
          <a:lstStyle/>
          <a:p>
            <a:pPr algn="just"/>
            <a:r>
              <a:rPr lang="en-US" sz="1600" dirty="0"/>
              <a:t>User engagement varies significantly across markets, with clear opportunities to </a:t>
            </a:r>
            <a:r>
              <a:rPr lang="en-US" sz="1600" b="1" dirty="0"/>
              <a:t>improve awareness, incentives, and restaurant visibility </a:t>
            </a:r>
            <a:r>
              <a:rPr lang="en-US" sz="1600" dirty="0"/>
              <a:t>in low-participation regions.</a:t>
            </a:r>
          </a:p>
        </p:txBody>
      </p:sp>
    </p:spTree>
    <p:extLst>
      <p:ext uri="{BB962C8B-B14F-4D97-AF65-F5344CB8AC3E}">
        <p14:creationId xmlns:p14="http://schemas.microsoft.com/office/powerpoint/2010/main" val="1340722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C38E-A30E-2187-AA20-371C781E6F4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BA52DAE0-E9E7-7793-11D4-19AFB75163F9}"/>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Methodology to Identify Expansion Markets</a:t>
            </a:r>
          </a:p>
        </p:txBody>
      </p:sp>
      <p:sp>
        <p:nvSpPr>
          <p:cNvPr id="16" name="TextBox 15">
            <a:extLst>
              <a:ext uri="{FF2B5EF4-FFF2-40B4-BE49-F238E27FC236}">
                <a16:creationId xmlns:a16="http://schemas.microsoft.com/office/drawing/2014/main" id="{AE807DE8-7ACF-6344-FA41-A0C45BF4F483}"/>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D08BCF83-0E7C-61F5-336C-33A91CD0556B}"/>
              </a:ext>
            </a:extLst>
          </p:cNvPr>
          <p:cNvSpPr txBox="1"/>
          <p:nvPr/>
        </p:nvSpPr>
        <p:spPr>
          <a:xfrm>
            <a:off x="689265" y="1335687"/>
            <a:ext cx="10584749" cy="369332"/>
          </a:xfrm>
          <a:prstGeom prst="rect">
            <a:avLst/>
          </a:prstGeom>
          <a:noFill/>
        </p:spPr>
        <p:txBody>
          <a:bodyPr wrap="square" rtlCol="0">
            <a:spAutoFit/>
          </a:bodyPr>
          <a:lstStyle/>
          <a:p>
            <a:r>
              <a:rPr lang="en-IN" b="1" u="sng" dirty="0">
                <a:latin typeface="+mj-lt"/>
              </a:rPr>
              <a:t>Identifying Potential Markets for Restaurant Expansion</a:t>
            </a:r>
          </a:p>
        </p:txBody>
      </p:sp>
      <p:sp>
        <p:nvSpPr>
          <p:cNvPr id="4" name="TextBox 3">
            <a:extLst>
              <a:ext uri="{FF2B5EF4-FFF2-40B4-BE49-F238E27FC236}">
                <a16:creationId xmlns:a16="http://schemas.microsoft.com/office/drawing/2014/main" id="{DF12D642-37B0-F380-DE63-76355D402D03}"/>
              </a:ext>
            </a:extLst>
          </p:cNvPr>
          <p:cNvSpPr txBox="1"/>
          <p:nvPr/>
        </p:nvSpPr>
        <p:spPr>
          <a:xfrm>
            <a:off x="689263" y="1936932"/>
            <a:ext cx="5406735" cy="369332"/>
          </a:xfrm>
          <a:prstGeom prst="rect">
            <a:avLst/>
          </a:prstGeom>
          <a:noFill/>
        </p:spPr>
        <p:txBody>
          <a:bodyPr wrap="square" rtlCol="0">
            <a:spAutoFit/>
          </a:bodyPr>
          <a:lstStyle/>
          <a:p>
            <a:r>
              <a:rPr lang="en-IN" b="1" i="1" dirty="0"/>
              <a:t>Key Metrics Considered</a:t>
            </a:r>
          </a:p>
        </p:txBody>
      </p:sp>
      <p:graphicFrame>
        <p:nvGraphicFramePr>
          <p:cNvPr id="7" name="Table 6">
            <a:extLst>
              <a:ext uri="{FF2B5EF4-FFF2-40B4-BE49-F238E27FC236}">
                <a16:creationId xmlns:a16="http://schemas.microsoft.com/office/drawing/2014/main" id="{4082E725-F9CE-F523-0FCD-5FBC30771143}"/>
              </a:ext>
            </a:extLst>
          </p:cNvPr>
          <p:cNvGraphicFramePr>
            <a:graphicFrameLocks noGrp="1"/>
          </p:cNvGraphicFramePr>
          <p:nvPr>
            <p:extLst>
              <p:ext uri="{D42A27DB-BD31-4B8C-83A1-F6EECF244321}">
                <p14:modId xmlns:p14="http://schemas.microsoft.com/office/powerpoint/2010/main" val="3081833900"/>
              </p:ext>
            </p:extLst>
          </p:nvPr>
        </p:nvGraphicFramePr>
        <p:xfrm>
          <a:off x="789281" y="2562549"/>
          <a:ext cx="5206701" cy="1868244"/>
        </p:xfrm>
        <a:graphic>
          <a:graphicData uri="http://schemas.openxmlformats.org/drawingml/2006/table">
            <a:tbl>
              <a:tblPr firstRow="1" bandRow="1">
                <a:tableStyleId>{5C22544A-7EE6-4342-B048-85BDC9FD1C3A}</a:tableStyleId>
              </a:tblPr>
              <a:tblGrid>
                <a:gridCol w="1812484">
                  <a:extLst>
                    <a:ext uri="{9D8B030D-6E8A-4147-A177-3AD203B41FA5}">
                      <a16:colId xmlns:a16="http://schemas.microsoft.com/office/drawing/2014/main" val="2761431802"/>
                    </a:ext>
                  </a:extLst>
                </a:gridCol>
                <a:gridCol w="3394217">
                  <a:extLst>
                    <a:ext uri="{9D8B030D-6E8A-4147-A177-3AD203B41FA5}">
                      <a16:colId xmlns:a16="http://schemas.microsoft.com/office/drawing/2014/main" val="3695989598"/>
                    </a:ext>
                  </a:extLst>
                </a:gridCol>
              </a:tblGrid>
              <a:tr h="355002">
                <a:tc>
                  <a:txBody>
                    <a:bodyPr/>
                    <a:lstStyle/>
                    <a:p>
                      <a:r>
                        <a:rPr lang="en-IN" sz="1600" dirty="0"/>
                        <a:t>Metric</a:t>
                      </a:r>
                    </a:p>
                  </a:txBody>
                  <a:tcPr/>
                </a:tc>
                <a:tc>
                  <a:txBody>
                    <a:bodyPr/>
                    <a:lstStyle/>
                    <a:p>
                      <a:r>
                        <a:rPr lang="en-IN" sz="1600" dirty="0"/>
                        <a:t>Purpose</a:t>
                      </a:r>
                    </a:p>
                  </a:txBody>
                  <a:tcPr/>
                </a:tc>
                <a:extLst>
                  <a:ext uri="{0D108BD9-81ED-4DB2-BD59-A6C34878D82A}">
                    <a16:rowId xmlns:a16="http://schemas.microsoft.com/office/drawing/2014/main" val="3322548049"/>
                  </a:ext>
                </a:extLst>
              </a:tr>
              <a:tr h="355002">
                <a:tc>
                  <a:txBody>
                    <a:bodyPr/>
                    <a:lstStyle/>
                    <a:p>
                      <a:r>
                        <a:rPr lang="en-IN" sz="1600" b="0" kern="1200" dirty="0">
                          <a:solidFill>
                            <a:schemeClr val="dk1"/>
                          </a:solidFill>
                          <a:effectLst/>
                          <a:latin typeface="+mn-lt"/>
                          <a:ea typeface="+mn-ea"/>
                          <a:cs typeface="+mn-cs"/>
                        </a:rPr>
                        <a:t>Number of Restaurants</a:t>
                      </a:r>
                      <a:endParaRPr lang="en-IN" sz="1600" b="0" dirty="0"/>
                    </a:p>
                  </a:txBody>
                  <a:tcPr/>
                </a:tc>
                <a:tc>
                  <a:txBody>
                    <a:bodyPr/>
                    <a:lstStyle/>
                    <a:p>
                      <a:pPr algn="l">
                        <a:lnSpc>
                          <a:spcPct val="115000"/>
                        </a:lnSpc>
                        <a:spcAft>
                          <a:spcPts val="800"/>
                        </a:spcAft>
                        <a:buNone/>
                      </a:pPr>
                      <a:r>
                        <a:rPr lang="en-IN" sz="1600" kern="100" dirty="0">
                          <a:effectLst/>
                          <a:latin typeface="+mn-lt"/>
                          <a:ea typeface="Aptos" panose="020B0004020202020204" pitchFamily="34" charset="0"/>
                          <a:cs typeface="Times New Roman" panose="02020603050405020304" pitchFamily="18" charset="0"/>
                        </a:rPr>
                        <a:t> Indicates market competition in each country</a:t>
                      </a:r>
                    </a:p>
                  </a:txBody>
                  <a:tcPr marL="9525" marR="9525" marT="9525" marB="9525" anchor="ctr"/>
                </a:tc>
                <a:extLst>
                  <a:ext uri="{0D108BD9-81ED-4DB2-BD59-A6C34878D82A}">
                    <a16:rowId xmlns:a16="http://schemas.microsoft.com/office/drawing/2014/main" val="3531252482"/>
                  </a:ext>
                </a:extLst>
              </a:tr>
              <a:tr h="355002">
                <a:tc>
                  <a:txBody>
                    <a:bodyPr/>
                    <a:lstStyle/>
                    <a:p>
                      <a:r>
                        <a:rPr lang="en-IN" sz="1600" dirty="0"/>
                        <a:t>Average Rating</a:t>
                      </a:r>
                    </a:p>
                  </a:txBody>
                  <a:tcPr/>
                </a:tc>
                <a:tc>
                  <a:txBody>
                    <a:bodyPr/>
                    <a:lstStyle/>
                    <a:p>
                      <a:pPr algn="l"/>
                      <a:r>
                        <a:rPr lang="en-IN" sz="1600" dirty="0"/>
                        <a:t>Reflects customer satisfaction </a:t>
                      </a:r>
                    </a:p>
                  </a:txBody>
                  <a:tcPr/>
                </a:tc>
                <a:extLst>
                  <a:ext uri="{0D108BD9-81ED-4DB2-BD59-A6C34878D82A}">
                    <a16:rowId xmlns:a16="http://schemas.microsoft.com/office/drawing/2014/main" val="3983485578"/>
                  </a:ext>
                </a:extLst>
              </a:tr>
              <a:tr h="355002">
                <a:tc>
                  <a:txBody>
                    <a:bodyPr/>
                    <a:lstStyle/>
                    <a:p>
                      <a:r>
                        <a:rPr lang="en-IN" sz="1600" dirty="0"/>
                        <a:t>Average Cost for Two</a:t>
                      </a:r>
                    </a:p>
                  </a:txBody>
                  <a:tcPr/>
                </a:tc>
                <a:tc>
                  <a:txBody>
                    <a:bodyPr/>
                    <a:lstStyle/>
                    <a:p>
                      <a:r>
                        <a:rPr lang="en-IN" sz="1600" dirty="0"/>
                        <a:t>Indicates pricing levels and market positioning</a:t>
                      </a:r>
                    </a:p>
                  </a:txBody>
                  <a:tcPr/>
                </a:tc>
                <a:extLst>
                  <a:ext uri="{0D108BD9-81ED-4DB2-BD59-A6C34878D82A}">
                    <a16:rowId xmlns:a16="http://schemas.microsoft.com/office/drawing/2014/main" val="3511364972"/>
                  </a:ext>
                </a:extLst>
              </a:tr>
            </a:tbl>
          </a:graphicData>
        </a:graphic>
      </p:graphicFrame>
      <p:sp>
        <p:nvSpPr>
          <p:cNvPr id="9" name="TextBox 8">
            <a:extLst>
              <a:ext uri="{FF2B5EF4-FFF2-40B4-BE49-F238E27FC236}">
                <a16:creationId xmlns:a16="http://schemas.microsoft.com/office/drawing/2014/main" id="{DD55F68D-44BB-AD6C-B553-B9ECD920C127}"/>
              </a:ext>
            </a:extLst>
          </p:cNvPr>
          <p:cNvSpPr txBox="1"/>
          <p:nvPr/>
        </p:nvSpPr>
        <p:spPr>
          <a:xfrm>
            <a:off x="6607518" y="1936932"/>
            <a:ext cx="4799174" cy="2862322"/>
          </a:xfrm>
          <a:prstGeom prst="rect">
            <a:avLst/>
          </a:prstGeom>
          <a:noFill/>
        </p:spPr>
        <p:txBody>
          <a:bodyPr wrap="square" rtlCol="0">
            <a:spAutoFit/>
          </a:bodyPr>
          <a:lstStyle/>
          <a:p>
            <a:r>
              <a:rPr lang="en-IN" b="1" i="1" dirty="0"/>
              <a:t>Analytical Logic</a:t>
            </a:r>
          </a:p>
          <a:p>
            <a:endParaRPr lang="en-IN" i="1" dirty="0"/>
          </a:p>
          <a:p>
            <a:pPr algn="just"/>
            <a:r>
              <a:rPr lang="en-IN" dirty="0"/>
              <a:t>• </a:t>
            </a:r>
            <a:r>
              <a:rPr lang="en-IN" b="1" dirty="0"/>
              <a:t>Lower restaurant count</a:t>
            </a:r>
            <a:r>
              <a:rPr lang="en-IN" dirty="0"/>
              <a:t> - indicates lower market saturation </a:t>
            </a:r>
          </a:p>
          <a:p>
            <a:pPr algn="just"/>
            <a:br>
              <a:rPr lang="en-IN" dirty="0"/>
            </a:br>
            <a:r>
              <a:rPr lang="en-IN" dirty="0"/>
              <a:t>• </a:t>
            </a:r>
            <a:r>
              <a:rPr lang="en-IN" b="1" dirty="0"/>
              <a:t>Higher average rating</a:t>
            </a:r>
            <a:r>
              <a:rPr lang="en-IN" dirty="0"/>
              <a:t> - suggests strong customer satisfaction and potential demand</a:t>
            </a:r>
          </a:p>
          <a:p>
            <a:pPr algn="just"/>
            <a:br>
              <a:rPr lang="en-IN" dirty="0"/>
            </a:br>
            <a:r>
              <a:rPr lang="en-IN" dirty="0"/>
              <a:t>• </a:t>
            </a:r>
            <a:r>
              <a:rPr lang="en-IN" b="1" dirty="0"/>
              <a:t>Cost levels</a:t>
            </a:r>
            <a:r>
              <a:rPr lang="en-IN" dirty="0"/>
              <a:t> - help identify market positioning (</a:t>
            </a:r>
            <a:r>
              <a:rPr lang="en-IN" b="1" dirty="0"/>
              <a:t>premium or budget oriented)</a:t>
            </a:r>
            <a:endParaRPr lang="en-IN" dirty="0"/>
          </a:p>
        </p:txBody>
      </p:sp>
      <p:sp>
        <p:nvSpPr>
          <p:cNvPr id="10" name="TextBox 9">
            <a:extLst>
              <a:ext uri="{FF2B5EF4-FFF2-40B4-BE49-F238E27FC236}">
                <a16:creationId xmlns:a16="http://schemas.microsoft.com/office/drawing/2014/main" id="{82E826FF-2565-02B0-139E-E987A177E039}"/>
              </a:ext>
            </a:extLst>
          </p:cNvPr>
          <p:cNvSpPr txBox="1"/>
          <p:nvPr/>
        </p:nvSpPr>
        <p:spPr>
          <a:xfrm>
            <a:off x="785308" y="5400499"/>
            <a:ext cx="10621384" cy="584775"/>
          </a:xfrm>
          <a:prstGeom prst="rect">
            <a:avLst/>
          </a:prstGeom>
          <a:solidFill>
            <a:schemeClr val="tx2">
              <a:lumMod val="25000"/>
              <a:lumOff val="75000"/>
            </a:schemeClr>
          </a:solidFill>
        </p:spPr>
        <p:txBody>
          <a:bodyPr wrap="square" rtlCol="0">
            <a:spAutoFit/>
          </a:bodyPr>
          <a:lstStyle/>
          <a:p>
            <a:r>
              <a:rPr lang="en-IN" sz="1600" b="1" i="1" dirty="0"/>
              <a:t>Key Assumption</a:t>
            </a:r>
          </a:p>
          <a:p>
            <a:r>
              <a:rPr lang="en-US" sz="1600" dirty="0"/>
              <a:t>Low competition + high ratings + viable pricing = strong expansion potential</a:t>
            </a:r>
          </a:p>
        </p:txBody>
      </p:sp>
    </p:spTree>
    <p:extLst>
      <p:ext uri="{BB962C8B-B14F-4D97-AF65-F5344CB8AC3E}">
        <p14:creationId xmlns:p14="http://schemas.microsoft.com/office/powerpoint/2010/main" val="3577357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F5F75-98EB-223D-0EAE-192ECAE29CFA}"/>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BA2103E4-59FD-8EB1-9EE7-0B8859BD415E}"/>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Market Opportunity Analysis</a:t>
            </a:r>
          </a:p>
        </p:txBody>
      </p:sp>
      <p:sp>
        <p:nvSpPr>
          <p:cNvPr id="16" name="TextBox 15">
            <a:extLst>
              <a:ext uri="{FF2B5EF4-FFF2-40B4-BE49-F238E27FC236}">
                <a16:creationId xmlns:a16="http://schemas.microsoft.com/office/drawing/2014/main" id="{5B8B58BB-727E-9727-F2E2-862F1A1A956C}"/>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482BD173-17C6-5C85-0587-1B5131163B12}"/>
              </a:ext>
            </a:extLst>
          </p:cNvPr>
          <p:cNvSpPr txBox="1"/>
          <p:nvPr/>
        </p:nvSpPr>
        <p:spPr>
          <a:xfrm>
            <a:off x="689265" y="1335687"/>
            <a:ext cx="10584749" cy="646331"/>
          </a:xfrm>
          <a:prstGeom prst="rect">
            <a:avLst/>
          </a:prstGeom>
          <a:noFill/>
        </p:spPr>
        <p:txBody>
          <a:bodyPr wrap="square" rtlCol="0">
            <a:spAutoFit/>
          </a:bodyPr>
          <a:lstStyle/>
          <a:p>
            <a:pPr algn="just"/>
            <a:r>
              <a:rPr lang="en-IN" b="1" u="sng" dirty="0"/>
              <a:t>Several International Markets Show Low Restaurant Density While Maintaining Strong Customer Ratings</a:t>
            </a:r>
          </a:p>
        </p:txBody>
      </p:sp>
      <p:graphicFrame>
        <p:nvGraphicFramePr>
          <p:cNvPr id="2" name="Chart 1">
            <a:extLst>
              <a:ext uri="{FF2B5EF4-FFF2-40B4-BE49-F238E27FC236}">
                <a16:creationId xmlns:a16="http://schemas.microsoft.com/office/drawing/2014/main" id="{096A3174-43AC-7F7A-705C-AB4B0065397F}"/>
              </a:ext>
            </a:extLst>
          </p:cNvPr>
          <p:cNvGraphicFramePr>
            <a:graphicFrameLocks/>
          </p:cNvGraphicFramePr>
          <p:nvPr>
            <p:extLst>
              <p:ext uri="{D42A27DB-BD31-4B8C-83A1-F6EECF244321}">
                <p14:modId xmlns:p14="http://schemas.microsoft.com/office/powerpoint/2010/main" val="1282097324"/>
              </p:ext>
            </p:extLst>
          </p:nvPr>
        </p:nvGraphicFramePr>
        <p:xfrm>
          <a:off x="796066" y="2057399"/>
          <a:ext cx="10477947" cy="4197928"/>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03EE46D6-62AA-F188-01B3-0E3DF62D3E02}"/>
              </a:ext>
            </a:extLst>
          </p:cNvPr>
          <p:cNvSpPr txBox="1"/>
          <p:nvPr/>
        </p:nvSpPr>
        <p:spPr>
          <a:xfrm>
            <a:off x="796066" y="2474259"/>
            <a:ext cx="2022438" cy="1600438"/>
          </a:xfrm>
          <a:prstGeom prst="rect">
            <a:avLst/>
          </a:prstGeom>
          <a:solidFill>
            <a:schemeClr val="tx2">
              <a:lumMod val="25000"/>
              <a:lumOff val="75000"/>
            </a:schemeClr>
          </a:solidFill>
        </p:spPr>
        <p:txBody>
          <a:bodyPr wrap="square" rtlCol="0">
            <a:spAutoFit/>
          </a:bodyPr>
          <a:lstStyle/>
          <a:p>
            <a:r>
              <a:rPr lang="en-IN" sz="1400" dirty="0"/>
              <a:t>Countries marked with </a:t>
            </a:r>
          </a:p>
          <a:p>
            <a:r>
              <a:rPr lang="en-IN" sz="1400" dirty="0"/>
              <a:t>        have very low Restaurant count,</a:t>
            </a:r>
          </a:p>
          <a:p>
            <a:r>
              <a:rPr lang="en-IN" sz="1400" dirty="0"/>
              <a:t>yet maintains strong average ratings, and also shows higher average cost levels</a:t>
            </a:r>
          </a:p>
        </p:txBody>
      </p:sp>
      <p:sp>
        <p:nvSpPr>
          <p:cNvPr id="17" name="Star: 5 Points 16">
            <a:extLst>
              <a:ext uri="{FF2B5EF4-FFF2-40B4-BE49-F238E27FC236}">
                <a16:creationId xmlns:a16="http://schemas.microsoft.com/office/drawing/2014/main" id="{40ECEC2E-EA63-8FEE-87BD-D317A31E9CBA}"/>
              </a:ext>
            </a:extLst>
          </p:cNvPr>
          <p:cNvSpPr/>
          <p:nvPr/>
        </p:nvSpPr>
        <p:spPr>
          <a:xfrm>
            <a:off x="917987" y="2769774"/>
            <a:ext cx="204395" cy="201706"/>
          </a:xfrm>
          <a:prstGeom prst="star5">
            <a:avLst/>
          </a:prstGeom>
        </p:spPr>
        <p:style>
          <a:lnRef idx="2">
            <a:schemeClr val="dk1">
              <a:shade val="15000"/>
            </a:schemeClr>
          </a:lnRef>
          <a:fillRef idx="1">
            <a:schemeClr val="dk1"/>
          </a:fillRef>
          <a:effectRef idx="0">
            <a:schemeClr val="dk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IN" kern="1200"/>
          </a:p>
        </p:txBody>
      </p:sp>
    </p:spTree>
    <p:extLst>
      <p:ext uri="{BB962C8B-B14F-4D97-AF65-F5344CB8AC3E}">
        <p14:creationId xmlns:p14="http://schemas.microsoft.com/office/powerpoint/2010/main" val="3220934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C80E1-6424-862C-AF90-B728E646E9EE}"/>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6D86566-15FD-1975-F0EC-912750631489}"/>
              </a:ext>
            </a:extLst>
          </p:cNvPr>
          <p:cNvSpPr txBox="1"/>
          <p:nvPr/>
        </p:nvSpPr>
        <p:spPr>
          <a:xfrm>
            <a:off x="675409" y="602673"/>
            <a:ext cx="10841182" cy="461665"/>
          </a:xfrm>
          <a:prstGeom prst="rect">
            <a:avLst/>
          </a:prstGeom>
          <a:noFill/>
        </p:spPr>
        <p:txBody>
          <a:bodyPr wrap="square" rtlCol="0">
            <a:spAutoFit/>
          </a:bodyPr>
          <a:lstStyle/>
          <a:p>
            <a:pPr algn="just"/>
            <a:r>
              <a:rPr lang="en-US" sz="2400" b="1" dirty="0">
                <a:latin typeface="+mj-lt"/>
              </a:rPr>
              <a:t>Recommended Countries for New Restaurant Expansion</a:t>
            </a:r>
            <a:endParaRPr lang="en-IN" sz="2400" b="1" dirty="0">
              <a:latin typeface="+mj-lt"/>
            </a:endParaRPr>
          </a:p>
        </p:txBody>
      </p:sp>
      <p:sp>
        <p:nvSpPr>
          <p:cNvPr id="16" name="TextBox 15">
            <a:extLst>
              <a:ext uri="{FF2B5EF4-FFF2-40B4-BE49-F238E27FC236}">
                <a16:creationId xmlns:a16="http://schemas.microsoft.com/office/drawing/2014/main" id="{AABB3AC6-9126-9B3F-A5B7-07722CF20457}"/>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201347AE-2F92-2727-CA27-6EC8E08F028F}"/>
              </a:ext>
            </a:extLst>
          </p:cNvPr>
          <p:cNvSpPr txBox="1"/>
          <p:nvPr/>
        </p:nvSpPr>
        <p:spPr>
          <a:xfrm>
            <a:off x="689265" y="1335687"/>
            <a:ext cx="10584749" cy="369332"/>
          </a:xfrm>
          <a:prstGeom prst="rect">
            <a:avLst/>
          </a:prstGeom>
          <a:noFill/>
        </p:spPr>
        <p:txBody>
          <a:bodyPr wrap="square" rtlCol="0">
            <a:spAutoFit/>
          </a:bodyPr>
          <a:lstStyle/>
          <a:p>
            <a:pPr algn="just"/>
            <a:r>
              <a:rPr lang="en-IN" b="1" u="sng" dirty="0"/>
              <a:t>Low Competition Markets with Strong Ratings Present Expansion Opportunities</a:t>
            </a:r>
            <a:endParaRPr lang="en-IN" b="1" u="sng" dirty="0">
              <a:latin typeface="+mj-lt"/>
            </a:endParaRPr>
          </a:p>
        </p:txBody>
      </p:sp>
      <p:sp>
        <p:nvSpPr>
          <p:cNvPr id="5" name="TextBox 4">
            <a:extLst>
              <a:ext uri="{FF2B5EF4-FFF2-40B4-BE49-F238E27FC236}">
                <a16:creationId xmlns:a16="http://schemas.microsoft.com/office/drawing/2014/main" id="{1EA12067-17B7-7A38-6BD4-2604F5EC2943}"/>
              </a:ext>
            </a:extLst>
          </p:cNvPr>
          <p:cNvSpPr txBox="1"/>
          <p:nvPr/>
        </p:nvSpPr>
        <p:spPr>
          <a:xfrm>
            <a:off x="675409" y="1976368"/>
            <a:ext cx="10584749" cy="2308324"/>
          </a:xfrm>
          <a:prstGeom prst="rect">
            <a:avLst/>
          </a:prstGeom>
          <a:noFill/>
        </p:spPr>
        <p:txBody>
          <a:bodyPr wrap="square" rtlCol="0">
            <a:spAutoFit/>
          </a:bodyPr>
          <a:lstStyle/>
          <a:p>
            <a:r>
              <a:rPr lang="en-US" dirty="0"/>
              <a:t>Focus expansion on:</a:t>
            </a:r>
          </a:p>
          <a:p>
            <a:endParaRPr lang="en-US" dirty="0"/>
          </a:p>
          <a:p>
            <a:pPr marL="342900" indent="-342900">
              <a:buFont typeface="+mj-lt"/>
              <a:buAutoNum type="arabicPeriod"/>
            </a:pPr>
            <a:r>
              <a:rPr lang="en-US" b="1" dirty="0"/>
              <a:t>Philippines</a:t>
            </a:r>
            <a:r>
              <a:rPr lang="en-US" dirty="0"/>
              <a:t> – Highest customer satisfaction with relatively low competition</a:t>
            </a:r>
          </a:p>
          <a:p>
            <a:pPr marL="342900" indent="-342900">
              <a:buFont typeface="+mj-lt"/>
              <a:buAutoNum type="arabicPeriod"/>
            </a:pPr>
            <a:r>
              <a:rPr lang="en-US" b="1" dirty="0"/>
              <a:t>Indonesia</a:t>
            </a:r>
            <a:r>
              <a:rPr lang="en-US" dirty="0"/>
              <a:t> – High ratings indicating strong customer acceptance</a:t>
            </a:r>
          </a:p>
          <a:p>
            <a:pPr marL="342900" indent="-342900">
              <a:buFont typeface="+mj-lt"/>
              <a:buAutoNum type="arabicPeriod"/>
            </a:pPr>
            <a:r>
              <a:rPr lang="en-US" b="1" dirty="0"/>
              <a:t>Sri Lanka</a:t>
            </a:r>
            <a:r>
              <a:rPr lang="en-US" dirty="0"/>
              <a:t> – Emerging market with limited competition</a:t>
            </a:r>
          </a:p>
          <a:p>
            <a:pPr marL="342900" indent="-342900">
              <a:buFont typeface="+mj-lt"/>
              <a:buAutoNum type="arabicPeriod"/>
            </a:pPr>
            <a:r>
              <a:rPr lang="en-US" b="1" dirty="0"/>
              <a:t>Qatar</a:t>
            </a:r>
            <a:r>
              <a:rPr lang="en-US" dirty="0"/>
              <a:t> – Low competition with strong potential for premium positioning</a:t>
            </a:r>
          </a:p>
          <a:p>
            <a:pPr marL="342900" indent="-342900">
              <a:buFont typeface="+mj-lt"/>
              <a:buAutoNum type="arabicPeriod"/>
            </a:pPr>
            <a:r>
              <a:rPr lang="en-US" b="1" dirty="0"/>
              <a:t>Turkey</a:t>
            </a:r>
            <a:r>
              <a:rPr lang="en-US" dirty="0"/>
              <a:t> – Moderate competition with high ratings; suitable for targeted expansion</a:t>
            </a:r>
          </a:p>
          <a:p>
            <a:endParaRPr lang="en-IN" dirty="0"/>
          </a:p>
        </p:txBody>
      </p:sp>
      <p:sp>
        <p:nvSpPr>
          <p:cNvPr id="6" name="TextBox 5">
            <a:extLst>
              <a:ext uri="{FF2B5EF4-FFF2-40B4-BE49-F238E27FC236}">
                <a16:creationId xmlns:a16="http://schemas.microsoft.com/office/drawing/2014/main" id="{D11CC410-882D-6416-64B7-CF6A472D1768}"/>
              </a:ext>
            </a:extLst>
          </p:cNvPr>
          <p:cNvSpPr txBox="1"/>
          <p:nvPr/>
        </p:nvSpPr>
        <p:spPr>
          <a:xfrm>
            <a:off x="849854" y="4572000"/>
            <a:ext cx="10424160" cy="338554"/>
          </a:xfrm>
          <a:prstGeom prst="rect">
            <a:avLst/>
          </a:prstGeom>
          <a:solidFill>
            <a:schemeClr val="tx2">
              <a:lumMod val="25000"/>
              <a:lumOff val="75000"/>
            </a:schemeClr>
          </a:solidFill>
        </p:spPr>
        <p:txBody>
          <a:bodyPr wrap="square" rtlCol="0">
            <a:spAutoFit/>
          </a:bodyPr>
          <a:lstStyle/>
          <a:p>
            <a:pPr algn="just"/>
            <a:r>
              <a:rPr lang="en-IN" sz="1600" dirty="0"/>
              <a:t>Prioritize</a:t>
            </a:r>
            <a:r>
              <a:rPr lang="en-IN" sz="1600" b="1" dirty="0"/>
              <a:t> </a:t>
            </a:r>
            <a:r>
              <a:rPr lang="en-IN" sz="1600" dirty="0"/>
              <a:t>partnerships in these countries to capture early market opportunities and support future demand growth.</a:t>
            </a:r>
          </a:p>
        </p:txBody>
      </p:sp>
    </p:spTree>
    <p:extLst>
      <p:ext uri="{BB962C8B-B14F-4D97-AF65-F5344CB8AC3E}">
        <p14:creationId xmlns:p14="http://schemas.microsoft.com/office/powerpoint/2010/main" val="3639860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9929A-8C0A-18EA-E154-C586B0723FE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575C6D1F-79B0-E416-D477-FEF9C54DA7CB}"/>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Identifying High-Potential Cities for Restaurant Expansion</a:t>
            </a:r>
          </a:p>
        </p:txBody>
      </p:sp>
      <p:sp>
        <p:nvSpPr>
          <p:cNvPr id="16" name="TextBox 15">
            <a:extLst>
              <a:ext uri="{FF2B5EF4-FFF2-40B4-BE49-F238E27FC236}">
                <a16:creationId xmlns:a16="http://schemas.microsoft.com/office/drawing/2014/main" id="{9F95DD26-BF4A-184C-9269-6641CF84CE8A}"/>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B67B874D-E2C5-92EB-A04E-8D814BF91FCB}"/>
              </a:ext>
            </a:extLst>
          </p:cNvPr>
          <p:cNvSpPr txBox="1"/>
          <p:nvPr/>
        </p:nvSpPr>
        <p:spPr>
          <a:xfrm>
            <a:off x="689265" y="1335687"/>
            <a:ext cx="10584749" cy="369332"/>
          </a:xfrm>
          <a:prstGeom prst="rect">
            <a:avLst/>
          </a:prstGeom>
          <a:noFill/>
        </p:spPr>
        <p:txBody>
          <a:bodyPr wrap="square" rtlCol="0">
            <a:spAutoFit/>
          </a:bodyPr>
          <a:lstStyle/>
          <a:p>
            <a:pPr algn="just"/>
            <a:r>
              <a:rPr lang="en-IN" b="1" u="sng" dirty="0"/>
              <a:t>City-Level Analysis Reveals Several High-Demand Markets with Limited Restaurant Presence</a:t>
            </a:r>
            <a:endParaRPr lang="en-IN" b="1" u="sng" dirty="0">
              <a:latin typeface="+mj-lt"/>
            </a:endParaRPr>
          </a:p>
        </p:txBody>
      </p:sp>
      <p:sp>
        <p:nvSpPr>
          <p:cNvPr id="4" name="TextBox 3">
            <a:extLst>
              <a:ext uri="{FF2B5EF4-FFF2-40B4-BE49-F238E27FC236}">
                <a16:creationId xmlns:a16="http://schemas.microsoft.com/office/drawing/2014/main" id="{8C19A304-7049-58D4-E51B-5A0043B8E127}"/>
              </a:ext>
            </a:extLst>
          </p:cNvPr>
          <p:cNvSpPr txBox="1"/>
          <p:nvPr/>
        </p:nvSpPr>
        <p:spPr>
          <a:xfrm>
            <a:off x="849854" y="1914861"/>
            <a:ext cx="5593977" cy="369332"/>
          </a:xfrm>
          <a:prstGeom prst="rect">
            <a:avLst/>
          </a:prstGeom>
          <a:noFill/>
        </p:spPr>
        <p:txBody>
          <a:bodyPr wrap="square" rtlCol="0">
            <a:spAutoFit/>
          </a:bodyPr>
          <a:lstStyle/>
          <a:p>
            <a:r>
              <a:rPr lang="en-IN" b="1" i="1" dirty="0"/>
              <a:t>Metrics used for city level evaluation:</a:t>
            </a:r>
          </a:p>
        </p:txBody>
      </p:sp>
      <p:graphicFrame>
        <p:nvGraphicFramePr>
          <p:cNvPr id="7" name="Table 6">
            <a:extLst>
              <a:ext uri="{FF2B5EF4-FFF2-40B4-BE49-F238E27FC236}">
                <a16:creationId xmlns:a16="http://schemas.microsoft.com/office/drawing/2014/main" id="{EAD0B033-CBD0-FA82-17FB-4DBA7B5B09E2}"/>
              </a:ext>
            </a:extLst>
          </p:cNvPr>
          <p:cNvGraphicFramePr>
            <a:graphicFrameLocks noGrp="1"/>
          </p:cNvGraphicFramePr>
          <p:nvPr>
            <p:extLst>
              <p:ext uri="{D42A27DB-BD31-4B8C-83A1-F6EECF244321}">
                <p14:modId xmlns:p14="http://schemas.microsoft.com/office/powerpoint/2010/main" val="1610257454"/>
              </p:ext>
            </p:extLst>
          </p:nvPr>
        </p:nvGraphicFramePr>
        <p:xfrm>
          <a:off x="849854" y="2365586"/>
          <a:ext cx="5034579" cy="2352040"/>
        </p:xfrm>
        <a:graphic>
          <a:graphicData uri="http://schemas.openxmlformats.org/drawingml/2006/table">
            <a:tbl>
              <a:tblPr firstRow="1" bandRow="1">
                <a:tableStyleId>{5C22544A-7EE6-4342-B048-85BDC9FD1C3A}</a:tableStyleId>
              </a:tblPr>
              <a:tblGrid>
                <a:gridCol w="2115825">
                  <a:extLst>
                    <a:ext uri="{9D8B030D-6E8A-4147-A177-3AD203B41FA5}">
                      <a16:colId xmlns:a16="http://schemas.microsoft.com/office/drawing/2014/main" val="750465120"/>
                    </a:ext>
                  </a:extLst>
                </a:gridCol>
                <a:gridCol w="2918754">
                  <a:extLst>
                    <a:ext uri="{9D8B030D-6E8A-4147-A177-3AD203B41FA5}">
                      <a16:colId xmlns:a16="http://schemas.microsoft.com/office/drawing/2014/main" val="2169194657"/>
                    </a:ext>
                  </a:extLst>
                </a:gridCol>
              </a:tblGrid>
              <a:tr h="370840">
                <a:tc>
                  <a:txBody>
                    <a:bodyPr/>
                    <a:lstStyle/>
                    <a:p>
                      <a:r>
                        <a:rPr lang="en-IN" sz="1600" b="1" dirty="0"/>
                        <a:t>Metric</a:t>
                      </a:r>
                    </a:p>
                  </a:txBody>
                  <a:tcPr/>
                </a:tc>
                <a:tc>
                  <a:txBody>
                    <a:bodyPr/>
                    <a:lstStyle/>
                    <a:p>
                      <a:r>
                        <a:rPr lang="en-IN" sz="1600" b="1" dirty="0"/>
                        <a:t>Purpose</a:t>
                      </a:r>
                    </a:p>
                  </a:txBody>
                  <a:tcPr/>
                </a:tc>
                <a:extLst>
                  <a:ext uri="{0D108BD9-81ED-4DB2-BD59-A6C34878D82A}">
                    <a16:rowId xmlns:a16="http://schemas.microsoft.com/office/drawing/2014/main" val="884436598"/>
                  </a:ext>
                </a:extLst>
              </a:tr>
              <a:tr h="370840">
                <a:tc>
                  <a:txBody>
                    <a:bodyPr/>
                    <a:lstStyle/>
                    <a:p>
                      <a:pPr algn="l"/>
                      <a:r>
                        <a:rPr lang="en-IN" sz="1600" b="0" kern="1200" dirty="0">
                          <a:solidFill>
                            <a:schemeClr val="dk1"/>
                          </a:solidFill>
                          <a:effectLst/>
                          <a:latin typeface="+mn-lt"/>
                          <a:ea typeface="+mn-ea"/>
                          <a:cs typeface="+mn-cs"/>
                        </a:rPr>
                        <a:t>Count of Restaurants</a:t>
                      </a:r>
                      <a:endParaRPr lang="en-IN" sz="1600" b="0" dirty="0"/>
                    </a:p>
                  </a:txBody>
                  <a:tcPr/>
                </a:tc>
                <a:tc>
                  <a:txBody>
                    <a:bodyPr/>
                    <a:lstStyle/>
                    <a:p>
                      <a:pPr algn="l"/>
                      <a:r>
                        <a:rPr lang="en-IN" sz="1600" b="0" dirty="0"/>
                        <a:t>Measures competition intensity within each city</a:t>
                      </a:r>
                    </a:p>
                  </a:txBody>
                  <a:tcPr/>
                </a:tc>
                <a:extLst>
                  <a:ext uri="{0D108BD9-81ED-4DB2-BD59-A6C34878D82A}">
                    <a16:rowId xmlns:a16="http://schemas.microsoft.com/office/drawing/2014/main" val="2724302047"/>
                  </a:ext>
                </a:extLst>
              </a:tr>
              <a:tr h="370840">
                <a:tc>
                  <a:txBody>
                    <a:bodyPr/>
                    <a:lstStyle/>
                    <a:p>
                      <a:pPr algn="l"/>
                      <a:r>
                        <a:rPr lang="en-IN" sz="1600" b="0" dirty="0"/>
                        <a:t>Average cost for two</a:t>
                      </a:r>
                    </a:p>
                  </a:txBody>
                  <a:tcPr/>
                </a:tc>
                <a:tc>
                  <a:txBody>
                    <a:bodyPr/>
                    <a:lstStyle/>
                    <a:p>
                      <a:pPr algn="l"/>
                      <a:r>
                        <a:rPr lang="en-IN" sz="1600" b="0" dirty="0"/>
                        <a:t>Indicates pricing level and market positioning</a:t>
                      </a:r>
                    </a:p>
                  </a:txBody>
                  <a:tcPr/>
                </a:tc>
                <a:extLst>
                  <a:ext uri="{0D108BD9-81ED-4DB2-BD59-A6C34878D82A}">
                    <a16:rowId xmlns:a16="http://schemas.microsoft.com/office/drawing/2014/main" val="3676010681"/>
                  </a:ext>
                </a:extLst>
              </a:tr>
              <a:tr h="370840">
                <a:tc>
                  <a:txBody>
                    <a:bodyPr/>
                    <a:lstStyle/>
                    <a:p>
                      <a:pPr algn="l"/>
                      <a:r>
                        <a:rPr lang="en-IN" sz="1600" b="0" dirty="0"/>
                        <a:t>Average votes</a:t>
                      </a:r>
                    </a:p>
                  </a:txBody>
                  <a:tcPr/>
                </a:tc>
                <a:tc>
                  <a:txBody>
                    <a:bodyPr/>
                    <a:lstStyle/>
                    <a:p>
                      <a:pPr algn="l"/>
                      <a:r>
                        <a:rPr lang="en-IN" sz="1600" b="0" dirty="0"/>
                        <a:t>Represents customer engagement and demand intensity</a:t>
                      </a:r>
                    </a:p>
                  </a:txBody>
                  <a:tcPr/>
                </a:tc>
                <a:extLst>
                  <a:ext uri="{0D108BD9-81ED-4DB2-BD59-A6C34878D82A}">
                    <a16:rowId xmlns:a16="http://schemas.microsoft.com/office/drawing/2014/main" val="3884231214"/>
                  </a:ext>
                </a:extLst>
              </a:tr>
            </a:tbl>
          </a:graphicData>
        </a:graphic>
      </p:graphicFrame>
      <p:sp>
        <p:nvSpPr>
          <p:cNvPr id="8" name="TextBox 7">
            <a:extLst>
              <a:ext uri="{FF2B5EF4-FFF2-40B4-BE49-F238E27FC236}">
                <a16:creationId xmlns:a16="http://schemas.microsoft.com/office/drawing/2014/main" id="{0354C090-3EE0-E2AE-6F6E-2E7B33112397}"/>
              </a:ext>
            </a:extLst>
          </p:cNvPr>
          <p:cNvSpPr txBox="1"/>
          <p:nvPr/>
        </p:nvSpPr>
        <p:spPr>
          <a:xfrm>
            <a:off x="6443831" y="2076226"/>
            <a:ext cx="4898315" cy="2862322"/>
          </a:xfrm>
          <a:prstGeom prst="rect">
            <a:avLst/>
          </a:prstGeom>
          <a:noFill/>
        </p:spPr>
        <p:txBody>
          <a:bodyPr wrap="square" rtlCol="0">
            <a:spAutoFit/>
          </a:bodyPr>
          <a:lstStyle/>
          <a:p>
            <a:r>
              <a:rPr lang="en-IN" b="1" i="1" dirty="0"/>
              <a:t>Analytical Logic:</a:t>
            </a:r>
          </a:p>
          <a:p>
            <a:endParaRPr lang="en-IN" dirty="0"/>
          </a:p>
          <a:p>
            <a:pPr marL="285750" indent="-285750">
              <a:buFont typeface="Arial" panose="020B0604020202020204" pitchFamily="34" charset="0"/>
              <a:buChar char="•"/>
            </a:pPr>
            <a:r>
              <a:rPr lang="en-IN" b="1" dirty="0"/>
              <a:t>Low restaurant count + high votes - </a:t>
            </a:r>
            <a:r>
              <a:rPr lang="en-IN" dirty="0"/>
              <a:t>High demand but limited supply</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Low votes - </a:t>
            </a:r>
            <a:r>
              <a:rPr lang="en-IN" dirty="0"/>
              <a:t>Weak customer engagement</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High cost + high competition - </a:t>
            </a:r>
            <a:r>
              <a:rPr lang="en-IN" dirty="0"/>
              <a:t>Potentially saturated premium market</a:t>
            </a:r>
          </a:p>
          <a:p>
            <a:endParaRPr lang="en-IN" dirty="0"/>
          </a:p>
        </p:txBody>
      </p:sp>
      <p:sp>
        <p:nvSpPr>
          <p:cNvPr id="9" name="TextBox 8">
            <a:extLst>
              <a:ext uri="{FF2B5EF4-FFF2-40B4-BE49-F238E27FC236}">
                <a16:creationId xmlns:a16="http://schemas.microsoft.com/office/drawing/2014/main" id="{4826D384-3716-D325-A586-283134AFEEC0}"/>
              </a:ext>
            </a:extLst>
          </p:cNvPr>
          <p:cNvSpPr txBox="1"/>
          <p:nvPr/>
        </p:nvSpPr>
        <p:spPr>
          <a:xfrm>
            <a:off x="849854" y="5271247"/>
            <a:ext cx="10492292" cy="584775"/>
          </a:xfrm>
          <a:prstGeom prst="rect">
            <a:avLst/>
          </a:prstGeom>
          <a:solidFill>
            <a:schemeClr val="tx2">
              <a:lumMod val="25000"/>
              <a:lumOff val="75000"/>
            </a:schemeClr>
          </a:solidFill>
        </p:spPr>
        <p:txBody>
          <a:bodyPr wrap="square" rtlCol="0">
            <a:spAutoFit/>
          </a:bodyPr>
          <a:lstStyle/>
          <a:p>
            <a:r>
              <a:rPr lang="en-US" sz="1600" b="1" i="1" dirty="0"/>
              <a:t>Key Assumption</a:t>
            </a:r>
          </a:p>
          <a:p>
            <a:pPr algn="just"/>
            <a:r>
              <a:rPr lang="en-US" sz="1600" dirty="0"/>
              <a:t>High engagement + low restaurant density = most attractive expansion opportunities.</a:t>
            </a:r>
            <a:endParaRPr lang="en-IN" dirty="0"/>
          </a:p>
        </p:txBody>
      </p:sp>
    </p:spTree>
    <p:extLst>
      <p:ext uri="{BB962C8B-B14F-4D97-AF65-F5344CB8AC3E}">
        <p14:creationId xmlns:p14="http://schemas.microsoft.com/office/powerpoint/2010/main" val="3943326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1080-1B17-6650-A2A4-184E3B8465D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31E66814-1505-9753-C385-8BE4FD905818}"/>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Recommended Cities for Expansion</a:t>
            </a:r>
          </a:p>
        </p:txBody>
      </p:sp>
      <p:sp>
        <p:nvSpPr>
          <p:cNvPr id="16" name="TextBox 15">
            <a:extLst>
              <a:ext uri="{FF2B5EF4-FFF2-40B4-BE49-F238E27FC236}">
                <a16:creationId xmlns:a16="http://schemas.microsoft.com/office/drawing/2014/main" id="{8074B663-1BFC-48AC-6950-05E2C8B08DC8}"/>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DC6A5908-08B0-6AD1-2E6A-C6B868E4343D}"/>
              </a:ext>
            </a:extLst>
          </p:cNvPr>
          <p:cNvSpPr txBox="1"/>
          <p:nvPr/>
        </p:nvSpPr>
        <p:spPr>
          <a:xfrm>
            <a:off x="689265" y="1335687"/>
            <a:ext cx="10584749" cy="369332"/>
          </a:xfrm>
          <a:prstGeom prst="rect">
            <a:avLst/>
          </a:prstGeom>
          <a:noFill/>
        </p:spPr>
        <p:txBody>
          <a:bodyPr wrap="square" rtlCol="0">
            <a:spAutoFit/>
          </a:bodyPr>
          <a:lstStyle/>
          <a:p>
            <a:pPr algn="just"/>
            <a:r>
              <a:rPr lang="en-IN" b="1" u="sng" dirty="0">
                <a:latin typeface="+mj-lt"/>
              </a:rPr>
              <a:t>Several Cities Across the Selected Countries Show Strong Customer Engagement with Low Competition</a:t>
            </a:r>
          </a:p>
        </p:txBody>
      </p:sp>
      <p:graphicFrame>
        <p:nvGraphicFramePr>
          <p:cNvPr id="4" name="Chart 3">
            <a:extLst>
              <a:ext uri="{FF2B5EF4-FFF2-40B4-BE49-F238E27FC236}">
                <a16:creationId xmlns:a16="http://schemas.microsoft.com/office/drawing/2014/main" id="{8839B0D8-9300-1DB5-9C02-A0604B20F896}"/>
              </a:ext>
            </a:extLst>
          </p:cNvPr>
          <p:cNvGraphicFramePr>
            <a:graphicFrameLocks/>
          </p:cNvGraphicFramePr>
          <p:nvPr>
            <p:extLst>
              <p:ext uri="{D42A27DB-BD31-4B8C-83A1-F6EECF244321}">
                <p14:modId xmlns:p14="http://schemas.microsoft.com/office/powerpoint/2010/main" val="3398111360"/>
              </p:ext>
            </p:extLst>
          </p:nvPr>
        </p:nvGraphicFramePr>
        <p:xfrm>
          <a:off x="796066" y="2119257"/>
          <a:ext cx="10477948" cy="3937298"/>
        </p:xfrm>
        <a:graphic>
          <a:graphicData uri="http://schemas.openxmlformats.org/drawingml/2006/chart">
            <c:chart xmlns:c="http://schemas.openxmlformats.org/drawingml/2006/chart" xmlns:r="http://schemas.openxmlformats.org/officeDocument/2006/relationships" r:id="rId2"/>
          </a:graphicData>
        </a:graphic>
      </p:graphicFrame>
      <p:sp>
        <p:nvSpPr>
          <p:cNvPr id="7" name="Star: 5 Points 6">
            <a:extLst>
              <a:ext uri="{FF2B5EF4-FFF2-40B4-BE49-F238E27FC236}">
                <a16:creationId xmlns:a16="http://schemas.microsoft.com/office/drawing/2014/main" id="{29F5A34E-1110-9E48-9B03-75B80456E527}"/>
              </a:ext>
            </a:extLst>
          </p:cNvPr>
          <p:cNvSpPr/>
          <p:nvPr/>
        </p:nvSpPr>
        <p:spPr>
          <a:xfrm>
            <a:off x="1570616" y="2764715"/>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Star: 5 Points 7">
            <a:extLst>
              <a:ext uri="{FF2B5EF4-FFF2-40B4-BE49-F238E27FC236}">
                <a16:creationId xmlns:a16="http://schemas.microsoft.com/office/drawing/2014/main" id="{FA6DDEF5-064D-82B8-F448-2364976274D8}"/>
              </a:ext>
            </a:extLst>
          </p:cNvPr>
          <p:cNvSpPr/>
          <p:nvPr/>
        </p:nvSpPr>
        <p:spPr>
          <a:xfrm>
            <a:off x="2024230" y="2707341"/>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Star: 5 Points 8">
            <a:extLst>
              <a:ext uri="{FF2B5EF4-FFF2-40B4-BE49-F238E27FC236}">
                <a16:creationId xmlns:a16="http://schemas.microsoft.com/office/drawing/2014/main" id="{BC14ED2C-8F59-4BA4-0956-3268B63AC6DC}"/>
              </a:ext>
            </a:extLst>
          </p:cNvPr>
          <p:cNvSpPr/>
          <p:nvPr/>
        </p:nvSpPr>
        <p:spPr>
          <a:xfrm>
            <a:off x="4272578" y="3289150"/>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Star: 5 Points 16">
            <a:extLst>
              <a:ext uri="{FF2B5EF4-FFF2-40B4-BE49-F238E27FC236}">
                <a16:creationId xmlns:a16="http://schemas.microsoft.com/office/drawing/2014/main" id="{583A29F7-0CB3-0ACF-CCB4-98B099369DB6}"/>
              </a:ext>
            </a:extLst>
          </p:cNvPr>
          <p:cNvSpPr/>
          <p:nvPr/>
        </p:nvSpPr>
        <p:spPr>
          <a:xfrm>
            <a:off x="2981660" y="2624865"/>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Star: 5 Points 17">
            <a:extLst>
              <a:ext uri="{FF2B5EF4-FFF2-40B4-BE49-F238E27FC236}">
                <a16:creationId xmlns:a16="http://schemas.microsoft.com/office/drawing/2014/main" id="{C7446235-1EA5-637B-DE15-627E14F3B54F}"/>
              </a:ext>
            </a:extLst>
          </p:cNvPr>
          <p:cNvSpPr/>
          <p:nvPr/>
        </p:nvSpPr>
        <p:spPr>
          <a:xfrm>
            <a:off x="4788946" y="3519543"/>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Star: 5 Points 18">
            <a:extLst>
              <a:ext uri="{FF2B5EF4-FFF2-40B4-BE49-F238E27FC236}">
                <a16:creationId xmlns:a16="http://schemas.microsoft.com/office/drawing/2014/main" id="{6B5EC374-E236-5675-AD54-1351B8330796}"/>
              </a:ext>
            </a:extLst>
          </p:cNvPr>
          <p:cNvSpPr/>
          <p:nvPr/>
        </p:nvSpPr>
        <p:spPr>
          <a:xfrm>
            <a:off x="7128736" y="3429000"/>
            <a:ext cx="182880" cy="13985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98656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81A4-FF2B-1DD9-BE4F-F30D5942F9C7}"/>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A4E59BCA-47AE-2A9A-DFF7-DFC245E8AB1E}"/>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High Potential Cities Identified</a:t>
            </a:r>
          </a:p>
        </p:txBody>
      </p:sp>
      <p:sp>
        <p:nvSpPr>
          <p:cNvPr id="16" name="TextBox 15">
            <a:extLst>
              <a:ext uri="{FF2B5EF4-FFF2-40B4-BE49-F238E27FC236}">
                <a16:creationId xmlns:a16="http://schemas.microsoft.com/office/drawing/2014/main" id="{33886D81-5212-14D1-6D09-428BE1E3F814}"/>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5" name="TextBox 4">
            <a:extLst>
              <a:ext uri="{FF2B5EF4-FFF2-40B4-BE49-F238E27FC236}">
                <a16:creationId xmlns:a16="http://schemas.microsoft.com/office/drawing/2014/main" id="{32EAAD18-B37A-005B-3014-43E83A453431}"/>
              </a:ext>
            </a:extLst>
          </p:cNvPr>
          <p:cNvSpPr txBox="1"/>
          <p:nvPr/>
        </p:nvSpPr>
        <p:spPr>
          <a:xfrm>
            <a:off x="806824" y="1624405"/>
            <a:ext cx="10456432" cy="2862322"/>
          </a:xfrm>
          <a:prstGeom prst="rect">
            <a:avLst/>
          </a:prstGeom>
          <a:noFill/>
        </p:spPr>
        <p:txBody>
          <a:bodyPr wrap="square" rtlCol="0">
            <a:spAutoFit/>
          </a:bodyPr>
          <a:lstStyle/>
          <a:p>
            <a:r>
              <a:rPr lang="en-IN" dirty="0"/>
              <a:t>Focus expansion on:</a:t>
            </a:r>
          </a:p>
          <a:p>
            <a:endParaRPr lang="en-IN" dirty="0"/>
          </a:p>
          <a:p>
            <a:pPr marL="285750" indent="-285750">
              <a:buFont typeface="Arial" panose="020B0604020202020204" pitchFamily="34" charset="0"/>
              <a:buChar char="•"/>
            </a:pPr>
            <a:r>
              <a:rPr lang="en-IN" b="1" dirty="0"/>
              <a:t>Bogor</a:t>
            </a:r>
            <a:r>
              <a:rPr lang="en-IN" dirty="0"/>
              <a:t> (Indonesia)- Strong engagement; suitable for premium entry market</a:t>
            </a:r>
          </a:p>
          <a:p>
            <a:pPr marL="285750" indent="-285750">
              <a:buFont typeface="Arial" panose="020B0604020202020204" pitchFamily="34" charset="0"/>
              <a:buChar char="•"/>
            </a:pPr>
            <a:r>
              <a:rPr lang="en-IN" b="1" dirty="0"/>
              <a:t>Tangerang</a:t>
            </a:r>
            <a:r>
              <a:rPr lang="en-IN" dirty="0"/>
              <a:t> (Indonesia)- Highest demand intensity; suggest premium pricing potential</a:t>
            </a:r>
          </a:p>
          <a:p>
            <a:pPr marL="285750" indent="-285750">
              <a:buFont typeface="Arial" panose="020B0604020202020204" pitchFamily="34" charset="0"/>
              <a:buChar char="•"/>
            </a:pPr>
            <a:r>
              <a:rPr lang="en-IN" b="1" dirty="0"/>
              <a:t>Pasig City </a:t>
            </a:r>
            <a:r>
              <a:rPr lang="en-IN" dirty="0"/>
              <a:t>(Philippines)- </a:t>
            </a:r>
            <a:r>
              <a:rPr lang="en-US" dirty="0"/>
              <a:t>Strong customer interest; moderate pricing suggest scalability</a:t>
            </a:r>
          </a:p>
          <a:p>
            <a:pPr marL="285750" indent="-285750">
              <a:buFont typeface="Arial" panose="020B0604020202020204" pitchFamily="34" charset="0"/>
              <a:buChar char="•"/>
            </a:pPr>
            <a:r>
              <a:rPr lang="en-US" b="1" dirty="0"/>
              <a:t>Pasay City </a:t>
            </a:r>
            <a:r>
              <a:rPr lang="en-US" dirty="0"/>
              <a:t>(Philippines)- Good demand with limited supply; suggest premium positioning</a:t>
            </a:r>
          </a:p>
          <a:p>
            <a:pPr marL="285750" indent="-285750">
              <a:buFont typeface="Arial" panose="020B0604020202020204" pitchFamily="34" charset="0"/>
              <a:buChar char="•"/>
            </a:pPr>
            <a:r>
              <a:rPr lang="en-IN" b="1" dirty="0"/>
              <a:t>Taguig City </a:t>
            </a:r>
            <a:r>
              <a:rPr lang="en-IN" dirty="0"/>
              <a:t>(</a:t>
            </a:r>
            <a:r>
              <a:rPr lang="en-US" dirty="0"/>
              <a:t>Philippines)- Balanced demand and competition; with stable pricing dynamics</a:t>
            </a:r>
          </a:p>
          <a:p>
            <a:pPr marL="285750" indent="-285750">
              <a:buFont typeface="Arial" panose="020B0604020202020204" pitchFamily="34" charset="0"/>
              <a:buChar char="•"/>
            </a:pPr>
            <a:r>
              <a:rPr lang="en-US" b="1" dirty="0"/>
              <a:t>Bandung</a:t>
            </a:r>
            <a:r>
              <a:rPr lang="en-US" dirty="0"/>
              <a:t> (Indonesia)- Very low demand despite minimal competition; indicating weak market readiness; (</a:t>
            </a:r>
            <a:r>
              <a:rPr lang="en-US" i="1" dirty="0"/>
              <a:t>cautious consideration)</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5F45C12F-6241-213B-40D9-B74959D2804A}"/>
              </a:ext>
            </a:extLst>
          </p:cNvPr>
          <p:cNvSpPr txBox="1"/>
          <p:nvPr/>
        </p:nvSpPr>
        <p:spPr>
          <a:xfrm>
            <a:off x="806825" y="4765638"/>
            <a:ext cx="10456432" cy="338554"/>
          </a:xfrm>
          <a:prstGeom prst="rect">
            <a:avLst/>
          </a:prstGeom>
          <a:solidFill>
            <a:schemeClr val="tx2">
              <a:lumMod val="25000"/>
              <a:lumOff val="75000"/>
            </a:schemeClr>
          </a:solidFill>
        </p:spPr>
        <p:txBody>
          <a:bodyPr wrap="square" rtlCol="0">
            <a:spAutoFit/>
          </a:bodyPr>
          <a:lstStyle/>
          <a:p>
            <a:pPr algn="just"/>
            <a:r>
              <a:rPr lang="en-US" sz="1600" dirty="0"/>
              <a:t>Prioritize partnerships in these cities to capture early demand and build presence in emerging markets.</a:t>
            </a:r>
            <a:endParaRPr lang="en-IN" sz="1600" dirty="0"/>
          </a:p>
        </p:txBody>
      </p:sp>
    </p:spTree>
    <p:extLst>
      <p:ext uri="{BB962C8B-B14F-4D97-AF65-F5344CB8AC3E}">
        <p14:creationId xmlns:p14="http://schemas.microsoft.com/office/powerpoint/2010/main" val="255885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4AED-B94F-93C9-1298-BECA52DA82A5}"/>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3D20AC0F-CC69-DAF7-427D-EE2BEB4A40DF}"/>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Shortlisted  Markets Maintain Strong Restaurant Ratings</a:t>
            </a:r>
          </a:p>
        </p:txBody>
      </p:sp>
      <p:sp>
        <p:nvSpPr>
          <p:cNvPr id="16" name="TextBox 15">
            <a:extLst>
              <a:ext uri="{FF2B5EF4-FFF2-40B4-BE49-F238E27FC236}">
                <a16:creationId xmlns:a16="http://schemas.microsoft.com/office/drawing/2014/main" id="{A4D0CE16-8C5A-3583-5119-07D3400AB608}"/>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D1C719F6-48E4-032E-4840-2C2B9DBE2370}"/>
              </a:ext>
            </a:extLst>
          </p:cNvPr>
          <p:cNvSpPr txBox="1"/>
          <p:nvPr/>
        </p:nvSpPr>
        <p:spPr>
          <a:xfrm>
            <a:off x="3324113" y="2990713"/>
            <a:ext cx="1972234" cy="584775"/>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IN" sz="1600" dirty="0"/>
              <a:t>Consistent positive dinning experiences</a:t>
            </a:r>
          </a:p>
        </p:txBody>
      </p:sp>
      <p:sp>
        <p:nvSpPr>
          <p:cNvPr id="11" name="TextBox 10">
            <a:extLst>
              <a:ext uri="{FF2B5EF4-FFF2-40B4-BE49-F238E27FC236}">
                <a16:creationId xmlns:a16="http://schemas.microsoft.com/office/drawing/2014/main" id="{97D51242-A563-463F-927C-A8AAE025807A}"/>
              </a:ext>
            </a:extLst>
          </p:cNvPr>
          <p:cNvSpPr txBox="1"/>
          <p:nvPr/>
        </p:nvSpPr>
        <p:spPr>
          <a:xfrm>
            <a:off x="789790" y="1500231"/>
            <a:ext cx="1945341" cy="738664"/>
          </a:xfrm>
          <a:prstGeom prst="rect">
            <a:avLst/>
          </a:prstGeom>
          <a:solidFill>
            <a:schemeClr val="bg2">
              <a:lumMod val="90000"/>
            </a:schemeClr>
          </a:solidFill>
          <a:ln>
            <a:solidFill>
              <a:schemeClr val="tx1"/>
            </a:solidFill>
          </a:ln>
        </p:spPr>
        <p:txBody>
          <a:bodyPr wrap="square" rtlCol="0">
            <a:spAutoFit/>
          </a:bodyPr>
          <a:lstStyle/>
          <a:p>
            <a:r>
              <a:rPr lang="en-IN" sz="1400" dirty="0"/>
              <a:t>strong customer satisfaction and restaurant quality</a:t>
            </a:r>
          </a:p>
        </p:txBody>
      </p:sp>
      <p:sp>
        <p:nvSpPr>
          <p:cNvPr id="12" name="TextBox 11">
            <a:extLst>
              <a:ext uri="{FF2B5EF4-FFF2-40B4-BE49-F238E27FC236}">
                <a16:creationId xmlns:a16="http://schemas.microsoft.com/office/drawing/2014/main" id="{89A30328-5A16-6123-AF17-3B60E583B458}"/>
              </a:ext>
            </a:extLst>
          </p:cNvPr>
          <p:cNvSpPr txBox="1"/>
          <p:nvPr/>
        </p:nvSpPr>
        <p:spPr>
          <a:xfrm>
            <a:off x="1271195" y="5202010"/>
            <a:ext cx="2052918" cy="738664"/>
          </a:xfrm>
          <a:prstGeom prst="rect">
            <a:avLst/>
          </a:prstGeom>
          <a:solidFill>
            <a:schemeClr val="bg2">
              <a:lumMod val="90000"/>
            </a:schemeClr>
          </a:solidFill>
          <a:ln>
            <a:solidFill>
              <a:schemeClr val="tx1"/>
            </a:solidFill>
          </a:ln>
        </p:spPr>
        <p:txBody>
          <a:bodyPr wrap="square" rtlCol="0">
            <a:spAutoFit/>
          </a:bodyPr>
          <a:lstStyle/>
          <a:p>
            <a:r>
              <a:rPr lang="en-IN" sz="1400" dirty="0"/>
              <a:t>stable service quality and customer perception</a:t>
            </a:r>
          </a:p>
        </p:txBody>
      </p:sp>
      <p:cxnSp>
        <p:nvCxnSpPr>
          <p:cNvPr id="17" name="Straight Connector 16">
            <a:extLst>
              <a:ext uri="{FF2B5EF4-FFF2-40B4-BE49-F238E27FC236}">
                <a16:creationId xmlns:a16="http://schemas.microsoft.com/office/drawing/2014/main" id="{45EA773A-9BFD-08E8-C725-6C19AD20C6A1}"/>
              </a:ext>
            </a:extLst>
          </p:cNvPr>
          <p:cNvCxnSpPr/>
          <p:nvPr/>
        </p:nvCxnSpPr>
        <p:spPr>
          <a:xfrm flipV="1">
            <a:off x="1231471" y="3523129"/>
            <a:ext cx="2580043" cy="87137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8732FF71-4E00-93A5-162A-956FB4E7D697}"/>
              </a:ext>
            </a:extLst>
          </p:cNvPr>
          <p:cNvCxnSpPr/>
          <p:nvPr/>
        </p:nvCxnSpPr>
        <p:spPr>
          <a:xfrm>
            <a:off x="4464424" y="3575488"/>
            <a:ext cx="1247887" cy="38332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ADC6FD12-EBBE-89B5-D8D1-D15ED607F045}"/>
              </a:ext>
            </a:extLst>
          </p:cNvPr>
          <p:cNvCxnSpPr/>
          <p:nvPr/>
        </p:nvCxnSpPr>
        <p:spPr>
          <a:xfrm>
            <a:off x="1398494" y="2331228"/>
            <a:ext cx="806824" cy="109777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FAE13193-49D3-8EAF-6981-0040F547B277}"/>
              </a:ext>
            </a:extLst>
          </p:cNvPr>
          <p:cNvCxnSpPr/>
          <p:nvPr/>
        </p:nvCxnSpPr>
        <p:spPr>
          <a:xfrm flipH="1">
            <a:off x="2936838" y="4722607"/>
            <a:ext cx="387275" cy="47940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E010C470-FBBD-18CE-EA58-102D550F096B}"/>
              </a:ext>
            </a:extLst>
          </p:cNvPr>
          <p:cNvSpPr txBox="1"/>
          <p:nvPr/>
        </p:nvSpPr>
        <p:spPr>
          <a:xfrm>
            <a:off x="3679115" y="5202010"/>
            <a:ext cx="2151530" cy="523220"/>
          </a:xfrm>
          <a:prstGeom prst="rect">
            <a:avLst/>
          </a:prstGeom>
          <a:solidFill>
            <a:schemeClr val="bg2">
              <a:lumMod val="90000"/>
            </a:schemeClr>
          </a:solidFill>
          <a:ln>
            <a:solidFill>
              <a:schemeClr val="tx1"/>
            </a:solidFill>
          </a:ln>
        </p:spPr>
        <p:txBody>
          <a:bodyPr wrap="square" rtlCol="0">
            <a:spAutoFit/>
          </a:bodyPr>
          <a:lstStyle/>
          <a:p>
            <a:r>
              <a:rPr lang="en-IN" sz="1400" dirty="0"/>
              <a:t>Comparatively lower average ratings</a:t>
            </a:r>
          </a:p>
        </p:txBody>
      </p:sp>
      <p:cxnSp>
        <p:nvCxnSpPr>
          <p:cNvPr id="26" name="Straight Connector 25">
            <a:extLst>
              <a:ext uri="{FF2B5EF4-FFF2-40B4-BE49-F238E27FC236}">
                <a16:creationId xmlns:a16="http://schemas.microsoft.com/office/drawing/2014/main" id="{CD9A199D-2D3A-C4C9-4D49-B9B41AC74BEF}"/>
              </a:ext>
            </a:extLst>
          </p:cNvPr>
          <p:cNvCxnSpPr/>
          <p:nvPr/>
        </p:nvCxnSpPr>
        <p:spPr>
          <a:xfrm flipH="1">
            <a:off x="4109421" y="4722607"/>
            <a:ext cx="355003" cy="47940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TextBox 26">
            <a:extLst>
              <a:ext uri="{FF2B5EF4-FFF2-40B4-BE49-F238E27FC236}">
                <a16:creationId xmlns:a16="http://schemas.microsoft.com/office/drawing/2014/main" id="{6C0C45CC-D512-7307-5DD5-63DB91DE10F8}"/>
              </a:ext>
            </a:extLst>
          </p:cNvPr>
          <p:cNvSpPr txBox="1"/>
          <p:nvPr/>
        </p:nvSpPr>
        <p:spPr>
          <a:xfrm>
            <a:off x="6766560" y="2990713"/>
            <a:ext cx="4550485" cy="2031325"/>
          </a:xfrm>
          <a:prstGeom prst="rect">
            <a:avLst/>
          </a:prstGeom>
          <a:noFill/>
        </p:spPr>
        <p:txBody>
          <a:bodyPr wrap="square" rtlCol="0">
            <a:spAutoFit/>
          </a:bodyPr>
          <a:lstStyle/>
          <a:p>
            <a:pPr algn="just"/>
            <a:r>
              <a:rPr lang="en-US" dirty="0"/>
              <a:t>By prioritizing countries with higher average customer ratings, Business can optimize market entry decisions, reduce operational risk</a:t>
            </a:r>
            <a:r>
              <a:rPr lang="en-US" b="1" dirty="0"/>
              <a:t>, </a:t>
            </a:r>
            <a:r>
              <a:rPr lang="en-US" dirty="0"/>
              <a:t>and maximize the likelihood of successful expansion through data-backed, customer-centric strategy.</a:t>
            </a:r>
          </a:p>
          <a:p>
            <a:endParaRPr lang="en-IN" dirty="0"/>
          </a:p>
        </p:txBody>
      </p:sp>
      <p:graphicFrame>
        <p:nvGraphicFramePr>
          <p:cNvPr id="28" name="Chart 27">
            <a:extLst>
              <a:ext uri="{FF2B5EF4-FFF2-40B4-BE49-F238E27FC236}">
                <a16:creationId xmlns:a16="http://schemas.microsoft.com/office/drawing/2014/main" id="{276AAAB6-924D-40E3-08DD-A30232B87657}"/>
              </a:ext>
            </a:extLst>
          </p:cNvPr>
          <p:cNvGraphicFramePr>
            <a:graphicFrameLocks/>
          </p:cNvGraphicFramePr>
          <p:nvPr>
            <p:extLst>
              <p:ext uri="{D42A27DB-BD31-4B8C-83A1-F6EECF244321}">
                <p14:modId xmlns:p14="http://schemas.microsoft.com/office/powerpoint/2010/main" val="3554306108"/>
              </p:ext>
            </p:extLst>
          </p:nvPr>
        </p:nvGraphicFramePr>
        <p:xfrm>
          <a:off x="600104" y="2482806"/>
          <a:ext cx="5757665" cy="25262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3688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CA0B5-DFBD-E849-80ED-3192C77074FB}"/>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D1A9F6DA-4AD7-0BE7-CC39-0E0C78992AEE}"/>
              </a:ext>
            </a:extLst>
          </p:cNvPr>
          <p:cNvSpPr txBox="1"/>
          <p:nvPr/>
        </p:nvSpPr>
        <p:spPr>
          <a:xfrm>
            <a:off x="675409" y="602673"/>
            <a:ext cx="10841182" cy="400110"/>
          </a:xfrm>
          <a:prstGeom prst="rect">
            <a:avLst/>
          </a:prstGeom>
          <a:noFill/>
        </p:spPr>
        <p:txBody>
          <a:bodyPr wrap="square" rtlCol="0">
            <a:spAutoFit/>
          </a:bodyPr>
          <a:lstStyle/>
          <a:p>
            <a:r>
              <a:rPr lang="en-IN" sz="2000" b="1" dirty="0">
                <a:latin typeface="+mj-lt"/>
              </a:rPr>
              <a:t>Food Expenditure Levels Differ Across Shortlisted Markets, Indicating Distinct Pricing Segments</a:t>
            </a:r>
          </a:p>
        </p:txBody>
      </p:sp>
      <p:sp>
        <p:nvSpPr>
          <p:cNvPr id="16" name="TextBox 15">
            <a:extLst>
              <a:ext uri="{FF2B5EF4-FFF2-40B4-BE49-F238E27FC236}">
                <a16:creationId xmlns:a16="http://schemas.microsoft.com/office/drawing/2014/main" id="{E5DE926C-E8B0-D6F4-5F2C-79A37EDF69BD}"/>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B65995AD-9C10-4EE6-8941-EAE46ABF8B06}"/>
              </a:ext>
            </a:extLst>
          </p:cNvPr>
          <p:cNvSpPr txBox="1"/>
          <p:nvPr/>
        </p:nvSpPr>
        <p:spPr>
          <a:xfrm>
            <a:off x="689265" y="1335687"/>
            <a:ext cx="10584749" cy="646331"/>
          </a:xfrm>
          <a:prstGeom prst="rect">
            <a:avLst/>
          </a:prstGeom>
          <a:noFill/>
        </p:spPr>
        <p:txBody>
          <a:bodyPr wrap="square" rtlCol="0">
            <a:spAutoFit/>
          </a:bodyPr>
          <a:lstStyle/>
          <a:p>
            <a:pPr algn="just"/>
            <a:r>
              <a:rPr lang="en-IN" u="sng" dirty="0"/>
              <a:t>Understanding the </a:t>
            </a:r>
            <a:r>
              <a:rPr lang="en-IN" b="1" u="sng" dirty="0"/>
              <a:t>average spending on dining </a:t>
            </a:r>
            <a:r>
              <a:rPr lang="en-IN" u="sng" dirty="0"/>
              <a:t>helps assess whether the market supports </a:t>
            </a:r>
            <a:r>
              <a:rPr lang="en-IN" b="1" u="sng" dirty="0"/>
              <a:t>premium, mid-range, or budget restaurant positioning</a:t>
            </a:r>
          </a:p>
        </p:txBody>
      </p:sp>
      <p:sp>
        <p:nvSpPr>
          <p:cNvPr id="7" name="TextBox 6">
            <a:extLst>
              <a:ext uri="{FF2B5EF4-FFF2-40B4-BE49-F238E27FC236}">
                <a16:creationId xmlns:a16="http://schemas.microsoft.com/office/drawing/2014/main" id="{572056B4-15CA-9FF9-580E-A7A964D127DE}"/>
              </a:ext>
            </a:extLst>
          </p:cNvPr>
          <p:cNvSpPr txBox="1"/>
          <p:nvPr/>
        </p:nvSpPr>
        <p:spPr>
          <a:xfrm>
            <a:off x="7013986" y="2307490"/>
            <a:ext cx="4163209" cy="2585323"/>
          </a:xfrm>
          <a:prstGeom prst="rect">
            <a:avLst/>
          </a:prstGeom>
          <a:noFill/>
        </p:spPr>
        <p:txBody>
          <a:bodyPr wrap="square" rtlCol="0">
            <a:spAutoFit/>
          </a:bodyPr>
          <a:lstStyle/>
          <a:p>
            <a:r>
              <a:rPr lang="en-IN" dirty="0"/>
              <a:t>The variation in expenditure levels suggests </a:t>
            </a:r>
            <a:r>
              <a:rPr lang="en-IN" b="1" dirty="0"/>
              <a:t>different market positioning strategies across countries</a:t>
            </a:r>
            <a:r>
              <a:rPr lang="en-IN" dirty="0"/>
              <a:t>.</a:t>
            </a:r>
          </a:p>
          <a:p>
            <a:endParaRPr lang="en-IN" dirty="0"/>
          </a:p>
          <a:p>
            <a:r>
              <a:rPr lang="en-IN" dirty="0"/>
              <a:t>• </a:t>
            </a:r>
            <a:r>
              <a:rPr lang="en-IN" b="1" dirty="0"/>
              <a:t>Premium markets:</a:t>
            </a:r>
            <a:r>
              <a:rPr lang="en-IN" dirty="0"/>
              <a:t> Indonesia</a:t>
            </a:r>
            <a:br>
              <a:rPr lang="en-IN" dirty="0"/>
            </a:br>
            <a:r>
              <a:rPr lang="en-IN" dirty="0"/>
              <a:t>• </a:t>
            </a:r>
            <a:r>
              <a:rPr lang="en-IN" b="1" dirty="0"/>
              <a:t>Balanced markets:</a:t>
            </a:r>
            <a:r>
              <a:rPr lang="en-IN" dirty="0"/>
              <a:t> Philippines, Sri Lanka</a:t>
            </a:r>
            <a:br>
              <a:rPr lang="en-IN" dirty="0"/>
            </a:br>
            <a:r>
              <a:rPr lang="en-IN" dirty="0"/>
              <a:t>• </a:t>
            </a:r>
            <a:r>
              <a:rPr lang="en-IN" b="1" dirty="0"/>
              <a:t>Affordable markets:</a:t>
            </a:r>
            <a:r>
              <a:rPr lang="en-IN" dirty="0"/>
              <a:t> Qatar, Turkey</a:t>
            </a:r>
          </a:p>
          <a:p>
            <a:endParaRPr lang="en-IN" dirty="0"/>
          </a:p>
        </p:txBody>
      </p:sp>
      <p:sp>
        <p:nvSpPr>
          <p:cNvPr id="8" name="TextBox 7">
            <a:extLst>
              <a:ext uri="{FF2B5EF4-FFF2-40B4-BE49-F238E27FC236}">
                <a16:creationId xmlns:a16="http://schemas.microsoft.com/office/drawing/2014/main" id="{CED02D44-D66B-4043-6C24-B9814045F5AC}"/>
              </a:ext>
            </a:extLst>
          </p:cNvPr>
          <p:cNvSpPr txBox="1"/>
          <p:nvPr/>
        </p:nvSpPr>
        <p:spPr>
          <a:xfrm>
            <a:off x="917986" y="5400339"/>
            <a:ext cx="10356028" cy="338554"/>
          </a:xfrm>
          <a:prstGeom prst="rect">
            <a:avLst/>
          </a:prstGeom>
          <a:solidFill>
            <a:schemeClr val="tx2">
              <a:lumMod val="25000"/>
              <a:lumOff val="75000"/>
            </a:schemeClr>
          </a:solidFill>
        </p:spPr>
        <p:txBody>
          <a:bodyPr wrap="square" rtlCol="0">
            <a:spAutoFit/>
          </a:bodyPr>
          <a:lstStyle/>
          <a:p>
            <a:pPr algn="just"/>
            <a:r>
              <a:rPr lang="en-IN" sz="1600" dirty="0"/>
              <a:t>This helps ensure </a:t>
            </a:r>
            <a:r>
              <a:rPr lang="en-US" sz="1600" b="1" dirty="0"/>
              <a:t>expansion aligns with market affordability and financial viability.</a:t>
            </a:r>
            <a:endParaRPr lang="en-IN" sz="1600" b="1" dirty="0"/>
          </a:p>
        </p:txBody>
      </p:sp>
      <p:graphicFrame>
        <p:nvGraphicFramePr>
          <p:cNvPr id="9" name="Chart 8">
            <a:extLst>
              <a:ext uri="{FF2B5EF4-FFF2-40B4-BE49-F238E27FC236}">
                <a16:creationId xmlns:a16="http://schemas.microsoft.com/office/drawing/2014/main" id="{7D213E71-F1F5-8A8F-7429-59D9690AC451}"/>
              </a:ext>
            </a:extLst>
          </p:cNvPr>
          <p:cNvGraphicFramePr>
            <a:graphicFrameLocks/>
          </p:cNvGraphicFramePr>
          <p:nvPr>
            <p:extLst>
              <p:ext uri="{D42A27DB-BD31-4B8C-83A1-F6EECF244321}">
                <p14:modId xmlns:p14="http://schemas.microsoft.com/office/powerpoint/2010/main" val="243474240"/>
              </p:ext>
            </p:extLst>
          </p:nvPr>
        </p:nvGraphicFramePr>
        <p:xfrm>
          <a:off x="689265" y="2489544"/>
          <a:ext cx="5737860" cy="20179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24831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42185-0FFC-4A93-D318-BF5623B8A8D2}"/>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93000A4C-C37F-8B49-62FD-4FAE89DFA77F}"/>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Premium Competitors Exist, but Quality Gaps Create Entry Opportunities</a:t>
            </a:r>
          </a:p>
        </p:txBody>
      </p:sp>
      <p:sp>
        <p:nvSpPr>
          <p:cNvPr id="16" name="TextBox 15">
            <a:extLst>
              <a:ext uri="{FF2B5EF4-FFF2-40B4-BE49-F238E27FC236}">
                <a16:creationId xmlns:a16="http://schemas.microsoft.com/office/drawing/2014/main" id="{94E92B8A-B449-6684-D6A6-6DDB94473D86}"/>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A05D2658-01FD-18E5-DDCF-B1D6F6F9385A}"/>
              </a:ext>
            </a:extLst>
          </p:cNvPr>
          <p:cNvSpPr txBox="1"/>
          <p:nvPr/>
        </p:nvSpPr>
        <p:spPr>
          <a:xfrm>
            <a:off x="689265" y="1335687"/>
            <a:ext cx="10584749" cy="646331"/>
          </a:xfrm>
          <a:prstGeom prst="rect">
            <a:avLst/>
          </a:prstGeom>
          <a:noFill/>
        </p:spPr>
        <p:txBody>
          <a:bodyPr wrap="square" rtlCol="0">
            <a:spAutoFit/>
          </a:bodyPr>
          <a:lstStyle/>
          <a:p>
            <a:pPr algn="just"/>
            <a:r>
              <a:rPr lang="en-US" u="sng" dirty="0"/>
              <a:t>Markets exhibit </a:t>
            </a:r>
            <a:r>
              <a:rPr lang="en-US" b="1" u="sng" dirty="0"/>
              <a:t>strong top-tier competition</a:t>
            </a:r>
            <a:r>
              <a:rPr lang="en-US" u="sng" dirty="0"/>
              <a:t> but </a:t>
            </a:r>
            <a:r>
              <a:rPr lang="en-US" b="1" u="sng" dirty="0"/>
              <a:t>visible quality gaps in mid-to-low segments</a:t>
            </a:r>
            <a:r>
              <a:rPr lang="en-US" u="sng" dirty="0"/>
              <a:t>, creating opportunities for differentiated new entrants</a:t>
            </a:r>
            <a:endParaRPr lang="en-IN" b="1" u="sng" dirty="0"/>
          </a:p>
        </p:txBody>
      </p:sp>
      <p:sp>
        <p:nvSpPr>
          <p:cNvPr id="8" name="TextBox 7">
            <a:extLst>
              <a:ext uri="{FF2B5EF4-FFF2-40B4-BE49-F238E27FC236}">
                <a16:creationId xmlns:a16="http://schemas.microsoft.com/office/drawing/2014/main" id="{21C0351E-9B40-268D-BA5E-A97260771D54}"/>
              </a:ext>
            </a:extLst>
          </p:cNvPr>
          <p:cNvSpPr txBox="1"/>
          <p:nvPr/>
        </p:nvSpPr>
        <p:spPr>
          <a:xfrm>
            <a:off x="917986" y="5400339"/>
            <a:ext cx="10356028" cy="338554"/>
          </a:xfrm>
          <a:prstGeom prst="rect">
            <a:avLst/>
          </a:prstGeom>
          <a:solidFill>
            <a:schemeClr val="tx2">
              <a:lumMod val="25000"/>
              <a:lumOff val="75000"/>
            </a:schemeClr>
          </a:solidFill>
        </p:spPr>
        <p:txBody>
          <a:bodyPr wrap="square" rtlCol="0">
            <a:spAutoFit/>
          </a:bodyPr>
          <a:lstStyle/>
          <a:p>
            <a:pPr algn="just"/>
            <a:r>
              <a:rPr lang="en-IN" sz="1600" dirty="0"/>
              <a:t>This </a:t>
            </a:r>
            <a:r>
              <a:rPr lang="en-US" sz="1600" dirty="0"/>
              <a:t>indicates opportunity to </a:t>
            </a:r>
            <a:r>
              <a:rPr lang="en-US" sz="1600" b="1" dirty="0"/>
              <a:t>back partnerships focused on quality</a:t>
            </a:r>
            <a:r>
              <a:rPr lang="en-US" sz="1600" dirty="0"/>
              <a:t>, </a:t>
            </a:r>
            <a:r>
              <a:rPr lang="en-US" sz="1600" b="1" dirty="0"/>
              <a:t>experience</a:t>
            </a:r>
            <a:r>
              <a:rPr lang="en-US" sz="1600" dirty="0"/>
              <a:t>, and </a:t>
            </a:r>
            <a:r>
              <a:rPr lang="en-US" sz="1600" b="1" dirty="0"/>
              <a:t>strong brand positioning.</a:t>
            </a:r>
            <a:endParaRPr lang="en-IN" sz="1600" b="1" dirty="0"/>
          </a:p>
        </p:txBody>
      </p:sp>
      <p:sp>
        <p:nvSpPr>
          <p:cNvPr id="5" name="TextBox 4">
            <a:extLst>
              <a:ext uri="{FF2B5EF4-FFF2-40B4-BE49-F238E27FC236}">
                <a16:creationId xmlns:a16="http://schemas.microsoft.com/office/drawing/2014/main" id="{02A1F0DB-E385-BC51-5B97-922E8CE536BA}"/>
              </a:ext>
            </a:extLst>
          </p:cNvPr>
          <p:cNvSpPr txBox="1"/>
          <p:nvPr/>
        </p:nvSpPr>
        <p:spPr>
          <a:xfrm>
            <a:off x="689265" y="2030873"/>
            <a:ext cx="4572000" cy="369332"/>
          </a:xfrm>
          <a:prstGeom prst="rect">
            <a:avLst/>
          </a:prstGeom>
          <a:noFill/>
        </p:spPr>
        <p:txBody>
          <a:bodyPr wrap="square" rtlCol="0">
            <a:spAutoFit/>
          </a:bodyPr>
          <a:lstStyle/>
          <a:p>
            <a:r>
              <a:rPr lang="en-IN" b="1" i="1" dirty="0"/>
              <a:t>Key Insights:</a:t>
            </a:r>
          </a:p>
        </p:txBody>
      </p:sp>
      <p:graphicFrame>
        <p:nvGraphicFramePr>
          <p:cNvPr id="6" name="Table 5">
            <a:extLst>
              <a:ext uri="{FF2B5EF4-FFF2-40B4-BE49-F238E27FC236}">
                <a16:creationId xmlns:a16="http://schemas.microsoft.com/office/drawing/2014/main" id="{C600CDFE-0F98-8710-4EE9-F84E158AC9BE}"/>
              </a:ext>
            </a:extLst>
          </p:cNvPr>
          <p:cNvGraphicFramePr>
            <a:graphicFrameLocks noGrp="1"/>
          </p:cNvGraphicFramePr>
          <p:nvPr>
            <p:extLst>
              <p:ext uri="{D42A27DB-BD31-4B8C-83A1-F6EECF244321}">
                <p14:modId xmlns:p14="http://schemas.microsoft.com/office/powerpoint/2010/main" val="2383059788"/>
              </p:ext>
            </p:extLst>
          </p:nvPr>
        </p:nvGraphicFramePr>
        <p:xfrm>
          <a:off x="796697" y="2400205"/>
          <a:ext cx="10477316" cy="2225040"/>
        </p:xfrm>
        <a:graphic>
          <a:graphicData uri="http://schemas.openxmlformats.org/drawingml/2006/table">
            <a:tbl>
              <a:tblPr firstRow="1" bandRow="1">
                <a:tableStyleId>{5C22544A-7EE6-4342-B048-85BDC9FD1C3A}</a:tableStyleId>
              </a:tblPr>
              <a:tblGrid>
                <a:gridCol w="1639238">
                  <a:extLst>
                    <a:ext uri="{9D8B030D-6E8A-4147-A177-3AD203B41FA5}">
                      <a16:colId xmlns:a16="http://schemas.microsoft.com/office/drawing/2014/main" val="3188937428"/>
                    </a:ext>
                  </a:extLst>
                </a:gridCol>
                <a:gridCol w="4695970">
                  <a:extLst>
                    <a:ext uri="{9D8B030D-6E8A-4147-A177-3AD203B41FA5}">
                      <a16:colId xmlns:a16="http://schemas.microsoft.com/office/drawing/2014/main" val="1117766155"/>
                    </a:ext>
                  </a:extLst>
                </a:gridCol>
                <a:gridCol w="4142108">
                  <a:extLst>
                    <a:ext uri="{9D8B030D-6E8A-4147-A177-3AD203B41FA5}">
                      <a16:colId xmlns:a16="http://schemas.microsoft.com/office/drawing/2014/main" val="1751712077"/>
                    </a:ext>
                  </a:extLst>
                </a:gridCol>
              </a:tblGrid>
              <a:tr h="370840">
                <a:tc>
                  <a:txBody>
                    <a:bodyPr/>
                    <a:lstStyle/>
                    <a:p>
                      <a:r>
                        <a:rPr lang="en-IN" sz="1600" dirty="0"/>
                        <a:t>Country</a:t>
                      </a:r>
                    </a:p>
                  </a:txBody>
                  <a:tcPr/>
                </a:tc>
                <a:tc>
                  <a:txBody>
                    <a:bodyPr/>
                    <a:lstStyle/>
                    <a:p>
                      <a:r>
                        <a:rPr lang="en-IN" sz="1600" dirty="0"/>
                        <a:t>Strong Competitors (Rating &gt;= 4.5)</a:t>
                      </a:r>
                    </a:p>
                  </a:txBody>
                  <a:tcPr/>
                </a:tc>
                <a:tc>
                  <a:txBody>
                    <a:bodyPr/>
                    <a:lstStyle/>
                    <a:p>
                      <a:r>
                        <a:rPr lang="en-IN" sz="1600" dirty="0"/>
                        <a:t>Lower-Rated Restaurants (~1.0–3.7)</a:t>
                      </a:r>
                    </a:p>
                  </a:txBody>
                  <a:tcPr/>
                </a:tc>
                <a:extLst>
                  <a:ext uri="{0D108BD9-81ED-4DB2-BD59-A6C34878D82A}">
                    <a16:rowId xmlns:a16="http://schemas.microsoft.com/office/drawing/2014/main" val="1370060570"/>
                  </a:ext>
                </a:extLst>
              </a:tr>
              <a:tr h="370840">
                <a:tc>
                  <a:txBody>
                    <a:bodyPr/>
                    <a:lstStyle/>
                    <a:p>
                      <a:r>
                        <a:rPr lang="en-IN" sz="1600" dirty="0"/>
                        <a:t>Indonesia</a:t>
                      </a:r>
                    </a:p>
                  </a:txBody>
                  <a:tcPr/>
                </a:tc>
                <a:tc>
                  <a:txBody>
                    <a:bodyPr/>
                    <a:lstStyle/>
                    <a:p>
                      <a:r>
                        <a:rPr lang="en-IN" sz="1600" dirty="0"/>
                        <a:t>Sushi Masa, Talaga </a:t>
                      </a:r>
                      <a:r>
                        <a:rPr lang="en-IN" sz="1600" dirty="0" err="1"/>
                        <a:t>Sampireun</a:t>
                      </a:r>
                      <a:r>
                        <a:rPr lang="en-IN" sz="1600" dirty="0"/>
                        <a:t>, </a:t>
                      </a:r>
                      <a:r>
                        <a:rPr lang="en-IN" sz="1600" dirty="0" err="1"/>
                        <a:t>Satoo</a:t>
                      </a:r>
                      <a:r>
                        <a:rPr lang="en-IN" sz="1600" dirty="0"/>
                        <a:t> – Shangri-La</a:t>
                      </a:r>
                    </a:p>
                  </a:txBody>
                  <a:tcPr/>
                </a:tc>
                <a:tc>
                  <a:txBody>
                    <a:bodyPr/>
                    <a:lstStyle/>
                    <a:p>
                      <a:r>
                        <a:rPr lang="en-IN" sz="1600" dirty="0" err="1"/>
                        <a:t>Onokabe</a:t>
                      </a:r>
                      <a:r>
                        <a:rPr lang="en-IN" sz="1600" dirty="0"/>
                        <a:t>, Momo Milk, Fish Streat</a:t>
                      </a:r>
                    </a:p>
                  </a:txBody>
                  <a:tcPr/>
                </a:tc>
                <a:extLst>
                  <a:ext uri="{0D108BD9-81ED-4DB2-BD59-A6C34878D82A}">
                    <a16:rowId xmlns:a16="http://schemas.microsoft.com/office/drawing/2014/main" val="2774393213"/>
                  </a:ext>
                </a:extLst>
              </a:tr>
              <a:tr h="370840">
                <a:tc>
                  <a:txBody>
                    <a:bodyPr/>
                    <a:lstStyle/>
                    <a:p>
                      <a:r>
                        <a:rPr lang="en-IN" sz="1600" dirty="0"/>
                        <a:t>Philippines</a:t>
                      </a:r>
                    </a:p>
                  </a:txBody>
                  <a:tcPr/>
                </a:tc>
                <a:tc>
                  <a:txBody>
                    <a:bodyPr/>
                    <a:lstStyle/>
                    <a:p>
                      <a:r>
                        <a:rPr lang="en-IN" sz="1600" dirty="0"/>
                        <a:t>Spiral – Sofitel, Ooma, </a:t>
                      </a:r>
                      <a:r>
                        <a:rPr lang="en-IN" sz="1600" dirty="0" err="1"/>
                        <a:t>Silantro</a:t>
                      </a:r>
                      <a:r>
                        <a:rPr lang="en-IN" sz="1600" dirty="0"/>
                        <a:t> Fil-Mex</a:t>
                      </a:r>
                    </a:p>
                  </a:txBody>
                  <a:tcPr/>
                </a:tc>
                <a:tc>
                  <a:txBody>
                    <a:bodyPr/>
                    <a:lstStyle/>
                    <a:p>
                      <a:r>
                        <a:rPr lang="en-IN" sz="1600" dirty="0"/>
                        <a:t>Cafe Arabelle</a:t>
                      </a:r>
                    </a:p>
                  </a:txBody>
                  <a:tcPr/>
                </a:tc>
                <a:extLst>
                  <a:ext uri="{0D108BD9-81ED-4DB2-BD59-A6C34878D82A}">
                    <a16:rowId xmlns:a16="http://schemas.microsoft.com/office/drawing/2014/main" val="2344549304"/>
                  </a:ext>
                </a:extLst>
              </a:tr>
              <a:tr h="370840">
                <a:tc>
                  <a:txBody>
                    <a:bodyPr/>
                    <a:lstStyle/>
                    <a:p>
                      <a:r>
                        <a:rPr lang="en-IN" sz="1600" dirty="0"/>
                        <a:t>Qatar</a:t>
                      </a:r>
                    </a:p>
                  </a:txBody>
                  <a:tcPr/>
                </a:tc>
                <a:tc>
                  <a:txBody>
                    <a:bodyPr/>
                    <a:lstStyle/>
                    <a:p>
                      <a:r>
                        <a:rPr lang="en-IN" sz="1600" dirty="0"/>
                        <a:t>Mainland China Restaurant, Gymkhana</a:t>
                      </a:r>
                    </a:p>
                  </a:txBody>
                  <a:tcPr/>
                </a:tc>
                <a:tc>
                  <a:txBody>
                    <a:bodyPr/>
                    <a:lstStyle/>
                    <a:p>
                      <a:r>
                        <a:rPr lang="en-IN" sz="1600" dirty="0"/>
                        <a:t>Indian Coffee House, Ponderosa</a:t>
                      </a:r>
                    </a:p>
                  </a:txBody>
                  <a:tcPr/>
                </a:tc>
                <a:extLst>
                  <a:ext uri="{0D108BD9-81ED-4DB2-BD59-A6C34878D82A}">
                    <a16:rowId xmlns:a16="http://schemas.microsoft.com/office/drawing/2014/main" val="3127307654"/>
                  </a:ext>
                </a:extLst>
              </a:tr>
              <a:tr h="370840">
                <a:tc>
                  <a:txBody>
                    <a:bodyPr/>
                    <a:lstStyle/>
                    <a:p>
                      <a:r>
                        <a:rPr lang="en-IN" sz="1600" dirty="0"/>
                        <a:t>Sri Lanka</a:t>
                      </a:r>
                    </a:p>
                  </a:txBody>
                  <a:tcPr/>
                </a:tc>
                <a:tc>
                  <a:txBody>
                    <a:bodyPr/>
                    <a:lstStyle/>
                    <a:p>
                      <a:r>
                        <a:rPr lang="en-US" sz="1600" dirty="0"/>
                        <a:t>Ministry of Crab, Simply Strawberries</a:t>
                      </a:r>
                      <a:endParaRPr lang="en-IN" sz="1600" dirty="0"/>
                    </a:p>
                  </a:txBody>
                  <a:tcPr/>
                </a:tc>
                <a:tc>
                  <a:txBody>
                    <a:bodyPr/>
                    <a:lstStyle/>
                    <a:p>
                      <a:r>
                        <a:rPr lang="en-IN" sz="1600" dirty="0"/>
                        <a:t>Queen’s Cafe, Elite Indian Restaurant</a:t>
                      </a:r>
                    </a:p>
                  </a:txBody>
                  <a:tcPr/>
                </a:tc>
                <a:extLst>
                  <a:ext uri="{0D108BD9-81ED-4DB2-BD59-A6C34878D82A}">
                    <a16:rowId xmlns:a16="http://schemas.microsoft.com/office/drawing/2014/main" val="4221950096"/>
                  </a:ext>
                </a:extLst>
              </a:tr>
              <a:tr h="370840">
                <a:tc>
                  <a:txBody>
                    <a:bodyPr/>
                    <a:lstStyle/>
                    <a:p>
                      <a:r>
                        <a:rPr lang="en-IN" sz="1600" dirty="0"/>
                        <a:t>Turkey</a:t>
                      </a:r>
                    </a:p>
                  </a:txBody>
                  <a:tcPr/>
                </a:tc>
                <a:tc>
                  <a:txBody>
                    <a:bodyPr/>
                    <a:lstStyle/>
                    <a:p>
                      <a:r>
                        <a:rPr lang="sv-SE" sz="1600" dirty="0"/>
                        <a:t>Draft Gastro Pub, Gaga Manjero, Starbucks</a:t>
                      </a:r>
                      <a:endParaRPr lang="en-IN" sz="1600" dirty="0"/>
                    </a:p>
                  </a:txBody>
                  <a:tcPr/>
                </a:tc>
                <a:tc>
                  <a:txBody>
                    <a:bodyPr/>
                    <a:lstStyle/>
                    <a:p>
                      <a:r>
                        <a:rPr lang="en-IN" sz="1600" dirty="0"/>
                        <a:t>Liva, Huqqa, Leman </a:t>
                      </a:r>
                      <a:r>
                        <a:rPr lang="en-IN" sz="1600" dirty="0" err="1"/>
                        <a:t>Kültür</a:t>
                      </a:r>
                      <a:endParaRPr lang="en-IN" sz="1600" dirty="0"/>
                    </a:p>
                  </a:txBody>
                  <a:tcPr/>
                </a:tc>
                <a:extLst>
                  <a:ext uri="{0D108BD9-81ED-4DB2-BD59-A6C34878D82A}">
                    <a16:rowId xmlns:a16="http://schemas.microsoft.com/office/drawing/2014/main" val="2193164476"/>
                  </a:ext>
                </a:extLst>
              </a:tr>
            </a:tbl>
          </a:graphicData>
        </a:graphic>
      </p:graphicFrame>
    </p:spTree>
    <p:extLst>
      <p:ext uri="{BB962C8B-B14F-4D97-AF65-F5344CB8AC3E}">
        <p14:creationId xmlns:p14="http://schemas.microsoft.com/office/powerpoint/2010/main" val="747933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F688-C849-62BA-268F-460159BE495A}"/>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ADC210E-EE18-866E-FD73-326FC7A4F6B6}"/>
              </a:ext>
            </a:extLst>
          </p:cNvPr>
          <p:cNvSpPr txBox="1"/>
          <p:nvPr/>
        </p:nvSpPr>
        <p:spPr>
          <a:xfrm>
            <a:off x="675409" y="602673"/>
            <a:ext cx="10841182" cy="461665"/>
          </a:xfrm>
          <a:prstGeom prst="rect">
            <a:avLst/>
          </a:prstGeom>
          <a:noFill/>
        </p:spPr>
        <p:txBody>
          <a:bodyPr wrap="square" rtlCol="0">
            <a:spAutoFit/>
          </a:bodyPr>
          <a:lstStyle/>
          <a:p>
            <a:r>
              <a:rPr lang="en-IN" sz="2400" b="1" dirty="0">
                <a:latin typeface="+mj-lt"/>
              </a:rPr>
              <a:t>Cuisine Choice Strongly Influences Restaurant Ratings and Customer Engagement</a:t>
            </a:r>
            <a:endParaRPr lang="en-IN" sz="2400" dirty="0">
              <a:latin typeface="+mj-lt"/>
            </a:endParaRPr>
          </a:p>
        </p:txBody>
      </p:sp>
      <p:sp>
        <p:nvSpPr>
          <p:cNvPr id="16" name="TextBox 15">
            <a:extLst>
              <a:ext uri="{FF2B5EF4-FFF2-40B4-BE49-F238E27FC236}">
                <a16:creationId xmlns:a16="http://schemas.microsoft.com/office/drawing/2014/main" id="{BE72E6C7-B520-0B62-72D2-D5D436AC0061}"/>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3ADE2DE8-0CC4-942C-9F45-244EA4797308}"/>
              </a:ext>
            </a:extLst>
          </p:cNvPr>
          <p:cNvSpPr txBox="1"/>
          <p:nvPr/>
        </p:nvSpPr>
        <p:spPr>
          <a:xfrm>
            <a:off x="689265" y="1335687"/>
            <a:ext cx="10584749" cy="369332"/>
          </a:xfrm>
          <a:prstGeom prst="rect">
            <a:avLst/>
          </a:prstGeom>
          <a:noFill/>
        </p:spPr>
        <p:txBody>
          <a:bodyPr wrap="square" rtlCol="0">
            <a:spAutoFit/>
          </a:bodyPr>
          <a:lstStyle/>
          <a:p>
            <a:pPr algn="just"/>
            <a:r>
              <a:rPr lang="en-US" b="1" u="sng" dirty="0"/>
              <a:t>High-Performing Cuisines in Priority Expansion Markets</a:t>
            </a:r>
            <a:endParaRPr lang="en-IN" b="1" u="sng" dirty="0"/>
          </a:p>
        </p:txBody>
      </p:sp>
      <p:sp>
        <p:nvSpPr>
          <p:cNvPr id="8" name="TextBox 7">
            <a:extLst>
              <a:ext uri="{FF2B5EF4-FFF2-40B4-BE49-F238E27FC236}">
                <a16:creationId xmlns:a16="http://schemas.microsoft.com/office/drawing/2014/main" id="{B7D56489-8E45-6B18-0B87-7674A4374126}"/>
              </a:ext>
            </a:extLst>
          </p:cNvPr>
          <p:cNvSpPr txBox="1"/>
          <p:nvPr/>
        </p:nvSpPr>
        <p:spPr>
          <a:xfrm>
            <a:off x="917986" y="5400339"/>
            <a:ext cx="10356028" cy="338554"/>
          </a:xfrm>
          <a:prstGeom prst="rect">
            <a:avLst/>
          </a:prstGeom>
          <a:solidFill>
            <a:schemeClr val="tx2">
              <a:lumMod val="25000"/>
              <a:lumOff val="75000"/>
            </a:schemeClr>
          </a:solidFill>
        </p:spPr>
        <p:txBody>
          <a:bodyPr wrap="square" rtlCol="0">
            <a:spAutoFit/>
          </a:bodyPr>
          <a:lstStyle/>
          <a:p>
            <a:pPr algn="just"/>
            <a:r>
              <a:rPr lang="en-IN" sz="1600" dirty="0"/>
              <a:t>Prioritizing these cuisines can </a:t>
            </a:r>
            <a:r>
              <a:rPr lang="en-US" sz="1600" b="1" dirty="0"/>
              <a:t>drive faster adoption </a:t>
            </a:r>
            <a:r>
              <a:rPr lang="en-US" sz="1600" dirty="0"/>
              <a:t>and </a:t>
            </a:r>
            <a:r>
              <a:rPr lang="en-US" sz="1600" b="1" dirty="0"/>
              <a:t>stronger market positioning.</a:t>
            </a:r>
            <a:endParaRPr lang="en-IN" sz="1600" dirty="0"/>
          </a:p>
        </p:txBody>
      </p:sp>
      <p:graphicFrame>
        <p:nvGraphicFramePr>
          <p:cNvPr id="2" name="Table 1">
            <a:extLst>
              <a:ext uri="{FF2B5EF4-FFF2-40B4-BE49-F238E27FC236}">
                <a16:creationId xmlns:a16="http://schemas.microsoft.com/office/drawing/2014/main" id="{BC2D010D-6D13-8C6E-AEBD-2FA3599873D6}"/>
              </a:ext>
            </a:extLst>
          </p:cNvPr>
          <p:cNvGraphicFramePr>
            <a:graphicFrameLocks noGrp="1"/>
          </p:cNvGraphicFramePr>
          <p:nvPr>
            <p:extLst>
              <p:ext uri="{D42A27DB-BD31-4B8C-83A1-F6EECF244321}">
                <p14:modId xmlns:p14="http://schemas.microsoft.com/office/powerpoint/2010/main" val="2799385460"/>
              </p:ext>
            </p:extLst>
          </p:nvPr>
        </p:nvGraphicFramePr>
        <p:xfrm>
          <a:off x="917986" y="2169564"/>
          <a:ext cx="10356027" cy="2687320"/>
        </p:xfrm>
        <a:graphic>
          <a:graphicData uri="http://schemas.openxmlformats.org/drawingml/2006/table">
            <a:tbl>
              <a:tblPr firstRow="1" bandRow="1">
                <a:tableStyleId>{5C22544A-7EE6-4342-B048-85BDC9FD1C3A}</a:tableStyleId>
              </a:tblPr>
              <a:tblGrid>
                <a:gridCol w="1599303">
                  <a:extLst>
                    <a:ext uri="{9D8B030D-6E8A-4147-A177-3AD203B41FA5}">
                      <a16:colId xmlns:a16="http://schemas.microsoft.com/office/drawing/2014/main" val="2878967773"/>
                    </a:ext>
                  </a:extLst>
                </a:gridCol>
                <a:gridCol w="3410175">
                  <a:extLst>
                    <a:ext uri="{9D8B030D-6E8A-4147-A177-3AD203B41FA5}">
                      <a16:colId xmlns:a16="http://schemas.microsoft.com/office/drawing/2014/main" val="2838545240"/>
                    </a:ext>
                  </a:extLst>
                </a:gridCol>
                <a:gridCol w="5346549">
                  <a:extLst>
                    <a:ext uri="{9D8B030D-6E8A-4147-A177-3AD203B41FA5}">
                      <a16:colId xmlns:a16="http://schemas.microsoft.com/office/drawing/2014/main" val="4170235868"/>
                    </a:ext>
                  </a:extLst>
                </a:gridCol>
              </a:tblGrid>
              <a:tr h="370840">
                <a:tc>
                  <a:txBody>
                    <a:bodyPr/>
                    <a:lstStyle/>
                    <a:p>
                      <a:r>
                        <a:rPr lang="en-IN" sz="1600" b="1" dirty="0"/>
                        <a:t>Country</a:t>
                      </a:r>
                    </a:p>
                  </a:txBody>
                  <a:tcPr/>
                </a:tc>
                <a:tc>
                  <a:txBody>
                    <a:bodyPr/>
                    <a:lstStyle/>
                    <a:p>
                      <a:r>
                        <a:rPr lang="en-IN" sz="1600" b="1" dirty="0"/>
                        <a:t>High performing Cuisines</a:t>
                      </a:r>
                    </a:p>
                  </a:txBody>
                  <a:tcPr/>
                </a:tc>
                <a:tc>
                  <a:txBody>
                    <a:bodyPr/>
                    <a:lstStyle/>
                    <a:p>
                      <a:r>
                        <a:rPr lang="en-IN" sz="1600" b="1" dirty="0"/>
                        <a:t>Key Insight</a:t>
                      </a:r>
                    </a:p>
                  </a:txBody>
                  <a:tcPr/>
                </a:tc>
                <a:extLst>
                  <a:ext uri="{0D108BD9-81ED-4DB2-BD59-A6C34878D82A}">
                    <a16:rowId xmlns:a16="http://schemas.microsoft.com/office/drawing/2014/main" val="1741990204"/>
                  </a:ext>
                </a:extLst>
              </a:tr>
              <a:tr h="370840">
                <a:tc>
                  <a:txBody>
                    <a:bodyPr/>
                    <a:lstStyle/>
                    <a:p>
                      <a:r>
                        <a:rPr lang="en-IN" sz="1600" b="0" dirty="0"/>
                        <a:t>Indonesia</a:t>
                      </a:r>
                    </a:p>
                  </a:txBody>
                  <a:tcPr/>
                </a:tc>
                <a:tc>
                  <a:txBody>
                    <a:bodyPr/>
                    <a:lstStyle/>
                    <a:p>
                      <a:r>
                        <a:rPr lang="en-IN" sz="1600" dirty="0"/>
                        <a:t>Sunda, Indonesian, Japanese, Sushi</a:t>
                      </a:r>
                      <a:endParaRPr lang="en-IN" sz="1600" b="0" dirty="0"/>
                    </a:p>
                  </a:txBody>
                  <a:tcPr/>
                </a:tc>
                <a:tc>
                  <a:txBody>
                    <a:bodyPr/>
                    <a:lstStyle/>
                    <a:p>
                      <a:pPr algn="just"/>
                      <a:r>
                        <a:rPr lang="en-US" sz="1600" dirty="0"/>
                        <a:t>Strong customer preference with very high ratings and engagement</a:t>
                      </a:r>
                      <a:endParaRPr lang="en-IN" sz="1600" b="0" dirty="0"/>
                    </a:p>
                  </a:txBody>
                  <a:tcPr/>
                </a:tc>
                <a:extLst>
                  <a:ext uri="{0D108BD9-81ED-4DB2-BD59-A6C34878D82A}">
                    <a16:rowId xmlns:a16="http://schemas.microsoft.com/office/drawing/2014/main" val="3848004234"/>
                  </a:ext>
                </a:extLst>
              </a:tr>
              <a:tr h="370840">
                <a:tc>
                  <a:txBody>
                    <a:bodyPr/>
                    <a:lstStyle/>
                    <a:p>
                      <a:r>
                        <a:rPr lang="en-IN" sz="1600" b="0" dirty="0"/>
                        <a:t>Philippines</a:t>
                      </a:r>
                    </a:p>
                  </a:txBody>
                  <a:tcPr/>
                </a:tc>
                <a:tc>
                  <a:txBody>
                    <a:bodyPr/>
                    <a:lstStyle/>
                    <a:p>
                      <a:r>
                        <a:rPr lang="en-IN" sz="1600" b="0" dirty="0"/>
                        <a:t>Chinese, Italian</a:t>
                      </a:r>
                    </a:p>
                  </a:txBody>
                  <a:tcPr/>
                </a:tc>
                <a:tc>
                  <a:txBody>
                    <a:bodyPr/>
                    <a:lstStyle/>
                    <a:p>
                      <a:pPr algn="just"/>
                      <a:r>
                        <a:rPr lang="en-US" sz="1600" dirty="0"/>
                        <a:t>High ratings despite relatively lower vote volumes., emerging opportunity</a:t>
                      </a:r>
                      <a:endParaRPr lang="en-IN" sz="1600" b="0" dirty="0"/>
                    </a:p>
                  </a:txBody>
                  <a:tcPr/>
                </a:tc>
                <a:extLst>
                  <a:ext uri="{0D108BD9-81ED-4DB2-BD59-A6C34878D82A}">
                    <a16:rowId xmlns:a16="http://schemas.microsoft.com/office/drawing/2014/main" val="3948506884"/>
                  </a:ext>
                </a:extLst>
              </a:tr>
              <a:tr h="370840">
                <a:tc>
                  <a:txBody>
                    <a:bodyPr/>
                    <a:lstStyle/>
                    <a:p>
                      <a:r>
                        <a:rPr lang="en-IN" sz="1600" b="0" dirty="0"/>
                        <a:t>Sri Lanka</a:t>
                      </a:r>
                    </a:p>
                  </a:txBody>
                  <a:tcPr/>
                </a:tc>
                <a:tc>
                  <a:txBody>
                    <a:bodyPr/>
                    <a:lstStyle/>
                    <a:p>
                      <a:r>
                        <a:rPr lang="en-IN" sz="1600" b="0" dirty="0"/>
                        <a:t>Seafood, Deserts, Cafes</a:t>
                      </a:r>
                    </a:p>
                  </a:txBody>
                  <a:tcPr/>
                </a:tc>
                <a:tc>
                  <a:txBody>
                    <a:bodyPr/>
                    <a:lstStyle/>
                    <a:p>
                      <a:pPr algn="just"/>
                      <a:r>
                        <a:rPr lang="en-US" sz="1600" dirty="0"/>
                        <a:t>Seafood significantly outperforms country average; strong niche demand</a:t>
                      </a:r>
                      <a:endParaRPr lang="en-IN" sz="1600" b="0" dirty="0"/>
                    </a:p>
                  </a:txBody>
                  <a:tcPr/>
                </a:tc>
                <a:extLst>
                  <a:ext uri="{0D108BD9-81ED-4DB2-BD59-A6C34878D82A}">
                    <a16:rowId xmlns:a16="http://schemas.microsoft.com/office/drawing/2014/main" val="4175089777"/>
                  </a:ext>
                </a:extLst>
              </a:tr>
              <a:tr h="370840">
                <a:tc>
                  <a:txBody>
                    <a:bodyPr/>
                    <a:lstStyle/>
                    <a:p>
                      <a:r>
                        <a:rPr lang="en-IN" sz="1600" b="0" dirty="0"/>
                        <a:t>Turkey</a:t>
                      </a:r>
                    </a:p>
                  </a:txBody>
                  <a:tcPr/>
                </a:tc>
                <a:tc>
                  <a:txBody>
                    <a:bodyPr/>
                    <a:lstStyle/>
                    <a:p>
                      <a:r>
                        <a:rPr lang="en-US" sz="1600" dirty="0"/>
                        <a:t>World Cuisine, Bar Food, Desserts</a:t>
                      </a:r>
                      <a:endParaRPr lang="en-IN" sz="1600" b="0" dirty="0"/>
                    </a:p>
                  </a:txBody>
                  <a:tcPr/>
                </a:tc>
                <a:tc>
                  <a:txBody>
                    <a:bodyPr/>
                    <a:lstStyle/>
                    <a:p>
                      <a:pPr algn="just"/>
                      <a:r>
                        <a:rPr lang="en-US" sz="1600" dirty="0"/>
                        <a:t>High ratings with strong engagement, especially in dessert category</a:t>
                      </a:r>
                      <a:endParaRPr lang="en-IN" sz="1600" b="0" dirty="0"/>
                    </a:p>
                  </a:txBody>
                  <a:tcPr/>
                </a:tc>
                <a:extLst>
                  <a:ext uri="{0D108BD9-81ED-4DB2-BD59-A6C34878D82A}">
                    <a16:rowId xmlns:a16="http://schemas.microsoft.com/office/drawing/2014/main" val="770025316"/>
                  </a:ext>
                </a:extLst>
              </a:tr>
            </a:tbl>
          </a:graphicData>
        </a:graphic>
      </p:graphicFrame>
    </p:spTree>
    <p:extLst>
      <p:ext uri="{BB962C8B-B14F-4D97-AF65-F5344CB8AC3E}">
        <p14:creationId xmlns:p14="http://schemas.microsoft.com/office/powerpoint/2010/main" val="3259843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6B9B7-505F-8C31-85FE-5C41EE909B72}"/>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6B0014EC-AB9A-F8B6-33DA-E95E42F17F7B}"/>
              </a:ext>
            </a:extLst>
          </p:cNvPr>
          <p:cNvSpPr txBox="1"/>
          <p:nvPr/>
        </p:nvSpPr>
        <p:spPr>
          <a:xfrm>
            <a:off x="675409" y="602673"/>
            <a:ext cx="10841182" cy="430887"/>
          </a:xfrm>
          <a:prstGeom prst="rect">
            <a:avLst/>
          </a:prstGeom>
          <a:noFill/>
        </p:spPr>
        <p:txBody>
          <a:bodyPr wrap="square" rtlCol="0">
            <a:spAutoFit/>
          </a:bodyPr>
          <a:lstStyle/>
          <a:p>
            <a:r>
              <a:rPr lang="en-IN" sz="2200" b="1" dirty="0">
                <a:latin typeface="+mj-lt"/>
              </a:rPr>
              <a:t>Convenience Services(Online Delivery &amp; Table Booking)Drive Higher Customer Ratings</a:t>
            </a:r>
          </a:p>
        </p:txBody>
      </p:sp>
      <p:sp>
        <p:nvSpPr>
          <p:cNvPr id="16" name="TextBox 15">
            <a:extLst>
              <a:ext uri="{FF2B5EF4-FFF2-40B4-BE49-F238E27FC236}">
                <a16:creationId xmlns:a16="http://schemas.microsoft.com/office/drawing/2014/main" id="{27524D96-DB8D-FE18-80C3-75ABDB39B39C}"/>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2B7A7DBD-C7F2-109B-9D59-5B568D4527DA}"/>
              </a:ext>
            </a:extLst>
          </p:cNvPr>
          <p:cNvSpPr txBox="1"/>
          <p:nvPr/>
        </p:nvSpPr>
        <p:spPr>
          <a:xfrm>
            <a:off x="689265" y="1335687"/>
            <a:ext cx="10584749" cy="369332"/>
          </a:xfrm>
          <a:prstGeom prst="rect">
            <a:avLst/>
          </a:prstGeom>
          <a:noFill/>
        </p:spPr>
        <p:txBody>
          <a:bodyPr wrap="square" rtlCol="0">
            <a:spAutoFit/>
          </a:bodyPr>
          <a:lstStyle/>
          <a:p>
            <a:pPr algn="just"/>
            <a:r>
              <a:rPr lang="en-IN" b="1" u="sng" dirty="0"/>
              <a:t>Service convenience strongly affects customer perception and restaurant ratings</a:t>
            </a:r>
            <a:endParaRPr lang="en-IN" u="sng" dirty="0"/>
          </a:p>
        </p:txBody>
      </p:sp>
      <p:sp>
        <p:nvSpPr>
          <p:cNvPr id="7" name="TextBox 6">
            <a:extLst>
              <a:ext uri="{FF2B5EF4-FFF2-40B4-BE49-F238E27FC236}">
                <a16:creationId xmlns:a16="http://schemas.microsoft.com/office/drawing/2014/main" id="{A7E8487F-2208-C139-EBF3-2FFAB306C79F}"/>
              </a:ext>
            </a:extLst>
          </p:cNvPr>
          <p:cNvSpPr txBox="1"/>
          <p:nvPr/>
        </p:nvSpPr>
        <p:spPr>
          <a:xfrm>
            <a:off x="7013986" y="2307490"/>
            <a:ext cx="4163209" cy="2308324"/>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Highest ratings</a:t>
            </a:r>
            <a:r>
              <a:rPr lang="en-US" dirty="0"/>
              <a:t> for restaurants offering both services (3.60) </a:t>
            </a:r>
          </a:p>
          <a:p>
            <a:pPr marL="285750" indent="-285750">
              <a:buFont typeface="Arial" panose="020B0604020202020204" pitchFamily="34" charset="0"/>
              <a:buChar char="•"/>
            </a:pPr>
            <a:endParaRPr lang="en-US" b="1" dirty="0"/>
          </a:p>
          <a:p>
            <a:pPr marL="285750" indent="-285750" algn="just">
              <a:buFont typeface="Arial" panose="020B0604020202020204" pitchFamily="34" charset="0"/>
              <a:buChar char="•"/>
            </a:pPr>
            <a:r>
              <a:rPr lang="en-US" b="1" dirty="0"/>
              <a:t>Lowest ratings</a:t>
            </a:r>
            <a:r>
              <a:rPr lang="en-US" dirty="0"/>
              <a:t> for those offering neither (2.68) </a:t>
            </a:r>
          </a:p>
          <a:p>
            <a:pPr marL="285750" indent="-285750">
              <a:buFont typeface="Arial" panose="020B0604020202020204" pitchFamily="34" charset="0"/>
              <a:buChar char="•"/>
            </a:pPr>
            <a:endParaRPr lang="en-US" b="1" dirty="0"/>
          </a:p>
          <a:p>
            <a:pPr marL="285750" indent="-285750" algn="just">
              <a:buFont typeface="Arial" panose="020B0604020202020204" pitchFamily="34" charset="0"/>
              <a:buChar char="•"/>
            </a:pPr>
            <a:r>
              <a:rPr lang="en-US" b="1" dirty="0"/>
              <a:t>Even one feature</a:t>
            </a:r>
            <a:r>
              <a:rPr lang="en-US" dirty="0"/>
              <a:t> materially improves customer perception </a:t>
            </a:r>
          </a:p>
        </p:txBody>
      </p:sp>
      <p:sp>
        <p:nvSpPr>
          <p:cNvPr id="8" name="TextBox 7">
            <a:extLst>
              <a:ext uri="{FF2B5EF4-FFF2-40B4-BE49-F238E27FC236}">
                <a16:creationId xmlns:a16="http://schemas.microsoft.com/office/drawing/2014/main" id="{4483F5F5-5CA6-54ED-2E12-F37E4623224A}"/>
              </a:ext>
            </a:extLst>
          </p:cNvPr>
          <p:cNvSpPr txBox="1"/>
          <p:nvPr/>
        </p:nvSpPr>
        <p:spPr>
          <a:xfrm>
            <a:off x="917986" y="5400339"/>
            <a:ext cx="10356028" cy="338554"/>
          </a:xfrm>
          <a:prstGeom prst="rect">
            <a:avLst/>
          </a:prstGeom>
          <a:solidFill>
            <a:schemeClr val="tx2">
              <a:lumMod val="25000"/>
              <a:lumOff val="75000"/>
            </a:schemeClr>
          </a:solidFill>
        </p:spPr>
        <p:txBody>
          <a:bodyPr wrap="square" rtlCol="0">
            <a:spAutoFit/>
          </a:bodyPr>
          <a:lstStyle/>
          <a:p>
            <a:pPr algn="just"/>
            <a:r>
              <a:rPr lang="en-US" sz="1600" b="1" dirty="0"/>
              <a:t>Adopt both delivery and table booking </a:t>
            </a:r>
            <a:r>
              <a:rPr lang="en-US" sz="1600" dirty="0"/>
              <a:t>to enhance competitiveness in modern dining markets.</a:t>
            </a:r>
          </a:p>
        </p:txBody>
      </p:sp>
      <p:graphicFrame>
        <p:nvGraphicFramePr>
          <p:cNvPr id="2" name="Chart 1">
            <a:extLst>
              <a:ext uri="{FF2B5EF4-FFF2-40B4-BE49-F238E27FC236}">
                <a16:creationId xmlns:a16="http://schemas.microsoft.com/office/drawing/2014/main" id="{4A5FEF60-4B7D-938F-D8A4-A0D4649FBE7C}"/>
              </a:ext>
            </a:extLst>
          </p:cNvPr>
          <p:cNvGraphicFramePr>
            <a:graphicFrameLocks/>
          </p:cNvGraphicFramePr>
          <p:nvPr>
            <p:extLst>
              <p:ext uri="{D42A27DB-BD31-4B8C-83A1-F6EECF244321}">
                <p14:modId xmlns:p14="http://schemas.microsoft.com/office/powerpoint/2010/main" val="2626479648"/>
              </p:ext>
            </p:extLst>
          </p:nvPr>
        </p:nvGraphicFramePr>
        <p:xfrm>
          <a:off x="689264" y="2307490"/>
          <a:ext cx="5281229" cy="244651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3499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CDC7-44A6-A0AA-137B-5C501E3E07B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35D2EDA0-C219-E3AF-1DF9-FDECC9009025}"/>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Cuisine Pricing Shows Weak Correlation with Customer Ratings</a:t>
            </a:r>
            <a:endParaRPr lang="en-IN" sz="2400" dirty="0">
              <a:latin typeface="+mj-lt"/>
            </a:endParaRPr>
          </a:p>
        </p:txBody>
      </p:sp>
      <p:sp>
        <p:nvSpPr>
          <p:cNvPr id="16" name="TextBox 15">
            <a:extLst>
              <a:ext uri="{FF2B5EF4-FFF2-40B4-BE49-F238E27FC236}">
                <a16:creationId xmlns:a16="http://schemas.microsoft.com/office/drawing/2014/main" id="{B8FE9028-4375-1A87-CDCB-2FBE042638D6}"/>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FD9523FA-A3C8-A527-BF19-3A9130B1BE78}"/>
              </a:ext>
            </a:extLst>
          </p:cNvPr>
          <p:cNvSpPr txBox="1"/>
          <p:nvPr/>
        </p:nvSpPr>
        <p:spPr>
          <a:xfrm>
            <a:off x="689265" y="1335687"/>
            <a:ext cx="10584749" cy="369332"/>
          </a:xfrm>
          <a:prstGeom prst="rect">
            <a:avLst/>
          </a:prstGeom>
          <a:noFill/>
        </p:spPr>
        <p:txBody>
          <a:bodyPr wrap="square" rtlCol="0">
            <a:spAutoFit/>
          </a:bodyPr>
          <a:lstStyle/>
          <a:p>
            <a:pPr algn="just"/>
            <a:r>
              <a:rPr lang="en-IN" b="1" u="sng" dirty="0"/>
              <a:t>Restaurant ratings are weakly correlated with pricing levels</a:t>
            </a:r>
            <a:endParaRPr lang="en-IN" u="sng" dirty="0"/>
          </a:p>
        </p:txBody>
      </p:sp>
      <p:sp>
        <p:nvSpPr>
          <p:cNvPr id="7" name="TextBox 6">
            <a:extLst>
              <a:ext uri="{FF2B5EF4-FFF2-40B4-BE49-F238E27FC236}">
                <a16:creationId xmlns:a16="http://schemas.microsoft.com/office/drawing/2014/main" id="{2B5EA51C-75B2-373C-6CFB-DFBBECB7670C}"/>
              </a:ext>
            </a:extLst>
          </p:cNvPr>
          <p:cNvSpPr txBox="1"/>
          <p:nvPr/>
        </p:nvSpPr>
        <p:spPr>
          <a:xfrm>
            <a:off x="7013986" y="2307490"/>
            <a:ext cx="416320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Restaurant ratings do </a:t>
            </a:r>
            <a:r>
              <a:rPr lang="en-IN" b="1" dirty="0"/>
              <a:t>not consistently increase with higher cuisine prices</a:t>
            </a:r>
            <a:r>
              <a:rPr lang="en-IN" dirty="0"/>
              <a:t>, suggesting that </a:t>
            </a:r>
            <a:r>
              <a:rPr lang="en-IN" b="1" dirty="0"/>
              <a:t>pricing alone does not determine customer satisfaction.</a:t>
            </a:r>
            <a:endParaRPr lang="en-IN" dirty="0"/>
          </a:p>
        </p:txBody>
      </p:sp>
      <p:sp>
        <p:nvSpPr>
          <p:cNvPr id="8" name="TextBox 7">
            <a:extLst>
              <a:ext uri="{FF2B5EF4-FFF2-40B4-BE49-F238E27FC236}">
                <a16:creationId xmlns:a16="http://schemas.microsoft.com/office/drawing/2014/main" id="{7457AB7D-C3FA-D69E-515D-0F27AA856C08}"/>
              </a:ext>
            </a:extLst>
          </p:cNvPr>
          <p:cNvSpPr txBox="1"/>
          <p:nvPr/>
        </p:nvSpPr>
        <p:spPr>
          <a:xfrm>
            <a:off x="917986" y="5400339"/>
            <a:ext cx="10356028" cy="338554"/>
          </a:xfrm>
          <a:prstGeom prst="rect">
            <a:avLst/>
          </a:prstGeom>
          <a:solidFill>
            <a:schemeClr val="tx2">
              <a:lumMod val="25000"/>
              <a:lumOff val="75000"/>
            </a:schemeClr>
          </a:solidFill>
        </p:spPr>
        <p:txBody>
          <a:bodyPr wrap="square" rtlCol="0">
            <a:spAutoFit/>
          </a:bodyPr>
          <a:lstStyle/>
          <a:p>
            <a:r>
              <a:rPr lang="en-IN" sz="1600" dirty="0"/>
              <a:t>Avoid relying solely on higher cuisine,</a:t>
            </a:r>
            <a:r>
              <a:rPr lang="en-IN" sz="1600" b="1" dirty="0"/>
              <a:t> </a:t>
            </a:r>
            <a:r>
              <a:rPr lang="en-IN" sz="1600" dirty="0"/>
              <a:t>instead </a:t>
            </a:r>
            <a:r>
              <a:rPr lang="en-IN" sz="1600" b="1" dirty="0"/>
              <a:t>focus on improving food quality and service standards</a:t>
            </a:r>
            <a:r>
              <a:rPr lang="en-IN" sz="1600" dirty="0"/>
              <a:t>.</a:t>
            </a:r>
          </a:p>
        </p:txBody>
      </p:sp>
      <p:graphicFrame>
        <p:nvGraphicFramePr>
          <p:cNvPr id="2" name="Chart 1">
            <a:extLst>
              <a:ext uri="{FF2B5EF4-FFF2-40B4-BE49-F238E27FC236}">
                <a16:creationId xmlns:a16="http://schemas.microsoft.com/office/drawing/2014/main" id="{E6F6B816-DC70-5314-243D-6D9C79103506}"/>
              </a:ext>
            </a:extLst>
          </p:cNvPr>
          <p:cNvGraphicFramePr>
            <a:graphicFrameLocks/>
          </p:cNvGraphicFramePr>
          <p:nvPr>
            <p:extLst>
              <p:ext uri="{D42A27DB-BD31-4B8C-83A1-F6EECF244321}">
                <p14:modId xmlns:p14="http://schemas.microsoft.com/office/powerpoint/2010/main" val="858697559"/>
              </p:ext>
            </p:extLst>
          </p:nvPr>
        </p:nvGraphicFramePr>
        <p:xfrm>
          <a:off x="689264" y="1976367"/>
          <a:ext cx="6077295" cy="29398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0105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1FB5-F07C-1F95-42F9-BCB8D8DDC6F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3E256D3-89CE-8C1B-A615-FAE90506854D}"/>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t>Majority of Restaurants Operate in Low-to-Mid Price Segments Globally</a:t>
            </a:r>
            <a:endParaRPr lang="en-IN" sz="2400" dirty="0"/>
          </a:p>
        </p:txBody>
      </p:sp>
      <p:sp>
        <p:nvSpPr>
          <p:cNvPr id="16" name="TextBox 15">
            <a:extLst>
              <a:ext uri="{FF2B5EF4-FFF2-40B4-BE49-F238E27FC236}">
                <a16:creationId xmlns:a16="http://schemas.microsoft.com/office/drawing/2014/main" id="{78930D00-D878-814E-AADD-AD9B48BD52B8}"/>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A0D4A0E4-76E8-96C2-D6AD-A385A0969AAC}"/>
              </a:ext>
            </a:extLst>
          </p:cNvPr>
          <p:cNvSpPr txBox="1"/>
          <p:nvPr/>
        </p:nvSpPr>
        <p:spPr>
          <a:xfrm>
            <a:off x="689265" y="1335687"/>
            <a:ext cx="10584749" cy="646331"/>
          </a:xfrm>
          <a:prstGeom prst="rect">
            <a:avLst/>
          </a:prstGeom>
          <a:noFill/>
        </p:spPr>
        <p:txBody>
          <a:bodyPr wrap="square" rtlCol="0">
            <a:spAutoFit/>
          </a:bodyPr>
          <a:lstStyle/>
          <a:p>
            <a:pPr algn="just"/>
            <a:r>
              <a:rPr lang="en-IN" b="1" u="sng" dirty="0"/>
              <a:t>Affordable dining dominates global restaurant markets, while premium segments remain limited but strategically valuable</a:t>
            </a:r>
            <a:endParaRPr lang="en-IN" u="sng" dirty="0"/>
          </a:p>
        </p:txBody>
      </p:sp>
      <p:sp>
        <p:nvSpPr>
          <p:cNvPr id="7" name="TextBox 6">
            <a:extLst>
              <a:ext uri="{FF2B5EF4-FFF2-40B4-BE49-F238E27FC236}">
                <a16:creationId xmlns:a16="http://schemas.microsoft.com/office/drawing/2014/main" id="{F248A033-4E12-763F-A312-806D26D63D83}"/>
              </a:ext>
            </a:extLst>
          </p:cNvPr>
          <p:cNvSpPr txBox="1"/>
          <p:nvPr/>
        </p:nvSpPr>
        <p:spPr>
          <a:xfrm>
            <a:off x="7013986" y="2307490"/>
            <a:ext cx="4163209" cy="2308324"/>
          </a:xfrm>
          <a:prstGeom prst="rect">
            <a:avLst/>
          </a:prstGeom>
          <a:noFill/>
        </p:spPr>
        <p:txBody>
          <a:bodyPr wrap="square" rtlCol="0">
            <a:spAutoFit/>
          </a:bodyPr>
          <a:lstStyle/>
          <a:p>
            <a:pPr algn="just"/>
            <a:r>
              <a:rPr lang="en-IN" dirty="0"/>
              <a:t>The global restaurant landscape is </a:t>
            </a:r>
            <a:r>
              <a:rPr lang="en-IN" b="1" dirty="0"/>
              <a:t>heavily concentrated in the lower price ranges</a:t>
            </a:r>
            <a:r>
              <a:rPr lang="en-IN" dirty="0"/>
              <a:t>, </a:t>
            </a:r>
            <a:r>
              <a:rPr lang="en-IN" b="1" dirty="0"/>
              <a:t>falling within price ranges 1 and 2</a:t>
            </a:r>
            <a:r>
              <a:rPr lang="en-IN" dirty="0"/>
              <a:t>. This indicates that </a:t>
            </a:r>
            <a:r>
              <a:rPr lang="en-IN" b="1" dirty="0"/>
              <a:t>budget and mid-range dining dominate the market</a:t>
            </a:r>
            <a:r>
              <a:rPr lang="en-IN" dirty="0"/>
              <a:t>, while premium restaurants remain relatively limited.</a:t>
            </a:r>
          </a:p>
          <a:p>
            <a:pPr algn="just"/>
            <a:endParaRPr lang="en-IN" dirty="0"/>
          </a:p>
        </p:txBody>
      </p:sp>
      <p:sp>
        <p:nvSpPr>
          <p:cNvPr id="8" name="TextBox 7">
            <a:extLst>
              <a:ext uri="{FF2B5EF4-FFF2-40B4-BE49-F238E27FC236}">
                <a16:creationId xmlns:a16="http://schemas.microsoft.com/office/drawing/2014/main" id="{C6A6E203-19D4-C2CA-5D06-CE975074C819}"/>
              </a:ext>
            </a:extLst>
          </p:cNvPr>
          <p:cNvSpPr txBox="1"/>
          <p:nvPr/>
        </p:nvSpPr>
        <p:spPr>
          <a:xfrm>
            <a:off x="917986" y="5400339"/>
            <a:ext cx="10356028" cy="584775"/>
          </a:xfrm>
          <a:prstGeom prst="rect">
            <a:avLst/>
          </a:prstGeom>
          <a:solidFill>
            <a:schemeClr val="tx2">
              <a:lumMod val="25000"/>
              <a:lumOff val="75000"/>
            </a:schemeClr>
          </a:solidFill>
        </p:spPr>
        <p:txBody>
          <a:bodyPr wrap="square" rtlCol="0">
            <a:spAutoFit/>
          </a:bodyPr>
          <a:lstStyle/>
          <a:p>
            <a:pPr algn="just"/>
            <a:r>
              <a:rPr lang="en-IN" sz="1600" dirty="0"/>
              <a:t>Focus primarily on </a:t>
            </a:r>
            <a:r>
              <a:rPr lang="en-IN" sz="1600" b="1" dirty="0"/>
              <a:t>mid-range pricing segments</a:t>
            </a:r>
            <a:r>
              <a:rPr lang="en-IN" sz="1600" dirty="0"/>
              <a:t>, which balance </a:t>
            </a:r>
            <a:r>
              <a:rPr lang="en-IN" sz="1600" b="1" dirty="0"/>
              <a:t>customer affordability and profitability, </a:t>
            </a:r>
            <a:r>
              <a:rPr lang="en-IN" sz="1600" dirty="0"/>
              <a:t>and</a:t>
            </a:r>
            <a:r>
              <a:rPr lang="en-IN" sz="1600" b="1" dirty="0"/>
              <a:t> </a:t>
            </a:r>
            <a:r>
              <a:rPr lang="en-IN" sz="1600" dirty="0"/>
              <a:t>adapt pricing strategies based on </a:t>
            </a:r>
            <a:r>
              <a:rPr lang="en-IN" sz="1600" b="1" dirty="0"/>
              <a:t>country-specific dining preferences and economic conditions</a:t>
            </a:r>
            <a:r>
              <a:rPr lang="en-IN" sz="1600" dirty="0"/>
              <a:t>.</a:t>
            </a:r>
          </a:p>
        </p:txBody>
      </p:sp>
      <p:graphicFrame>
        <p:nvGraphicFramePr>
          <p:cNvPr id="2" name="Chart 1">
            <a:extLst>
              <a:ext uri="{FF2B5EF4-FFF2-40B4-BE49-F238E27FC236}">
                <a16:creationId xmlns:a16="http://schemas.microsoft.com/office/drawing/2014/main" id="{2A11F614-5D3D-F98B-2F64-0CE8A837B99E}"/>
              </a:ext>
            </a:extLst>
          </p:cNvPr>
          <p:cNvGraphicFramePr>
            <a:graphicFrameLocks/>
          </p:cNvGraphicFramePr>
          <p:nvPr>
            <p:extLst>
              <p:ext uri="{D42A27DB-BD31-4B8C-83A1-F6EECF244321}">
                <p14:modId xmlns:p14="http://schemas.microsoft.com/office/powerpoint/2010/main" val="2720304224"/>
              </p:ext>
            </p:extLst>
          </p:nvPr>
        </p:nvGraphicFramePr>
        <p:xfrm>
          <a:off x="796066" y="2449095"/>
          <a:ext cx="5593976" cy="23049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70124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C6A1E5-958B-3767-6619-AF5EF78C7032}"/>
              </a:ext>
            </a:extLst>
          </p:cNvPr>
          <p:cNvSpPr txBox="1"/>
          <p:nvPr/>
        </p:nvSpPr>
        <p:spPr>
          <a:xfrm>
            <a:off x="2389990" y="2844225"/>
            <a:ext cx="7412019" cy="769441"/>
          </a:xfrm>
          <a:prstGeom prst="rect">
            <a:avLst/>
          </a:prstGeom>
          <a:noFill/>
        </p:spPr>
        <p:txBody>
          <a:bodyPr wrap="square" rtlCol="0">
            <a:spAutoFit/>
          </a:bodyPr>
          <a:lstStyle/>
          <a:p>
            <a:pPr algn="ctr"/>
            <a:r>
              <a:rPr lang="en-IN" sz="4400" b="1" dirty="0">
                <a:latin typeface="+mj-lt"/>
              </a:rPr>
              <a:t>Strategic Recommendations</a:t>
            </a:r>
          </a:p>
        </p:txBody>
      </p:sp>
    </p:spTree>
    <p:extLst>
      <p:ext uri="{BB962C8B-B14F-4D97-AF65-F5344CB8AC3E}">
        <p14:creationId xmlns:p14="http://schemas.microsoft.com/office/powerpoint/2010/main" val="1131786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0445-5868-E02B-FE61-20B497DD4FE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ACD1B1-E8F6-DEB8-3913-6E4A1D97AFE4}"/>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Market Expansion Strategy</a:t>
            </a:r>
          </a:p>
        </p:txBody>
      </p:sp>
      <p:sp>
        <p:nvSpPr>
          <p:cNvPr id="16" name="TextBox 15">
            <a:extLst>
              <a:ext uri="{FF2B5EF4-FFF2-40B4-BE49-F238E27FC236}">
                <a16:creationId xmlns:a16="http://schemas.microsoft.com/office/drawing/2014/main" id="{D21AD49A-4564-712D-4D75-3134C05166E9}"/>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2C774310-B4BF-C859-B0F3-5CCF6CBD5871}"/>
              </a:ext>
            </a:extLst>
          </p:cNvPr>
          <p:cNvSpPr txBox="1"/>
          <p:nvPr/>
        </p:nvSpPr>
        <p:spPr>
          <a:xfrm>
            <a:off x="689265" y="1335687"/>
            <a:ext cx="10584749" cy="369332"/>
          </a:xfrm>
          <a:prstGeom prst="rect">
            <a:avLst/>
          </a:prstGeom>
          <a:noFill/>
        </p:spPr>
        <p:txBody>
          <a:bodyPr wrap="square" rtlCol="0">
            <a:spAutoFit/>
          </a:bodyPr>
          <a:lstStyle/>
          <a:p>
            <a:pPr algn="just"/>
            <a:r>
              <a:rPr lang="en-US" b="1" u="sng" dirty="0">
                <a:latin typeface="+mj-lt"/>
              </a:rPr>
              <a:t>Expand into Underserved High-Potential Markets</a:t>
            </a:r>
            <a:endParaRPr lang="en-IN" b="1" u="sng" dirty="0">
              <a:latin typeface="+mj-lt"/>
            </a:endParaRPr>
          </a:p>
        </p:txBody>
      </p:sp>
      <p:sp>
        <p:nvSpPr>
          <p:cNvPr id="4" name="TextBox 3">
            <a:extLst>
              <a:ext uri="{FF2B5EF4-FFF2-40B4-BE49-F238E27FC236}">
                <a16:creationId xmlns:a16="http://schemas.microsoft.com/office/drawing/2014/main" id="{0667FA9D-0966-62DE-8431-F1EBA6C3E44F}"/>
              </a:ext>
            </a:extLst>
          </p:cNvPr>
          <p:cNvSpPr txBox="1"/>
          <p:nvPr/>
        </p:nvSpPr>
        <p:spPr>
          <a:xfrm>
            <a:off x="817581" y="2096391"/>
            <a:ext cx="3162748" cy="2862322"/>
          </a:xfrm>
          <a:prstGeom prst="rect">
            <a:avLst/>
          </a:prstGeom>
          <a:noFill/>
        </p:spPr>
        <p:txBody>
          <a:bodyPr wrap="square" rtlCol="0">
            <a:spAutoFit/>
          </a:bodyPr>
          <a:lstStyle/>
          <a:p>
            <a:pPr marL="342900" indent="-342900">
              <a:buAutoNum type="arabicPeriod"/>
            </a:pPr>
            <a:r>
              <a:rPr lang="en-IN" b="1" dirty="0"/>
              <a:t>Target Low-Competition International Markets</a:t>
            </a:r>
          </a:p>
          <a:p>
            <a:endParaRPr lang="en-IN" dirty="0"/>
          </a:p>
          <a:p>
            <a:pPr marL="285750" indent="-285750">
              <a:buFont typeface="Arial" panose="020B0604020202020204" pitchFamily="34" charset="0"/>
              <a:buChar char="•"/>
            </a:pPr>
            <a:r>
              <a:rPr lang="en-US" dirty="0"/>
              <a:t>Focus on Sri Lanka, Indonesia, Philippines, Qatar, Turkey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markets show </a:t>
            </a:r>
            <a:r>
              <a:rPr lang="en-US" b="1" dirty="0"/>
              <a:t>low restaurant density with strong ratings (~4.0+)</a:t>
            </a:r>
            <a:endParaRPr lang="en-IN" dirty="0"/>
          </a:p>
        </p:txBody>
      </p:sp>
      <p:sp>
        <p:nvSpPr>
          <p:cNvPr id="5" name="TextBox 4">
            <a:extLst>
              <a:ext uri="{FF2B5EF4-FFF2-40B4-BE49-F238E27FC236}">
                <a16:creationId xmlns:a16="http://schemas.microsoft.com/office/drawing/2014/main" id="{61CE375F-B995-6190-16B7-8F9D3C3482E4}"/>
              </a:ext>
            </a:extLst>
          </p:cNvPr>
          <p:cNvSpPr txBox="1"/>
          <p:nvPr/>
        </p:nvSpPr>
        <p:spPr>
          <a:xfrm>
            <a:off x="4260414" y="2096391"/>
            <a:ext cx="3442449" cy="2585323"/>
          </a:xfrm>
          <a:prstGeom prst="rect">
            <a:avLst/>
          </a:prstGeom>
          <a:noFill/>
        </p:spPr>
        <p:txBody>
          <a:bodyPr wrap="square" rtlCol="0">
            <a:spAutoFit/>
          </a:bodyPr>
          <a:lstStyle/>
          <a:p>
            <a:r>
              <a:rPr lang="en-US" b="1" dirty="0"/>
              <a:t>2. Prioritize High-Demand Cities</a:t>
            </a:r>
          </a:p>
          <a:p>
            <a:endParaRPr lang="en-US" dirty="0"/>
          </a:p>
          <a:p>
            <a:pPr marL="285750" indent="-285750">
              <a:buFont typeface="Arial" panose="020B0604020202020204" pitchFamily="34" charset="0"/>
              <a:buChar char="•"/>
            </a:pPr>
            <a:r>
              <a:rPr lang="en-US" dirty="0"/>
              <a:t>Enter cities like Jakarta, Istanbul, Colombo, Doha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Identified through </a:t>
            </a:r>
            <a:r>
              <a:rPr lang="en-US" b="1" dirty="0"/>
              <a:t>high customer votes + low restaurant count</a:t>
            </a:r>
            <a:endParaRPr lang="en-IN" dirty="0"/>
          </a:p>
        </p:txBody>
      </p:sp>
      <p:sp>
        <p:nvSpPr>
          <p:cNvPr id="10" name="TextBox 9">
            <a:extLst>
              <a:ext uri="{FF2B5EF4-FFF2-40B4-BE49-F238E27FC236}">
                <a16:creationId xmlns:a16="http://schemas.microsoft.com/office/drawing/2014/main" id="{EE685940-1278-95B6-501F-3AC0BFC7E8F0}"/>
              </a:ext>
            </a:extLst>
          </p:cNvPr>
          <p:cNvSpPr txBox="1"/>
          <p:nvPr/>
        </p:nvSpPr>
        <p:spPr>
          <a:xfrm>
            <a:off x="7982948" y="2096391"/>
            <a:ext cx="3291066" cy="2308324"/>
          </a:xfrm>
          <a:prstGeom prst="rect">
            <a:avLst/>
          </a:prstGeom>
          <a:noFill/>
        </p:spPr>
        <p:txBody>
          <a:bodyPr wrap="square" rtlCol="0">
            <a:spAutoFit/>
          </a:bodyPr>
          <a:lstStyle/>
          <a:p>
            <a:r>
              <a:rPr lang="en-IN" b="1" dirty="0"/>
              <a:t>3</a:t>
            </a:r>
            <a:r>
              <a:rPr lang="en-IN" dirty="0"/>
              <a:t>. </a:t>
            </a:r>
            <a:r>
              <a:rPr lang="en-US" b="1" dirty="0"/>
              <a:t>Reduce Entry Risk Through Market Selection</a:t>
            </a:r>
          </a:p>
          <a:p>
            <a:endParaRPr lang="en-US" dirty="0"/>
          </a:p>
          <a:p>
            <a:pPr marL="285750" indent="-285750">
              <a:buFont typeface="Arial" panose="020B0604020202020204" pitchFamily="34" charset="0"/>
              <a:buChar char="•"/>
            </a:pPr>
            <a:r>
              <a:rPr lang="en-US" dirty="0"/>
              <a:t>Avoid saturated markets like India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Leverage </a:t>
            </a:r>
            <a:r>
              <a:rPr lang="en-US" b="1" dirty="0"/>
              <a:t>underpenetrated regions for faster growth</a:t>
            </a:r>
            <a:endParaRPr lang="en-IN" dirty="0"/>
          </a:p>
        </p:txBody>
      </p:sp>
    </p:spTree>
    <p:extLst>
      <p:ext uri="{BB962C8B-B14F-4D97-AF65-F5344CB8AC3E}">
        <p14:creationId xmlns:p14="http://schemas.microsoft.com/office/powerpoint/2010/main" val="1087334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3E2A7-8491-AFD7-A95F-69947D6FA72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A095B5F8-8F60-2C0F-CBBE-6A63BBA236CF}"/>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Customer Experience &amp; Offering Strategy</a:t>
            </a:r>
          </a:p>
        </p:txBody>
      </p:sp>
      <p:sp>
        <p:nvSpPr>
          <p:cNvPr id="16" name="TextBox 15">
            <a:extLst>
              <a:ext uri="{FF2B5EF4-FFF2-40B4-BE49-F238E27FC236}">
                <a16:creationId xmlns:a16="http://schemas.microsoft.com/office/drawing/2014/main" id="{61B460AD-34C8-72EA-09FC-F3745DF842A3}"/>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120ABF8F-81CA-DDFB-E7D6-E4E6D0B7E3FD}"/>
              </a:ext>
            </a:extLst>
          </p:cNvPr>
          <p:cNvSpPr txBox="1"/>
          <p:nvPr/>
        </p:nvSpPr>
        <p:spPr>
          <a:xfrm>
            <a:off x="689265" y="1335687"/>
            <a:ext cx="10584749" cy="369332"/>
          </a:xfrm>
          <a:prstGeom prst="rect">
            <a:avLst/>
          </a:prstGeom>
          <a:noFill/>
        </p:spPr>
        <p:txBody>
          <a:bodyPr wrap="square" rtlCol="0">
            <a:spAutoFit/>
          </a:bodyPr>
          <a:lstStyle/>
          <a:p>
            <a:pPr algn="just"/>
            <a:r>
              <a:rPr lang="en-US" b="1" u="sng" dirty="0">
                <a:latin typeface="+mj-lt"/>
              </a:rPr>
              <a:t>Drive Ratings Through Service &amp; Cuisine Optimization</a:t>
            </a:r>
            <a:endParaRPr lang="en-IN" b="1" u="sng" dirty="0">
              <a:latin typeface="+mj-lt"/>
            </a:endParaRPr>
          </a:p>
        </p:txBody>
      </p:sp>
      <p:sp>
        <p:nvSpPr>
          <p:cNvPr id="4" name="TextBox 3">
            <a:extLst>
              <a:ext uri="{FF2B5EF4-FFF2-40B4-BE49-F238E27FC236}">
                <a16:creationId xmlns:a16="http://schemas.microsoft.com/office/drawing/2014/main" id="{605614C0-AA45-440B-B9E7-0F6A6990CF69}"/>
              </a:ext>
            </a:extLst>
          </p:cNvPr>
          <p:cNvSpPr txBox="1"/>
          <p:nvPr/>
        </p:nvSpPr>
        <p:spPr>
          <a:xfrm>
            <a:off x="817581" y="2096391"/>
            <a:ext cx="3162748" cy="2862322"/>
          </a:xfrm>
          <a:prstGeom prst="rect">
            <a:avLst/>
          </a:prstGeom>
          <a:noFill/>
        </p:spPr>
        <p:txBody>
          <a:bodyPr wrap="square" rtlCol="0">
            <a:spAutoFit/>
          </a:bodyPr>
          <a:lstStyle/>
          <a:p>
            <a:pPr marL="342900" indent="-342900">
              <a:buAutoNum type="arabicPeriod"/>
            </a:pPr>
            <a:r>
              <a:rPr lang="en-US" b="1" dirty="0"/>
              <a:t>Enable Online Delivery &amp; Table Booking</a:t>
            </a:r>
          </a:p>
          <a:p>
            <a:endParaRPr lang="en-US" b="1" dirty="0"/>
          </a:p>
          <a:p>
            <a:pPr marL="285750" indent="-285750">
              <a:buFont typeface="Arial" panose="020B0604020202020204" pitchFamily="34" charset="0"/>
              <a:buChar char="•"/>
            </a:pPr>
            <a:r>
              <a:rPr lang="en-US" dirty="0"/>
              <a:t>Ratings increase from </a:t>
            </a:r>
            <a:r>
              <a:rPr lang="en-US" b="1" dirty="0"/>
              <a:t>2.68 to  3.60 when both are offered</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Improves </a:t>
            </a:r>
            <a:r>
              <a:rPr lang="en-US" b="1" dirty="0"/>
              <a:t>convenience, accessibility, and experience</a:t>
            </a:r>
            <a:endParaRPr lang="en-IN" b="1" dirty="0"/>
          </a:p>
        </p:txBody>
      </p:sp>
      <p:sp>
        <p:nvSpPr>
          <p:cNvPr id="5" name="TextBox 4">
            <a:extLst>
              <a:ext uri="{FF2B5EF4-FFF2-40B4-BE49-F238E27FC236}">
                <a16:creationId xmlns:a16="http://schemas.microsoft.com/office/drawing/2014/main" id="{585B8152-5F9A-B7B7-AEF9-67C53556A59A}"/>
              </a:ext>
            </a:extLst>
          </p:cNvPr>
          <p:cNvSpPr txBox="1"/>
          <p:nvPr/>
        </p:nvSpPr>
        <p:spPr>
          <a:xfrm>
            <a:off x="4281786" y="2096391"/>
            <a:ext cx="3366901" cy="2585323"/>
          </a:xfrm>
          <a:prstGeom prst="rect">
            <a:avLst/>
          </a:prstGeom>
          <a:noFill/>
        </p:spPr>
        <p:txBody>
          <a:bodyPr wrap="square" rtlCol="0">
            <a:spAutoFit/>
          </a:bodyPr>
          <a:lstStyle/>
          <a:p>
            <a:r>
              <a:rPr lang="en-US" b="1" dirty="0"/>
              <a:t>2.   Focus on High-  Performing   Cuisines</a:t>
            </a:r>
          </a:p>
          <a:p>
            <a:endParaRPr lang="en-US" dirty="0"/>
          </a:p>
          <a:p>
            <a:pPr marL="285750" indent="-285750">
              <a:buFont typeface="Arial" panose="020B0604020202020204" pitchFamily="34" charset="0"/>
              <a:buChar char="•"/>
            </a:pPr>
            <a:r>
              <a:rPr lang="en-US" dirty="0"/>
              <a:t>Prioritize Seafood, Sushi, Desserts, Local cuisines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show </a:t>
            </a:r>
            <a:r>
              <a:rPr lang="en-US" b="1" dirty="0"/>
              <a:t>high ratings + strong customer engagement</a:t>
            </a:r>
            <a:endParaRPr lang="en-IN" dirty="0"/>
          </a:p>
        </p:txBody>
      </p:sp>
      <p:sp>
        <p:nvSpPr>
          <p:cNvPr id="10" name="TextBox 9">
            <a:extLst>
              <a:ext uri="{FF2B5EF4-FFF2-40B4-BE49-F238E27FC236}">
                <a16:creationId xmlns:a16="http://schemas.microsoft.com/office/drawing/2014/main" id="{AD2609F9-0C24-BEF8-6E76-20A82711874C}"/>
              </a:ext>
            </a:extLst>
          </p:cNvPr>
          <p:cNvSpPr txBox="1"/>
          <p:nvPr/>
        </p:nvSpPr>
        <p:spPr>
          <a:xfrm>
            <a:off x="7986008" y="2096391"/>
            <a:ext cx="3366901" cy="2308324"/>
          </a:xfrm>
          <a:prstGeom prst="rect">
            <a:avLst/>
          </a:prstGeom>
          <a:noFill/>
        </p:spPr>
        <p:txBody>
          <a:bodyPr wrap="square" rtlCol="0">
            <a:spAutoFit/>
          </a:bodyPr>
          <a:lstStyle/>
          <a:p>
            <a:r>
              <a:rPr lang="en-IN" b="1" dirty="0"/>
              <a:t>3</a:t>
            </a:r>
            <a:r>
              <a:rPr lang="en-IN" dirty="0"/>
              <a:t>. </a:t>
            </a:r>
            <a:r>
              <a:rPr lang="en-US" b="1" dirty="0"/>
              <a:t>Align Offerings with Market Preferences</a:t>
            </a:r>
            <a:br>
              <a:rPr lang="en-US" dirty="0"/>
            </a:br>
            <a:endParaRPr lang="en-US" dirty="0"/>
          </a:p>
          <a:p>
            <a:pPr marL="285750" indent="-285750">
              <a:buFont typeface="Arial" panose="020B0604020202020204" pitchFamily="34" charset="0"/>
              <a:buChar char="•"/>
            </a:pPr>
            <a:r>
              <a:rPr lang="en-US" dirty="0"/>
              <a:t>Customize cuisine strategy country-wise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Leverage </a:t>
            </a:r>
            <a:r>
              <a:rPr lang="en-US" b="1" dirty="0"/>
              <a:t>customer vote trends to capture</a:t>
            </a:r>
            <a:endParaRPr lang="en-IN" dirty="0"/>
          </a:p>
        </p:txBody>
      </p:sp>
    </p:spTree>
    <p:extLst>
      <p:ext uri="{BB962C8B-B14F-4D97-AF65-F5344CB8AC3E}">
        <p14:creationId xmlns:p14="http://schemas.microsoft.com/office/powerpoint/2010/main" val="345245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6D0F5-4EBF-6BD6-4C9E-4D218BB0FD38}"/>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4D09894-DCCD-E818-D174-4C5B364E6C8E}"/>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Pricing &amp; Competitive Strategy</a:t>
            </a:r>
          </a:p>
        </p:txBody>
      </p:sp>
      <p:sp>
        <p:nvSpPr>
          <p:cNvPr id="16" name="TextBox 15">
            <a:extLst>
              <a:ext uri="{FF2B5EF4-FFF2-40B4-BE49-F238E27FC236}">
                <a16:creationId xmlns:a16="http://schemas.microsoft.com/office/drawing/2014/main" id="{BDE96FBB-0B00-8BC2-D4F3-8D0CC35C0DDE}"/>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749418B1-1CA4-E84F-B4F3-7A2B66551114}"/>
              </a:ext>
            </a:extLst>
          </p:cNvPr>
          <p:cNvSpPr txBox="1"/>
          <p:nvPr/>
        </p:nvSpPr>
        <p:spPr>
          <a:xfrm>
            <a:off x="689265" y="1335687"/>
            <a:ext cx="10584749" cy="369332"/>
          </a:xfrm>
          <a:prstGeom prst="rect">
            <a:avLst/>
          </a:prstGeom>
          <a:noFill/>
        </p:spPr>
        <p:txBody>
          <a:bodyPr wrap="square" rtlCol="0">
            <a:spAutoFit/>
          </a:bodyPr>
          <a:lstStyle/>
          <a:p>
            <a:pPr algn="just"/>
            <a:r>
              <a:rPr lang="en-US" b="1" u="sng" dirty="0">
                <a:latin typeface="+mj-lt"/>
              </a:rPr>
              <a:t>Compete on Value in a Mid-Range Dominated Market</a:t>
            </a:r>
            <a:endParaRPr lang="en-IN" b="1" u="sng" dirty="0">
              <a:latin typeface="+mj-lt"/>
            </a:endParaRPr>
          </a:p>
        </p:txBody>
      </p:sp>
      <p:sp>
        <p:nvSpPr>
          <p:cNvPr id="4" name="TextBox 3">
            <a:extLst>
              <a:ext uri="{FF2B5EF4-FFF2-40B4-BE49-F238E27FC236}">
                <a16:creationId xmlns:a16="http://schemas.microsoft.com/office/drawing/2014/main" id="{25983D6D-F315-1842-EAC0-5F5B5164069F}"/>
              </a:ext>
            </a:extLst>
          </p:cNvPr>
          <p:cNvSpPr txBox="1"/>
          <p:nvPr/>
        </p:nvSpPr>
        <p:spPr>
          <a:xfrm>
            <a:off x="817581" y="2096391"/>
            <a:ext cx="3004970" cy="2585323"/>
          </a:xfrm>
          <a:prstGeom prst="rect">
            <a:avLst/>
          </a:prstGeom>
          <a:noFill/>
        </p:spPr>
        <p:txBody>
          <a:bodyPr wrap="square" rtlCol="0">
            <a:spAutoFit/>
          </a:bodyPr>
          <a:lstStyle/>
          <a:p>
            <a:pPr marL="342900" indent="-342900">
              <a:buAutoNum type="arabicPeriod"/>
            </a:pPr>
            <a:r>
              <a:rPr lang="en-US" b="1" dirty="0"/>
              <a:t>Position in Mid-Range Pricing Segment</a:t>
            </a:r>
            <a:br>
              <a:rPr lang="en-US" dirty="0"/>
            </a:br>
            <a:endParaRPr lang="en-US" dirty="0"/>
          </a:p>
          <a:p>
            <a:pPr marL="285750" indent="-285750">
              <a:buFont typeface="Arial" panose="020B0604020202020204" pitchFamily="34" charset="0"/>
              <a:buChar char="•"/>
            </a:pPr>
            <a:r>
              <a:rPr lang="en-US" dirty="0"/>
              <a:t>~80% restaurants fall in </a:t>
            </a:r>
            <a:r>
              <a:rPr lang="en-US" b="1" dirty="0"/>
              <a:t>price range 1 &amp; 2</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Captures </a:t>
            </a:r>
            <a:r>
              <a:rPr lang="en-US" b="1" dirty="0"/>
              <a:t>largest and most active customer base</a:t>
            </a:r>
            <a:endParaRPr lang="en-IN" b="1" dirty="0"/>
          </a:p>
        </p:txBody>
      </p:sp>
      <p:sp>
        <p:nvSpPr>
          <p:cNvPr id="5" name="TextBox 4">
            <a:extLst>
              <a:ext uri="{FF2B5EF4-FFF2-40B4-BE49-F238E27FC236}">
                <a16:creationId xmlns:a16="http://schemas.microsoft.com/office/drawing/2014/main" id="{01591761-54DF-34D7-03A5-D87FB7938E20}"/>
              </a:ext>
            </a:extLst>
          </p:cNvPr>
          <p:cNvSpPr txBox="1"/>
          <p:nvPr/>
        </p:nvSpPr>
        <p:spPr>
          <a:xfrm>
            <a:off x="4400265" y="2096390"/>
            <a:ext cx="3162748" cy="2585323"/>
          </a:xfrm>
          <a:prstGeom prst="rect">
            <a:avLst/>
          </a:prstGeom>
          <a:noFill/>
        </p:spPr>
        <p:txBody>
          <a:bodyPr wrap="square" rtlCol="0">
            <a:spAutoFit/>
          </a:bodyPr>
          <a:lstStyle/>
          <a:p>
            <a:r>
              <a:rPr lang="en-US" b="1" dirty="0"/>
              <a:t>2. Focus on Value Over Premium Pricing</a:t>
            </a:r>
            <a:br>
              <a:rPr lang="en-US" dirty="0"/>
            </a:br>
            <a:endParaRPr lang="en-US" dirty="0"/>
          </a:p>
          <a:p>
            <a:pPr marL="285750" indent="-285750">
              <a:buFont typeface="Arial" panose="020B0604020202020204" pitchFamily="34" charset="0"/>
              <a:buChar char="•"/>
            </a:pPr>
            <a:r>
              <a:rPr lang="en-US" dirty="0"/>
              <a:t> Weak correlation between </a:t>
            </a:r>
            <a:r>
              <a:rPr lang="en-US" b="1" dirty="0"/>
              <a:t>price and ratings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Higher prices do </a:t>
            </a:r>
            <a:r>
              <a:rPr lang="en-US" b="1" dirty="0"/>
              <a:t>not guarantee better feedback</a:t>
            </a:r>
            <a:endParaRPr lang="en-IN" dirty="0"/>
          </a:p>
        </p:txBody>
      </p:sp>
      <p:sp>
        <p:nvSpPr>
          <p:cNvPr id="10" name="TextBox 9">
            <a:extLst>
              <a:ext uri="{FF2B5EF4-FFF2-40B4-BE49-F238E27FC236}">
                <a16:creationId xmlns:a16="http://schemas.microsoft.com/office/drawing/2014/main" id="{F3CD41E7-05AD-550A-D47A-E902E16ED917}"/>
              </a:ext>
            </a:extLst>
          </p:cNvPr>
          <p:cNvSpPr txBox="1"/>
          <p:nvPr/>
        </p:nvSpPr>
        <p:spPr>
          <a:xfrm>
            <a:off x="8140726" y="2096390"/>
            <a:ext cx="3162747" cy="2585323"/>
          </a:xfrm>
          <a:prstGeom prst="rect">
            <a:avLst/>
          </a:prstGeom>
          <a:noFill/>
        </p:spPr>
        <p:txBody>
          <a:bodyPr wrap="square" rtlCol="0">
            <a:spAutoFit/>
          </a:bodyPr>
          <a:lstStyle/>
          <a:p>
            <a:r>
              <a:rPr lang="en-IN" b="1" dirty="0"/>
              <a:t>3</a:t>
            </a:r>
            <a:r>
              <a:rPr lang="en-IN" dirty="0"/>
              <a:t>. </a:t>
            </a:r>
            <a:r>
              <a:rPr lang="en-US" b="1" dirty="0"/>
              <a:t>Exploit Quality Gaps in Competitive Markets</a:t>
            </a:r>
          </a:p>
          <a:p>
            <a:endParaRPr lang="en-US" b="1" dirty="0"/>
          </a:p>
          <a:p>
            <a:pPr marL="285750" indent="-285750">
              <a:buFont typeface="Arial" panose="020B0604020202020204" pitchFamily="34" charset="0"/>
              <a:buChar char="•"/>
            </a:pPr>
            <a:r>
              <a:rPr lang="en-US" dirty="0"/>
              <a:t>Presence of </a:t>
            </a:r>
            <a:r>
              <a:rPr lang="en-US" b="1" dirty="0"/>
              <a:t>low-rated competitors (≤3.5 ratings)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Opportunity to win through </a:t>
            </a:r>
            <a:r>
              <a:rPr lang="en-US" b="1" dirty="0"/>
              <a:t>better service and consistency</a:t>
            </a:r>
            <a:endParaRPr lang="en-IN" dirty="0"/>
          </a:p>
        </p:txBody>
      </p:sp>
    </p:spTree>
    <p:extLst>
      <p:ext uri="{BB962C8B-B14F-4D97-AF65-F5344CB8AC3E}">
        <p14:creationId xmlns:p14="http://schemas.microsoft.com/office/powerpoint/2010/main" val="3314701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B00570-B8B3-811B-F593-B695F56B452D}"/>
              </a:ext>
            </a:extLst>
          </p:cNvPr>
          <p:cNvPicPr>
            <a:picLocks noChangeAspect="1"/>
          </p:cNvPicPr>
          <p:nvPr/>
        </p:nvPicPr>
        <p:blipFill>
          <a:blip r:embed="rId2"/>
          <a:stretch>
            <a:fillRect/>
          </a:stretch>
        </p:blipFill>
        <p:spPr>
          <a:xfrm>
            <a:off x="107576" y="75304"/>
            <a:ext cx="11940990" cy="6669741"/>
          </a:xfrm>
          <a:prstGeom prst="rect">
            <a:avLst/>
          </a:prstGeom>
        </p:spPr>
      </p:pic>
    </p:spTree>
    <p:extLst>
      <p:ext uri="{BB962C8B-B14F-4D97-AF65-F5344CB8AC3E}">
        <p14:creationId xmlns:p14="http://schemas.microsoft.com/office/powerpoint/2010/main" val="2434396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A89C5-9A08-E89D-8752-4FF1D5F92D5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10898F5-E7B6-DF55-CA31-94A9B7B400FA}"/>
              </a:ext>
            </a:extLst>
          </p:cNvPr>
          <p:cNvSpPr txBox="1"/>
          <p:nvPr/>
        </p:nvSpPr>
        <p:spPr>
          <a:xfrm>
            <a:off x="675409" y="602673"/>
            <a:ext cx="10841182" cy="461665"/>
          </a:xfrm>
          <a:prstGeom prst="rect">
            <a:avLst/>
          </a:prstGeom>
          <a:noFill/>
        </p:spPr>
        <p:txBody>
          <a:bodyPr wrap="square" rtlCol="0">
            <a:spAutoFit/>
          </a:bodyPr>
          <a:lstStyle/>
          <a:p>
            <a:pPr algn="just"/>
            <a:r>
              <a:rPr lang="en-IN" sz="2400" b="1" dirty="0">
                <a:latin typeface="+mj-lt"/>
              </a:rPr>
              <a:t>Conclusion</a:t>
            </a:r>
          </a:p>
        </p:txBody>
      </p:sp>
      <p:sp>
        <p:nvSpPr>
          <p:cNvPr id="16" name="TextBox 15">
            <a:extLst>
              <a:ext uri="{FF2B5EF4-FFF2-40B4-BE49-F238E27FC236}">
                <a16:creationId xmlns:a16="http://schemas.microsoft.com/office/drawing/2014/main" id="{AC2568A4-0502-FC76-DA5A-AB1BFDC900CC}"/>
              </a:ext>
            </a:extLst>
          </p:cNvPr>
          <p:cNvSpPr txBox="1"/>
          <p:nvPr/>
        </p:nvSpPr>
        <p:spPr>
          <a:xfrm>
            <a:off x="675409" y="966355"/>
            <a:ext cx="10827326" cy="369332"/>
          </a:xfrm>
          <a:prstGeom prst="rect">
            <a:avLst/>
          </a:prstGeom>
          <a:noFill/>
        </p:spPr>
        <p:txBody>
          <a:bodyPr wrap="square" rtlCol="0">
            <a:spAutoFit/>
          </a:bodyPr>
          <a:lstStyle/>
          <a:p>
            <a:r>
              <a:rPr lang="en-IN" dirty="0"/>
              <a:t>_____________________________________________________________________________________________________</a:t>
            </a:r>
          </a:p>
        </p:txBody>
      </p:sp>
      <p:sp>
        <p:nvSpPr>
          <p:cNvPr id="3" name="TextBox 2">
            <a:extLst>
              <a:ext uri="{FF2B5EF4-FFF2-40B4-BE49-F238E27FC236}">
                <a16:creationId xmlns:a16="http://schemas.microsoft.com/office/drawing/2014/main" id="{AFDA47B5-CAD3-44A7-C883-17E93CCA637F}"/>
              </a:ext>
            </a:extLst>
          </p:cNvPr>
          <p:cNvSpPr txBox="1"/>
          <p:nvPr/>
        </p:nvSpPr>
        <p:spPr>
          <a:xfrm>
            <a:off x="689265" y="1335687"/>
            <a:ext cx="10584749" cy="369332"/>
          </a:xfrm>
          <a:prstGeom prst="rect">
            <a:avLst/>
          </a:prstGeom>
          <a:noFill/>
        </p:spPr>
        <p:txBody>
          <a:bodyPr wrap="square" rtlCol="0">
            <a:spAutoFit/>
          </a:bodyPr>
          <a:lstStyle/>
          <a:p>
            <a:pPr algn="just"/>
            <a:r>
              <a:rPr lang="en-US" b="1" u="sng" dirty="0">
                <a:latin typeface="+mj-lt"/>
              </a:rPr>
              <a:t>Key Takeaways:</a:t>
            </a:r>
            <a:endParaRPr lang="en-IN" b="1" u="sng" dirty="0">
              <a:latin typeface="+mj-lt"/>
            </a:endParaRPr>
          </a:p>
        </p:txBody>
      </p:sp>
      <p:sp>
        <p:nvSpPr>
          <p:cNvPr id="2" name="TextBox 1">
            <a:extLst>
              <a:ext uri="{FF2B5EF4-FFF2-40B4-BE49-F238E27FC236}">
                <a16:creationId xmlns:a16="http://schemas.microsoft.com/office/drawing/2014/main" id="{2042E936-D1D2-07A7-7003-A6537890DA34}"/>
              </a:ext>
            </a:extLst>
          </p:cNvPr>
          <p:cNvSpPr txBox="1"/>
          <p:nvPr/>
        </p:nvSpPr>
        <p:spPr>
          <a:xfrm>
            <a:off x="839096" y="2011680"/>
            <a:ext cx="10434918"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t>Expansion opportunities exist in </a:t>
            </a:r>
            <a:r>
              <a:rPr lang="en-US" b="1" i="1" dirty="0"/>
              <a:t>low-competition, high-demand markets</a:t>
            </a:r>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b="1" i="1" dirty="0"/>
              <a:t>City-level gaps</a:t>
            </a:r>
            <a:r>
              <a:rPr lang="en-US" i="1" dirty="0"/>
              <a:t> </a:t>
            </a:r>
            <a:r>
              <a:rPr lang="en-US" dirty="0"/>
              <a:t>reveal strong unmet demand pockets</a:t>
            </a:r>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b="1" i="1" dirty="0"/>
              <a:t>Customer experience (delivery &amp; booking)</a:t>
            </a:r>
            <a:r>
              <a:rPr lang="en-US" i="1" dirty="0"/>
              <a:t> </a:t>
            </a:r>
            <a:r>
              <a:rPr lang="en-US" dirty="0"/>
              <a:t>drives higher ratings</a:t>
            </a:r>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b="1" i="1" dirty="0"/>
              <a:t>Cuisine choice significantly impacts engagement and feedback</a:t>
            </a:r>
          </a:p>
          <a:p>
            <a:pPr marL="285750" indent="-285750" algn="just">
              <a:buFont typeface="Arial" panose="020B0604020202020204" pitchFamily="34" charset="0"/>
              <a:buChar char="•"/>
            </a:pPr>
            <a:endParaRPr lang="en-US" b="1" i="1" dirty="0"/>
          </a:p>
          <a:p>
            <a:pPr marL="285750" indent="-285750" algn="just">
              <a:buFont typeface="Arial" panose="020B0604020202020204" pitchFamily="34" charset="0"/>
              <a:buChar char="•"/>
            </a:pPr>
            <a:r>
              <a:rPr lang="en-US" b="1" i="1" dirty="0"/>
              <a:t>Pricing has weak impact on ratings</a:t>
            </a:r>
            <a:r>
              <a:rPr lang="en-US" dirty="0"/>
              <a:t>; value matters more</a:t>
            </a:r>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b="1" i="1" dirty="0"/>
              <a:t>Mid-range segment dominates</a:t>
            </a:r>
            <a:r>
              <a:rPr lang="en-US" i="1" dirty="0"/>
              <a:t> </a:t>
            </a:r>
            <a:r>
              <a:rPr lang="en-US" dirty="0"/>
              <a:t>and offers maximum scalability</a:t>
            </a:r>
            <a:endParaRPr lang="en-IN" dirty="0"/>
          </a:p>
        </p:txBody>
      </p:sp>
      <p:sp>
        <p:nvSpPr>
          <p:cNvPr id="6" name="TextBox 5">
            <a:extLst>
              <a:ext uri="{FF2B5EF4-FFF2-40B4-BE49-F238E27FC236}">
                <a16:creationId xmlns:a16="http://schemas.microsoft.com/office/drawing/2014/main" id="{C4F538E0-7CF7-8110-ABE8-C61476F874A7}"/>
              </a:ext>
            </a:extLst>
          </p:cNvPr>
          <p:cNvSpPr txBox="1"/>
          <p:nvPr/>
        </p:nvSpPr>
        <p:spPr>
          <a:xfrm>
            <a:off x="1129553" y="5486400"/>
            <a:ext cx="10144461" cy="646331"/>
          </a:xfrm>
          <a:prstGeom prst="rect">
            <a:avLst/>
          </a:prstGeom>
          <a:solidFill>
            <a:schemeClr val="tx2">
              <a:lumMod val="25000"/>
              <a:lumOff val="75000"/>
            </a:schemeClr>
          </a:solidFill>
        </p:spPr>
        <p:txBody>
          <a:bodyPr wrap="square" rtlCol="0">
            <a:spAutoFit/>
          </a:bodyPr>
          <a:lstStyle/>
          <a:p>
            <a:r>
              <a:rPr lang="en-US" dirty="0"/>
              <a:t>Restaurants that align market selection, customer experience, and value positioning with data-driven insights are best positioned to achieve sustainable growth and competitive advantage.</a:t>
            </a:r>
            <a:endParaRPr lang="en-IN" dirty="0"/>
          </a:p>
        </p:txBody>
      </p:sp>
    </p:spTree>
    <p:extLst>
      <p:ext uri="{BB962C8B-B14F-4D97-AF65-F5344CB8AC3E}">
        <p14:creationId xmlns:p14="http://schemas.microsoft.com/office/powerpoint/2010/main" val="24213049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2217</TotalTime>
  <Words>2822</Words>
  <Application>Microsoft Office PowerPoint</Application>
  <PresentationFormat>Widescreen</PresentationFormat>
  <Paragraphs>421</Paragraphs>
  <Slides>34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Arial Rounded MT Bold</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Nippa Nippa</dc:creator>
  <cp:lastModifiedBy>Nippa Nippa</cp:lastModifiedBy>
  <cp:revision>3</cp:revision>
  <dcterms:created xsi:type="dcterms:W3CDTF">2026-03-18T16:12:44Z</dcterms:created>
  <dcterms:modified xsi:type="dcterms:W3CDTF">2026-04-16T17:16:17Z</dcterms:modified>
</cp:coreProperties>
</file>